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TI net sales, $m (fiscal years end December)</a:t>
            </a:r>
          </a:p>
        </c:rich>
      </c:tx>
      <c:layout/>
      <c:overlay val="0"/>
    </c:title>
    <c:autoTitleDeleted val="0"/>
    <c:plotArea>
      <c:layout/>
      <c:barChart>
        <c:barDir val="col"/>
        <c:grouping val="clustered"/>
        <c:varyColors val="0"/>
        <c:ser>
          <c:idx val="0"/>
          <c:order val="0"/>
          <c:tx>
            <c:strRef>
              <c:f>Sheet1!$B$1</c:f>
              <c:strCache>
                <c:ptCount val="1"/>
                <c:pt idx="0">
                  <c:v>Net sales ($m)</c:v>
                </c:pt>
              </c:strCache>
            </c:strRef>
          </c:tx>
          <c:spPr>
            <a:solidFill>
              <a:srgbClr val="43C99A"/>
            </a:solidFill>
            <a:effectLst/>
          </c:spPr>
          <c:invertIfNegative val="0"/>
          <c:dLbls>
            <c:numFmt formatCode="$#,##0" sourceLinked="0"/>
            <c:txPr>
              <a:bodyPr/>
              <a:lstStyle/>
              <a:p>
                <a:pPr>
                  <a:defRPr b="0" i="0" strike="noStrike" sz="1100" u="none">
                    <a:solidFill>
                      <a:srgbClr val="EEF5F1"/>
                    </a:solidFill>
                    <a:latin typeface="Calibri"/>
                  </a:defRPr>
                </a:pPr>
              </a:p>
            </c:txPr>
            <c:showLegendKey val="0"/>
            <c:showVal val="1"/>
            <c:showCatName val="0"/>
            <c:showSerName val="0"/>
            <c:showPercent val="0"/>
            <c:showBubbleSize val="0"/>
            <c:showLeaderLines val="0"/>
          </c:dLbls>
          <c:cat>
            <c:multiLvlStrRef>
              <c:f>Sheet1!$A$2:$A$6</c:f>
              <c:multiLvlStrCache>
                <c:ptCount val="5"/>
                <c:lvl>
                  <c:pt idx="0">
                    <c:v>FY2021</c:v>
                  </c:pt>
                  <c:pt idx="1">
                    <c:v>FY2022</c:v>
                  </c:pt>
                  <c:pt idx="2">
                    <c:v>FY2023</c:v>
                  </c:pt>
                  <c:pt idx="3">
                    <c:v>FY2024</c:v>
                  </c:pt>
                  <c:pt idx="4">
                    <c:v>FY2025</c:v>
                  </c:pt>
                </c:lvl>
              </c:multiLvlStrCache>
            </c:multiLvlStrRef>
          </c:cat>
          <c:val>
            <c:numRef>
              <c:f>Sheet1!$B$2:$B$6</c:f>
              <c:numCache>
                <c:formatCode>General</c:formatCode>
                <c:ptCount val="5"/>
                <c:pt idx="0">
                  <c:v>18344</c:v>
                </c:pt>
                <c:pt idx="1">
                  <c:v>20028</c:v>
                </c:pt>
                <c:pt idx="2">
                  <c:v>17519</c:v>
                </c:pt>
                <c:pt idx="3">
                  <c:v>15641</c:v>
                </c:pt>
                <c:pt idx="4">
                  <c:v>17682</c:v>
                </c:pt>
              </c:numCache>
            </c:numRef>
          </c:val>
        </c:ser>
        <c:dLbls>
          <c:numFmt formatCode="$#,##0" sourceLinked="0"/>
          <c:txPr>
            <a:bodyPr/>
            <a:lstStyle/>
            <a:p>
              <a:pPr>
                <a:defRPr b="0" i="0" strike="noStrike" sz="1100" u="none">
                  <a:solidFill>
                    <a:srgbClr val="EEF5F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Monthly revenue, $m</a:t>
            </a:r>
          </a:p>
        </c:rich>
      </c:tx>
      <c:layout/>
      <c:overlay val="0"/>
    </c:title>
    <c:autoTitleDeleted val="0"/>
    <c:plotArea>
      <c:layout/>
      <c:lineChart>
        <c:varyColors val="0"/>
        <c:ser>
          <c:idx val="0"/>
          <c:order val="0"/>
          <c:tx>
            <c:strRef>
              <c:f>Sheet1!$B$1</c:f>
              <c:strCache>
                <c:ptCount val="1"/>
                <c:pt idx="0">
                  <c:v>Budget</c:v>
                </c:pt>
              </c:strCache>
            </c:strRef>
          </c:tx>
          <c:spPr>
            <a:solidFill>
              <a:srgbClr val="9FB3AA"/>
            </a:solidFill>
            <a:ln w="31750" cap="flat">
              <a:solidFill>
                <a:srgbClr val="9FB3AA"/>
              </a:solidFill>
              <a:prstDash val="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FB3AA"/>
              </a:solidFill>
              <a:ln w="9525" cap="flat">
                <a:solidFill>
                  <a:srgbClr val="9FB3A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89.73</c:v>
                </c:pt>
                <c:pt idx="1">
                  <c:v>91.64</c:v>
                </c:pt>
                <c:pt idx="2">
                  <c:v>97.37</c:v>
                </c:pt>
                <c:pt idx="3">
                  <c:v>94.5</c:v>
                </c:pt>
                <c:pt idx="4">
                  <c:v>95.46</c:v>
                </c:pt>
                <c:pt idx="5">
                  <c:v>98.32</c:v>
                </c:pt>
                <c:pt idx="6">
                  <c:v>97.37</c:v>
                </c:pt>
                <c:pt idx="7">
                  <c:v>98.32</c:v>
                </c:pt>
                <c:pt idx="8">
                  <c:v>100.23</c:v>
                </c:pt>
                <c:pt idx="9">
                  <c:v>97.37</c:v>
                </c:pt>
                <c:pt idx="10">
                  <c:v>93.55</c:v>
                </c:pt>
                <c:pt idx="11">
                  <c:v>91.64</c:v>
                </c:pt>
              </c:numCache>
            </c:numRef>
          </c:val>
          <c:smooth val="0"/>
        </c:ser>
        <c:ser>
          <c:idx val="1"/>
          <c:order val="1"/>
          <c:tx>
            <c:strRef>
              <c:f>Sheet1!$C$1</c:f>
              <c:strCache>
                <c:ptCount val="1"/>
                <c:pt idx="0">
                  <c:v>Outlook (actual Jan–May + forecast)</c:v>
                </c:pt>
              </c:strCache>
            </c:strRef>
          </c:tx>
          <c:spPr>
            <a:solidFill>
              <a:srgbClr val="43C99A"/>
            </a:solidFill>
            <a:ln w="31750" cap="flat">
              <a:solidFill>
                <a:srgbClr val="43C99A"/>
              </a:solidFill>
              <a:prstDash val="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3C99A"/>
              </a:solidFill>
              <a:ln w="9525" cap="flat">
                <a:solidFill>
                  <a:srgbClr val="43C99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92.5</c:v>
                </c:pt>
                <c:pt idx="1">
                  <c:v>91.66</c:v>
                </c:pt>
                <c:pt idx="2">
                  <c:v>101.37</c:v>
                </c:pt>
                <c:pt idx="3">
                  <c:v>95.49</c:v>
                </c:pt>
                <c:pt idx="4">
                  <c:v>97.43</c:v>
                </c:pt>
                <c:pt idx="5">
                  <c:v>98.32</c:v>
                </c:pt>
                <c:pt idx="6">
                  <c:v>97.37</c:v>
                </c:pt>
                <c:pt idx="7">
                  <c:v>98.32</c:v>
                </c:pt>
                <c:pt idx="8">
                  <c:v>100.23</c:v>
                </c:pt>
                <c:pt idx="9">
                  <c:v>97.37</c:v>
                </c:pt>
                <c:pt idx="10">
                  <c:v>93.55</c:v>
                </c:pt>
                <c:pt idx="11">
                  <c:v>91.64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min val="86"/>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FY2026, $m</a:t>
            </a:r>
          </a:p>
        </c:rich>
      </c:tx>
      <c:layout/>
      <c:overlay val="0"/>
    </c:title>
    <c:autoTitleDeleted val="0"/>
    <c:plotArea>
      <c:layout/>
      <c:barChart>
        <c:barDir val="col"/>
        <c:grouping val="clustered"/>
        <c:varyColors val="0"/>
        <c:ser>
          <c:idx val="0"/>
          <c:order val="0"/>
          <c:tx>
            <c:strRef>
              <c:f>Sheet1!$B$1</c:f>
              <c:strCache>
                <c:ptCount val="1"/>
                <c:pt idx="0">
                  <c:v>Downside</c:v>
                </c:pt>
              </c:strCache>
            </c:strRef>
          </c:tx>
          <c:spPr>
            <a:solidFill>
              <a:srgbClr val="F07B6C"/>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Sheet1!$B$2:$B$5</c:f>
              <c:numCache>
                <c:formatCode>General</c:formatCode>
                <c:ptCount val="4"/>
                <c:pt idx="0">
                  <c:v>1001.5</c:v>
                </c:pt>
                <c:pt idx="1">
                  <c:v>537.9</c:v>
                </c:pt>
                <c:pt idx="2">
                  <c:v>314.5</c:v>
                </c:pt>
                <c:pt idx="3">
                  <c:v>311.9</c:v>
                </c:pt>
              </c:numCache>
            </c:numRef>
          </c:val>
        </c:ser>
        <c:ser>
          <c:idx val="1"/>
          <c:order val="1"/>
          <c:tx>
            <c:strRef>
              <c:f>Sheet1!$C$1</c:f>
              <c:strCache>
                <c:ptCount val="1"/>
                <c:pt idx="0">
                  <c:v>Base</c:v>
                </c:pt>
              </c:strCache>
            </c:strRef>
          </c:tx>
          <c:spPr>
            <a:solidFill>
              <a:srgbClr val="9FB3AA"/>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Sheet1!$C$2:$C$5</c:f>
              <c:numCache>
                <c:formatCode>General</c:formatCode>
                <c:ptCount val="4"/>
                <c:pt idx="0">
                  <c:v>1145.5</c:v>
                </c:pt>
                <c:pt idx="1">
                  <c:v>663.9</c:v>
                </c:pt>
                <c:pt idx="2">
                  <c:v>434.9</c:v>
                </c:pt>
                <c:pt idx="3">
                  <c:v>379.3</c:v>
                </c:pt>
              </c:numCache>
            </c:numRef>
          </c:val>
        </c:ser>
        <c:ser>
          <c:idx val="2"/>
          <c:order val="2"/>
          <c:tx>
            <c:strRef>
              <c:f>Sheet1!$D$1</c:f>
              <c:strCache>
                <c:ptCount val="1"/>
                <c:pt idx="0">
                  <c:v>Upside</c:v>
                </c:pt>
              </c:strCache>
            </c:strRef>
          </c:tx>
          <c:spPr>
            <a:solidFill>
              <a:srgbClr val="CDF56E"/>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Sheet1!$D$2:$D$5</c:f>
              <c:numCache>
                <c:formatCode>General</c:formatCode>
                <c:ptCount val="4"/>
                <c:pt idx="0">
                  <c:v>1259.6</c:v>
                </c:pt>
                <c:pt idx="1">
                  <c:v>766.3</c:v>
                </c:pt>
                <c:pt idx="2">
                  <c:v>531.7</c:v>
                </c:pt>
                <c:pt idx="3">
                  <c:v>427.9</c:v>
                </c:pt>
              </c:numCache>
            </c:numRef>
          </c:val>
        </c:ser>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gapWidth val="6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A9BAB2"/>
                </a:solidFill>
                <a:latin typeface="Calibri"/>
              </a:defRPr>
            </a:pPr>
            <a:r>
              <a:rPr sz="1150" b="0" i="0" u="none" strike="noStrike">
                <a:solidFill>
                  <a:srgbClr val="A9BAB2"/>
                </a:solidFill>
                <a:latin typeface="Calibri"/>
              </a:rPr>
              <a:t>Cumulative incremental free cash flow, $m (payback where it crosses zero)</a:t>
            </a:r>
          </a:p>
        </c:rich>
      </c:tx>
      <c:layout/>
      <c:overlay val="0"/>
    </c:title>
    <c:autoTitleDeleted val="0"/>
    <c:plotArea>
      <c:layout/>
      <c:lineChart>
        <c:varyColors val="0"/>
        <c:ser>
          <c:idx val="0"/>
          <c:order val="0"/>
          <c:tx>
            <c:strRef>
              <c:f>Sheet1!$B$1</c:f>
              <c:strCache>
                <c:ptCount val="1"/>
                <c:pt idx="0">
                  <c:v>Downside</c:v>
                </c:pt>
              </c:strCache>
            </c:strRef>
          </c:tx>
          <c:spPr>
            <a:solidFill>
              <a:srgbClr val="F07B6C"/>
            </a:solidFill>
            <a:ln w="31750" cap="flat">
              <a:solidFill>
                <a:srgbClr val="F0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07B6C"/>
              </a:solidFill>
              <a:ln w="9525" cap="flat">
                <a:solidFill>
                  <a:srgbClr val="F07B6C"/>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Sheet1!$B$2:$B$8</c:f>
              <c:numCache>
                <c:formatCode>General</c:formatCode>
                <c:ptCount val="7"/>
                <c:pt idx="0">
                  <c:v>-24.5</c:v>
                </c:pt>
                <c:pt idx="1">
                  <c:v>-22.6</c:v>
                </c:pt>
                <c:pt idx="2">
                  <c:v>-20.7</c:v>
                </c:pt>
                <c:pt idx="3">
                  <c:v>-18.8</c:v>
                </c:pt>
                <c:pt idx="4">
                  <c:v>-16.9</c:v>
                </c:pt>
                <c:pt idx="5">
                  <c:v>-14.9</c:v>
                </c:pt>
                <c:pt idx="6">
                  <c:v>-12.9</c:v>
                </c:pt>
              </c:numCache>
            </c:numRef>
          </c:val>
          <c:smooth val="0"/>
        </c:ser>
        <c:ser>
          <c:idx val="1"/>
          <c:order val="1"/>
          <c:tx>
            <c:strRef>
              <c:f>Sheet1!$C$1</c:f>
              <c:strCache>
                <c:ptCount val="1"/>
                <c:pt idx="0">
                  <c:v>Base</c:v>
                </c:pt>
              </c:strCache>
            </c:strRef>
          </c:tx>
          <c:spPr>
            <a:solidFill>
              <a:srgbClr val="9FB3AA"/>
            </a:solidFill>
            <a:ln w="31750" cap="flat">
              <a:solidFill>
                <a:srgbClr val="9FB3A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FB3AA"/>
              </a:solidFill>
              <a:ln w="9525" cap="flat">
                <a:solidFill>
                  <a:srgbClr val="9FB3AA"/>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Sheet1!$C$2:$C$8</c:f>
              <c:numCache>
                <c:formatCode>General</c:formatCode>
                <c:ptCount val="7"/>
                <c:pt idx="0">
                  <c:v>-24.5</c:v>
                </c:pt>
                <c:pt idx="1">
                  <c:v>-22.6</c:v>
                </c:pt>
                <c:pt idx="2">
                  <c:v>-10.6</c:v>
                </c:pt>
                <c:pt idx="3">
                  <c:v>14.5</c:v>
                </c:pt>
                <c:pt idx="4">
                  <c:v>41.4</c:v>
                </c:pt>
                <c:pt idx="5">
                  <c:v>67.5</c:v>
                </c:pt>
                <c:pt idx="6">
                  <c:v>97.2</c:v>
                </c:pt>
              </c:numCache>
            </c:numRef>
          </c:val>
          <c:smooth val="0"/>
        </c:ser>
        <c:ser>
          <c:idx val="2"/>
          <c:order val="2"/>
          <c:tx>
            <c:strRef>
              <c:f>Sheet1!$D$1</c:f>
              <c:strCache>
                <c:ptCount val="1"/>
                <c:pt idx="0">
                  <c:v>Upside</c:v>
                </c:pt>
              </c:strCache>
            </c:strRef>
          </c:tx>
          <c:spPr>
            <a:solidFill>
              <a:srgbClr val="CDF56E"/>
            </a:solidFill>
            <a:ln w="31750" cap="flat">
              <a:solidFill>
                <a:srgbClr val="CDF5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DF56E"/>
              </a:solidFill>
              <a:ln w="9525" cap="flat">
                <a:solidFill>
                  <a:srgbClr val="CDF56E"/>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Sheet1!$D$2:$D$8</c:f>
              <c:numCache>
                <c:formatCode>General</c:formatCode>
                <c:ptCount val="7"/>
                <c:pt idx="0">
                  <c:v>-24.5</c:v>
                </c:pt>
                <c:pt idx="1">
                  <c:v>-1.2</c:v>
                </c:pt>
                <c:pt idx="2">
                  <c:v>28</c:v>
                </c:pt>
                <c:pt idx="3">
                  <c:v>57</c:v>
                </c:pt>
                <c:pt idx="4">
                  <c:v>85.3</c:v>
                </c:pt>
                <c:pt idx="5">
                  <c:v>112.9</c:v>
                </c:pt>
                <c:pt idx="6">
                  <c:v>144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review the division's FY2026 outlook, year-to-date results versus budget, the scenario range, and one capital request. Everything comes from one linked Excel model; the dashboard and this deck read the same validated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Base-case FY2026 revenue $1,145.5m, operating profit $434.9m, free cash flow $379.3m. Year to date we are +$3.8m ahead on operating profit. The one operational constraint is Power final test, which is also the subject of the capital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is a visible row in Excel, so any output can be traced back to an assumption. One scenario switch drives the forecast; the budget is locked to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public data only on this slide. Net sales moved −21.9% from the FY2022 peak to the FY2024 trough; gross margin ranged from 57.0% to 68.8%. The Base demand-growth assumption is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profit grows faster than revenue because fixed factory cost is spread over more units (utilization 68% → 78%). The outlook line replaces January–May with actuals; the remaining months are forecast at budget in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YTD operating profit $176.8m, actual $180.6m. The largest driver is sales volume (+$8.6m). Favorable: price, sales volume, production volume &amp; inventory and SG&amp;A; unfavorable: product mix, material cost, manufacturing yield, fixed manufacturing spending and R&amp;D. Every component is computed separately and reconciles to the total with zero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map compares each month's demand with what the test floor can deliver at full load. Power runs closest to its limit, peaking at 0.86 in the Base plan. Year to date Embedded yield is 86.0% against an 88.0% plan, which raises cost per good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cases run through the same Excel model via one selector cell. Downside: demand +3%, price −3%, yield −2 pts, 68% utilization. Upside: demand +24%, price +1%, 86% utilization. FY outlook vs budget ranges from −$69.8m to +$61.6m.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needs about 15% use of the added capacity in Base. In Downside (Power demand +2% a year) the NPV is −$15.9m, so the $24.5m is not repaid at the 9% discount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 reject if Base fails; approve outright only if Downside also passes; otherwise approve with a checkpoint. Base NPV $60.4m, IRR 51.6%, payback 2.42 years; Downside NPV −$15.9m.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4-image-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5-image-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8-image-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1234440"/>
            <a:ext cx="566928" cy="566928"/>
          </a:xfrm>
          <a:prstGeom prst="ellipse">
            <a:avLst/>
          </a:prstGeom>
          <a:solidFill>
            <a:srgbClr val="43C99A"/>
          </a:solidFill>
          <a:ln w="12700">
            <a:solidFill>
              <a:srgbClr val="43C99A"/>
            </a:solidFill>
            <a:prstDash val="solid"/>
          </a:ln>
        </p:spPr>
      </p:sp>
      <p:sp>
        <p:nvSpPr>
          <p:cNvPr id="3" name="Shape 1"/>
          <p:cNvSpPr/>
          <p:nvPr/>
        </p:nvSpPr>
        <p:spPr>
          <a:xfrm>
            <a:off x="704088" y="1389888"/>
            <a:ext cx="256032" cy="256032"/>
          </a:xfrm>
          <a:prstGeom prst="ellipse">
            <a:avLst/>
          </a:prstGeom>
          <a:solidFill>
            <a:srgbClr val="0B120F"/>
          </a:solidFill>
          <a:ln w="12700">
            <a:solidFill>
              <a:srgbClr val="0B120F"/>
            </a:solidFill>
            <a:prstDash val="solid"/>
          </a:ln>
        </p:spPr>
      </p:sp>
      <p:sp>
        <p:nvSpPr>
          <p:cNvPr id="4" name="Text 2"/>
          <p:cNvSpPr txBox="1"/>
          <p:nvPr/>
        </p:nvSpPr>
        <p:spPr>
          <a:xfrm>
            <a:off x="548640" y="2148840"/>
            <a:ext cx="9144000" cy="320040"/>
          </a:xfrm>
          <a:prstGeom prst="rect">
            <a:avLst/>
          </a:prstGeom>
          <a:noFill/>
          <a:ln/>
        </p:spPr>
        <p:txBody>
          <a:bodyPr wrap="square" lIns="0" tIns="0" rIns="0" bIns="0" rtlCol="0" anchor="ctr"/>
          <a:lstStyle/>
          <a:p>
            <a:pPr indent="0" marL="0">
              <a:buNone/>
            </a:pPr>
            <a:r>
              <a:rPr lang="en-US" sz="1300" b="1" spc="300" kern="0" dirty="0">
                <a:solidFill>
                  <a:srgbClr val="43C99A"/>
                </a:solidFill>
                <a:latin typeface="Calibri" pitchFamily="34" charset="0"/>
                <a:ea typeface="Calibri" pitchFamily="34" charset="-122"/>
                <a:cs typeface="Calibri" pitchFamily="34" charset="-120"/>
              </a:rPr>
              <a:t>FP&amp;A PORTFOLIO PROJECT  ·  SEPTEMBER 2026</a:t>
            </a:r>
            <a:endParaRPr lang="en-US" sz="1300" dirty="0"/>
          </a:p>
        </p:txBody>
      </p:sp>
      <p:sp>
        <p:nvSpPr>
          <p:cNvPr id="5" name="Text 3"/>
          <p:cNvSpPr txBox="1"/>
          <p:nvPr/>
        </p:nvSpPr>
        <p:spPr>
          <a:xfrm>
            <a:off x="548640" y="2514600"/>
            <a:ext cx="10515600" cy="1005840"/>
          </a:xfrm>
          <a:prstGeom prst="rect">
            <a:avLst/>
          </a:prstGeom>
          <a:noFill/>
          <a:ln/>
        </p:spPr>
        <p:txBody>
          <a:bodyPr wrap="square" lIns="0" tIns="0" rIns="0" bIns="0" rtlCol="0" anchor="ctr"/>
          <a:lstStyle/>
          <a:p>
            <a:pPr indent="0" marL="0">
              <a:buNone/>
            </a:pPr>
            <a:r>
              <a:rPr lang="en-US" sz="5400" b="1" dirty="0">
                <a:solidFill>
                  <a:srgbClr val="EEF5F1"/>
                </a:solidFill>
                <a:latin typeface="Calibri" pitchFamily="34" charset="0"/>
                <a:ea typeface="Calibri" pitchFamily="34" charset="-122"/>
                <a:cs typeface="Calibri" pitchFamily="34" charset="-120"/>
              </a:rPr>
              <a:t>Power, Signal &amp; Embedded Division</a:t>
            </a:r>
            <a:endParaRPr lang="en-US" sz="5400" dirty="0"/>
          </a:p>
        </p:txBody>
      </p:sp>
      <p:sp>
        <p:nvSpPr>
          <p:cNvPr id="6" name="Text 4"/>
          <p:cNvSpPr txBox="1"/>
          <p:nvPr/>
        </p:nvSpPr>
        <p:spPr>
          <a:xfrm>
            <a:off x="548640" y="3520440"/>
            <a:ext cx="10515600" cy="548640"/>
          </a:xfrm>
          <a:prstGeom prst="rect">
            <a:avLst/>
          </a:prstGeom>
          <a:noFill/>
          <a:ln/>
        </p:spPr>
        <p:txBody>
          <a:bodyPr wrap="square" lIns="0" tIns="0" rIns="0" bIns="0" rtlCol="0" anchor="ctr"/>
          <a:lstStyle/>
          <a:p>
            <a:pPr indent="0" marL="0">
              <a:buNone/>
            </a:pPr>
            <a:r>
              <a:rPr lang="en-US" sz="2400" dirty="0">
                <a:solidFill>
                  <a:srgbClr val="A9BAB2"/>
                </a:solidFill>
                <a:latin typeface="Calibri" pitchFamily="34" charset="0"/>
                <a:ea typeface="Calibri" pitchFamily="34" charset="-122"/>
                <a:cs typeface="Calibri" pitchFamily="34" charset="-120"/>
              </a:rPr>
              <a:t>FY2026 plan, year-to-date performance and a $24.5m capital decision</a:t>
            </a:r>
            <a:endParaRPr lang="en-US" sz="2400" dirty="0"/>
          </a:p>
        </p:txBody>
      </p:sp>
      <p:sp>
        <p:nvSpPr>
          <p:cNvPr id="7" name="Shape 5"/>
          <p:cNvSpPr/>
          <p:nvPr/>
        </p:nvSpPr>
        <p:spPr>
          <a:xfrm>
            <a:off x="548640" y="4434840"/>
            <a:ext cx="2651760" cy="310896"/>
          </a:xfrm>
          <a:prstGeom prst="roundRect">
            <a:avLst>
              <a:gd name="adj" fmla="val 50000"/>
            </a:avLst>
          </a:prstGeom>
          <a:solidFill>
            <a:srgbClr val="43C99A"/>
          </a:solidFill>
          <a:ln w="12700">
            <a:solidFill>
              <a:srgbClr val="43C99A"/>
            </a:solidFill>
            <a:prstDash val="solid"/>
          </a:ln>
        </p:spPr>
      </p:sp>
      <p:sp>
        <p:nvSpPr>
          <p:cNvPr id="8" name="Text 6"/>
          <p:cNvSpPr txBox="1"/>
          <p:nvPr/>
        </p:nvSpPr>
        <p:spPr>
          <a:xfrm>
            <a:off x="548640" y="4434840"/>
            <a:ext cx="2651760" cy="310896"/>
          </a:xfrm>
          <a:prstGeom prst="rect">
            <a:avLst/>
          </a:prstGeom>
          <a:noFill/>
          <a:ln/>
        </p:spPr>
        <p:txBody>
          <a:bodyPr wrap="square" lIns="0" tIns="0" rIns="0" bIns="0" rtlCol="0" anchor="ctr"/>
          <a:lstStyle/>
          <a:p>
            <a:pPr algn="ctr" indent="0" marL="0">
              <a:buNone/>
            </a:pPr>
            <a:r>
              <a:rPr lang="en-US" sz="1100" b="1" dirty="0">
                <a:solidFill>
                  <a:srgbClr val="0B120F"/>
                </a:solidFill>
                <a:latin typeface="Calibri" pitchFamily="34" charset="0"/>
                <a:ea typeface="Calibri" pitchFamily="34" charset="-122"/>
                <a:cs typeface="Calibri" pitchFamily="34" charset="-120"/>
              </a:rPr>
              <a:t>Excel model · 147/147 checks pass</a:t>
            </a:r>
            <a:endParaRPr lang="en-US" sz="1100" dirty="0"/>
          </a:p>
        </p:txBody>
      </p:sp>
      <p:sp>
        <p:nvSpPr>
          <p:cNvPr id="9" name="Shape 7"/>
          <p:cNvSpPr/>
          <p:nvPr/>
        </p:nvSpPr>
        <p:spPr>
          <a:xfrm>
            <a:off x="3337560" y="4434840"/>
            <a:ext cx="2788920" cy="310896"/>
          </a:xfrm>
          <a:prstGeom prst="roundRect">
            <a:avLst>
              <a:gd name="adj" fmla="val 50000"/>
            </a:avLst>
          </a:prstGeom>
          <a:solidFill>
            <a:srgbClr val="A497FF"/>
          </a:solidFill>
          <a:ln w="12700">
            <a:solidFill>
              <a:srgbClr val="A497FF"/>
            </a:solidFill>
            <a:prstDash val="solid"/>
          </a:ln>
        </p:spPr>
      </p:sp>
      <p:sp>
        <p:nvSpPr>
          <p:cNvPr id="10" name="Text 8"/>
          <p:cNvSpPr txBox="1"/>
          <p:nvPr/>
        </p:nvSpPr>
        <p:spPr>
          <a:xfrm>
            <a:off x="3337560" y="4434840"/>
            <a:ext cx="2788920" cy="310896"/>
          </a:xfrm>
          <a:prstGeom prst="rect">
            <a:avLst/>
          </a:prstGeom>
          <a:noFill/>
          <a:ln/>
        </p:spPr>
        <p:txBody>
          <a:bodyPr wrap="square" lIns="0" tIns="0" rIns="0" bIns="0" rtlCol="0" anchor="ctr"/>
          <a:lstStyle/>
          <a:p>
            <a:pPr algn="ctr" indent="0" marL="0">
              <a:buNone/>
            </a:pPr>
            <a:r>
              <a:rPr lang="en-US" sz="1100" b="1" dirty="0">
                <a:solidFill>
                  <a:srgbClr val="120B2E"/>
                </a:solidFill>
                <a:latin typeface="Calibri" pitchFamily="34" charset="0"/>
                <a:ea typeface="Calibri" pitchFamily="34" charset="-122"/>
                <a:cs typeface="Calibri" pitchFamily="34" charset="-120"/>
              </a:rPr>
              <a:t>Web dashboard · verified vs Excel</a:t>
            </a:r>
            <a:endParaRPr lang="en-US" sz="1100" dirty="0"/>
          </a:p>
        </p:txBody>
      </p:sp>
      <p:sp>
        <p:nvSpPr>
          <p:cNvPr id="11" name="Shape 9"/>
          <p:cNvSpPr/>
          <p:nvPr/>
        </p:nvSpPr>
        <p:spPr>
          <a:xfrm>
            <a:off x="6263640" y="4434840"/>
            <a:ext cx="2331720" cy="310896"/>
          </a:xfrm>
          <a:prstGeom prst="roundRect">
            <a:avLst>
              <a:gd name="adj" fmla="val 50000"/>
            </a:avLst>
          </a:prstGeom>
          <a:solidFill>
            <a:srgbClr val="CDF56E"/>
          </a:solidFill>
          <a:ln w="12700">
            <a:solidFill>
              <a:srgbClr val="CDF56E"/>
            </a:solidFill>
            <a:prstDash val="solid"/>
          </a:ln>
        </p:spPr>
      </p:sp>
      <p:sp>
        <p:nvSpPr>
          <p:cNvPr id="12" name="Text 10"/>
          <p:cNvSpPr txBox="1"/>
          <p:nvPr/>
        </p:nvSpPr>
        <p:spPr>
          <a:xfrm>
            <a:off x="6263640" y="4434840"/>
            <a:ext cx="2331720" cy="310896"/>
          </a:xfrm>
          <a:prstGeom prst="rect">
            <a:avLst/>
          </a:prstGeom>
          <a:noFill/>
          <a:ln/>
        </p:spPr>
        <p:txBody>
          <a:bodyPr wrap="square" lIns="0" tIns="0" rIns="0" bIns="0" rtlCol="0" anchor="ctr"/>
          <a:lstStyle/>
          <a:p>
            <a:pPr algn="ctr" indent="0" marL="0">
              <a:buNone/>
            </a:pPr>
            <a:r>
              <a:rPr lang="en-US" sz="1100" b="1" dirty="0">
                <a:solidFill>
                  <a:srgbClr val="0B120F"/>
                </a:solidFill>
                <a:latin typeface="Calibri" pitchFamily="34" charset="0"/>
                <a:ea typeface="Calibri" pitchFamily="34" charset="-122"/>
                <a:cs typeface="Calibri" pitchFamily="34" charset="-120"/>
              </a:rPr>
              <a:t>Downside · Base · Upside</a:t>
            </a:r>
            <a:endParaRPr lang="en-US" sz="1100" dirty="0"/>
          </a:p>
        </p:txBody>
      </p:sp>
      <p:sp>
        <p:nvSpPr>
          <p:cNvPr id="13" name="Text 11"/>
          <p:cNvSpPr txBox="1"/>
          <p:nvPr/>
        </p:nvSpPr>
        <p:spPr>
          <a:xfrm>
            <a:off x="548640" y="5806440"/>
            <a:ext cx="10789920" cy="548640"/>
          </a:xfrm>
          <a:prstGeom prst="rect">
            <a:avLst/>
          </a:prstGeom>
          <a:noFill/>
          <a:ln/>
        </p:spPr>
        <p:txBody>
          <a:bodyPr wrap="square" lIns="0" tIns="0" rIns="0" bIns="0" rtlCol="0" anchor="ctr"/>
          <a:lstStyle/>
          <a:p>
            <a:pPr indent="0" marL="0">
              <a:buNone/>
            </a:pPr>
            <a:r>
              <a:rPr lang="en-US" sz="1050" dirty="0">
                <a:solidFill>
                  <a:srgbClr val="7C8F86"/>
                </a:solidFill>
                <a:latin typeface="Calibri" pitchFamily="34" charset="0"/>
                <a:ea typeface="Calibri" pitchFamily="34" charset="-122"/>
                <a:cs typeface="Calibri" pitchFamily="34" charset="-120"/>
              </a:rPr>
              <a:t>A fictional division modeled on Texas Instruments Incorporated (NASDAQ: TXN). Historical figures are TI's reported SEC data; all division-level data is simulated. Simulated data created for portfolio demonstration. It does not represent nonpublic Texas Instruments information.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Ahead of plan, with one constraint to fix: Power test capacity</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600200"/>
            <a:ext cx="2567864" cy="1508760"/>
          </a:xfrm>
          <a:prstGeom prst="roundRect">
            <a:avLst>
              <a:gd name="adj" fmla="val 9697"/>
            </a:avLst>
          </a:prstGeom>
          <a:solidFill>
            <a:srgbClr val="1F7A5A"/>
          </a:solidFill>
          <a:ln w="9525">
            <a:solidFill>
              <a:srgbClr val="26332E"/>
            </a:solidFill>
            <a:prstDash val="solid"/>
          </a:ln>
        </p:spPr>
      </p:sp>
      <p:sp>
        <p:nvSpPr>
          <p:cNvPr id="7" name="Text 5"/>
          <p:cNvSpPr txBox="1"/>
          <p:nvPr/>
        </p:nvSpPr>
        <p:spPr>
          <a:xfrm>
            <a:off x="777240" y="1783080"/>
            <a:ext cx="2110664" cy="274320"/>
          </a:xfrm>
          <a:prstGeom prst="rect">
            <a:avLst/>
          </a:prstGeom>
          <a:noFill/>
          <a:ln/>
        </p:spPr>
        <p:txBody>
          <a:bodyPr wrap="square" lIns="0" tIns="0" rIns="0" bIns="0" rtlCol="0" anchor="ctr"/>
          <a:lstStyle/>
          <a:p>
            <a:pPr indent="0" marL="0">
              <a:buNone/>
            </a:pPr>
            <a:r>
              <a:rPr lang="en-US" sz="1200" dirty="0">
                <a:solidFill>
                  <a:srgbClr val="DDF7EC"/>
                </a:solidFill>
                <a:latin typeface="Calibri" pitchFamily="34" charset="0"/>
                <a:ea typeface="Calibri" pitchFamily="34" charset="-122"/>
                <a:cs typeface="Calibri" pitchFamily="34" charset="-120"/>
              </a:rPr>
              <a:t>Revenue FY2026 (Base)</a:t>
            </a:r>
            <a:endParaRPr lang="en-US" sz="1200" dirty="0"/>
          </a:p>
        </p:txBody>
      </p:sp>
      <p:sp>
        <p:nvSpPr>
          <p:cNvPr id="8" name="Text 6"/>
          <p:cNvSpPr txBox="1"/>
          <p:nvPr/>
        </p:nvSpPr>
        <p:spPr>
          <a:xfrm>
            <a:off x="777240" y="2057400"/>
            <a:ext cx="2110664"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$1,145.5m</a:t>
            </a:r>
            <a:endParaRPr lang="en-US" sz="3400" dirty="0"/>
          </a:p>
        </p:txBody>
      </p:sp>
      <p:sp>
        <p:nvSpPr>
          <p:cNvPr id="9" name="Text 7"/>
          <p:cNvSpPr txBox="1"/>
          <p:nvPr/>
        </p:nvSpPr>
        <p:spPr>
          <a:xfrm>
            <a:off x="777240" y="2697480"/>
            <a:ext cx="2110664" cy="274320"/>
          </a:xfrm>
          <a:prstGeom prst="rect">
            <a:avLst/>
          </a:prstGeom>
          <a:noFill/>
          <a:ln/>
        </p:spPr>
        <p:txBody>
          <a:bodyPr wrap="square" lIns="0" tIns="0" rIns="0" bIns="0" rtlCol="0" anchor="ctr"/>
          <a:lstStyle/>
          <a:p>
            <a:pPr indent="0" marL="0">
              <a:buNone/>
            </a:pPr>
            <a:r>
              <a:rPr lang="en-US" sz="1150" dirty="0">
                <a:solidFill>
                  <a:srgbClr val="DDF7EC"/>
                </a:solidFill>
                <a:latin typeface="Calibri" pitchFamily="34" charset="0"/>
                <a:ea typeface="Calibri" pitchFamily="34" charset="-122"/>
                <a:cs typeface="Calibri" pitchFamily="34" charset="-120"/>
              </a:rPr>
              <a:t>+14.6% vs FY2025 base year</a:t>
            </a:r>
            <a:endParaRPr lang="en-US" sz="1150" dirty="0"/>
          </a:p>
        </p:txBody>
      </p:sp>
      <p:sp>
        <p:nvSpPr>
          <p:cNvPr id="10" name="Shape 8"/>
          <p:cNvSpPr/>
          <p:nvPr/>
        </p:nvSpPr>
        <p:spPr>
          <a:xfrm>
            <a:off x="3390824" y="1600200"/>
            <a:ext cx="2567864" cy="1508760"/>
          </a:xfrm>
          <a:prstGeom prst="roundRect">
            <a:avLst>
              <a:gd name="adj" fmla="val 9697"/>
            </a:avLst>
          </a:prstGeom>
          <a:solidFill>
            <a:srgbClr val="121A17"/>
          </a:solidFill>
          <a:ln w="9525">
            <a:solidFill>
              <a:srgbClr val="26332E"/>
            </a:solidFill>
            <a:prstDash val="solid"/>
          </a:ln>
        </p:spPr>
      </p:sp>
      <p:sp>
        <p:nvSpPr>
          <p:cNvPr id="11" name="Text 9"/>
          <p:cNvSpPr txBox="1"/>
          <p:nvPr/>
        </p:nvSpPr>
        <p:spPr>
          <a:xfrm>
            <a:off x="3619424"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Operating profit</a:t>
            </a:r>
            <a:endParaRPr lang="en-US" sz="1200" dirty="0"/>
          </a:p>
        </p:txBody>
      </p:sp>
      <p:sp>
        <p:nvSpPr>
          <p:cNvPr id="12" name="Text 10"/>
          <p:cNvSpPr txBox="1"/>
          <p:nvPr/>
        </p:nvSpPr>
        <p:spPr>
          <a:xfrm>
            <a:off x="3619424" y="205740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$434.9m</a:t>
            </a:r>
            <a:endParaRPr lang="en-US" sz="3400" dirty="0"/>
          </a:p>
        </p:txBody>
      </p:sp>
      <p:sp>
        <p:nvSpPr>
          <p:cNvPr id="13" name="Text 11"/>
          <p:cNvSpPr txBox="1"/>
          <p:nvPr/>
        </p:nvSpPr>
        <p:spPr>
          <a:xfrm>
            <a:off x="3619424"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38.0% margin</a:t>
            </a:r>
            <a:endParaRPr lang="en-US" sz="1150" dirty="0"/>
          </a:p>
        </p:txBody>
      </p:sp>
      <p:sp>
        <p:nvSpPr>
          <p:cNvPr id="14" name="Shape 12"/>
          <p:cNvSpPr/>
          <p:nvPr/>
        </p:nvSpPr>
        <p:spPr>
          <a:xfrm>
            <a:off x="6233008" y="1600200"/>
            <a:ext cx="2567864" cy="1508760"/>
          </a:xfrm>
          <a:prstGeom prst="roundRect">
            <a:avLst>
              <a:gd name="adj" fmla="val 9697"/>
            </a:avLst>
          </a:prstGeom>
          <a:solidFill>
            <a:srgbClr val="121A17"/>
          </a:solidFill>
          <a:ln w="9525">
            <a:solidFill>
              <a:srgbClr val="26332E"/>
            </a:solidFill>
            <a:prstDash val="solid"/>
          </a:ln>
        </p:spPr>
      </p:sp>
      <p:sp>
        <p:nvSpPr>
          <p:cNvPr id="15" name="Text 13"/>
          <p:cNvSpPr txBox="1"/>
          <p:nvPr/>
        </p:nvSpPr>
        <p:spPr>
          <a:xfrm>
            <a:off x="6461608"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Free cash flow</a:t>
            </a:r>
            <a:endParaRPr lang="en-US" sz="1200" dirty="0"/>
          </a:p>
        </p:txBody>
      </p:sp>
      <p:sp>
        <p:nvSpPr>
          <p:cNvPr id="16" name="Text 14"/>
          <p:cNvSpPr txBox="1"/>
          <p:nvPr/>
        </p:nvSpPr>
        <p:spPr>
          <a:xfrm>
            <a:off x="6461608" y="205740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$379.3m</a:t>
            </a:r>
            <a:endParaRPr lang="en-US" sz="3400" dirty="0"/>
          </a:p>
        </p:txBody>
      </p:sp>
      <p:sp>
        <p:nvSpPr>
          <p:cNvPr id="17" name="Text 15"/>
          <p:cNvSpPr txBox="1"/>
          <p:nvPr/>
        </p:nvSpPr>
        <p:spPr>
          <a:xfrm>
            <a:off x="6461608"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33.1% of revenue</a:t>
            </a:r>
            <a:endParaRPr lang="en-US" sz="1150" dirty="0"/>
          </a:p>
        </p:txBody>
      </p:sp>
      <p:sp>
        <p:nvSpPr>
          <p:cNvPr id="18" name="Shape 16"/>
          <p:cNvSpPr/>
          <p:nvPr/>
        </p:nvSpPr>
        <p:spPr>
          <a:xfrm>
            <a:off x="9075191" y="1600200"/>
            <a:ext cx="2567864" cy="1508760"/>
          </a:xfrm>
          <a:prstGeom prst="roundRect">
            <a:avLst>
              <a:gd name="adj" fmla="val 9697"/>
            </a:avLst>
          </a:prstGeom>
          <a:solidFill>
            <a:srgbClr val="121A17"/>
          </a:solidFill>
          <a:ln w="9525">
            <a:solidFill>
              <a:srgbClr val="26332E"/>
            </a:solidFill>
            <a:prstDash val="solid"/>
          </a:ln>
        </p:spPr>
      </p:sp>
      <p:sp>
        <p:nvSpPr>
          <p:cNvPr id="19" name="Text 17"/>
          <p:cNvSpPr txBox="1"/>
          <p:nvPr/>
        </p:nvSpPr>
        <p:spPr>
          <a:xfrm>
            <a:off x="9303791"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YTD op. profit vs budget</a:t>
            </a:r>
            <a:endParaRPr lang="en-US" sz="1200" dirty="0"/>
          </a:p>
        </p:txBody>
      </p:sp>
      <p:sp>
        <p:nvSpPr>
          <p:cNvPr id="20" name="Text 18"/>
          <p:cNvSpPr txBox="1"/>
          <p:nvPr/>
        </p:nvSpPr>
        <p:spPr>
          <a:xfrm>
            <a:off x="9303791" y="2057400"/>
            <a:ext cx="2110664" cy="640080"/>
          </a:xfrm>
          <a:prstGeom prst="rect">
            <a:avLst/>
          </a:prstGeom>
          <a:noFill/>
          <a:ln/>
        </p:spPr>
        <p:txBody>
          <a:bodyPr wrap="square" lIns="0" tIns="0" rIns="0" bIns="0" rtlCol="0" anchor="ctr"/>
          <a:lstStyle/>
          <a:p>
            <a:pPr indent="0" marL="0">
              <a:buNone/>
            </a:pPr>
            <a:r>
              <a:rPr lang="en-US" sz="3400" b="1" dirty="0">
                <a:solidFill>
                  <a:srgbClr val="CDF56E"/>
                </a:solidFill>
                <a:latin typeface="Calibri" pitchFamily="34" charset="0"/>
                <a:ea typeface="Calibri" pitchFamily="34" charset="-122"/>
                <a:cs typeface="Calibri" pitchFamily="34" charset="-120"/>
              </a:rPr>
              <a:t>+$3.8m</a:t>
            </a:r>
            <a:endParaRPr lang="en-US" sz="3400" dirty="0"/>
          </a:p>
        </p:txBody>
      </p:sp>
      <p:sp>
        <p:nvSpPr>
          <p:cNvPr id="21" name="Text 19"/>
          <p:cNvSpPr txBox="1"/>
          <p:nvPr/>
        </p:nvSpPr>
        <p:spPr>
          <a:xfrm>
            <a:off x="9303791"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+2.1% · Jan–May actuals</a:t>
            </a:r>
            <a:endParaRPr lang="en-US" sz="1150" dirty="0"/>
          </a:p>
        </p:txBody>
      </p:sp>
      <p:sp>
        <p:nvSpPr>
          <p:cNvPr id="22" name="Shape 20"/>
          <p:cNvSpPr/>
          <p:nvPr/>
        </p:nvSpPr>
        <p:spPr>
          <a:xfrm>
            <a:off x="548640" y="3429000"/>
            <a:ext cx="11094415" cy="777240"/>
          </a:xfrm>
          <a:prstGeom prst="roundRect">
            <a:avLst>
              <a:gd name="adj" fmla="val 18824"/>
            </a:avLst>
          </a:prstGeom>
          <a:solidFill>
            <a:srgbClr val="121A17"/>
          </a:solidFill>
          <a:ln w="9525">
            <a:solidFill>
              <a:srgbClr val="26332E"/>
            </a:solidFill>
            <a:prstDash val="solid"/>
          </a:ln>
        </p:spPr>
      </p:sp>
      <p:sp>
        <p:nvSpPr>
          <p:cNvPr id="23" name="Shape 21"/>
          <p:cNvSpPr/>
          <p:nvPr/>
        </p:nvSpPr>
        <p:spPr>
          <a:xfrm>
            <a:off x="822960" y="3739896"/>
            <a:ext cx="164592" cy="164592"/>
          </a:xfrm>
          <a:prstGeom prst="ellipse">
            <a:avLst/>
          </a:prstGeom>
          <a:solidFill>
            <a:srgbClr val="43C99A"/>
          </a:solidFill>
          <a:ln w="12700">
            <a:solidFill>
              <a:srgbClr val="43C99A"/>
            </a:solidFill>
            <a:prstDash val="solid"/>
          </a:ln>
        </p:spPr>
      </p:sp>
      <p:sp>
        <p:nvSpPr>
          <p:cNvPr id="24" name="Text 22"/>
          <p:cNvSpPr txBox="1"/>
          <p:nvPr/>
        </p:nvSpPr>
        <p:spPr>
          <a:xfrm>
            <a:off x="1188720" y="35387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Ahead of budget</a:t>
            </a:r>
            <a:endParaRPr lang="en-US" sz="1600" dirty="0"/>
          </a:p>
        </p:txBody>
      </p:sp>
      <p:sp>
        <p:nvSpPr>
          <p:cNvPr id="25" name="Text 23"/>
          <p:cNvSpPr txBox="1"/>
          <p:nvPr/>
        </p:nvSpPr>
        <p:spPr>
          <a:xfrm>
            <a:off x="3840480" y="35021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YTD revenue +$9.8m (+2.1%). Product mix −$3.3m, price +$1.3m and volume +$8.6m versus budget operating profit.</a:t>
            </a:r>
            <a:endParaRPr lang="en-US" sz="1350" dirty="0"/>
          </a:p>
        </p:txBody>
      </p:sp>
      <p:sp>
        <p:nvSpPr>
          <p:cNvPr id="26" name="Shape 24"/>
          <p:cNvSpPr/>
          <p:nvPr/>
        </p:nvSpPr>
        <p:spPr>
          <a:xfrm>
            <a:off x="548640" y="4343400"/>
            <a:ext cx="11094415" cy="777240"/>
          </a:xfrm>
          <a:prstGeom prst="roundRect">
            <a:avLst>
              <a:gd name="adj" fmla="val 18824"/>
            </a:avLst>
          </a:prstGeom>
          <a:solidFill>
            <a:srgbClr val="121A17"/>
          </a:solidFill>
          <a:ln w="9525">
            <a:solidFill>
              <a:srgbClr val="26332E"/>
            </a:solidFill>
            <a:prstDash val="solid"/>
          </a:ln>
        </p:spPr>
      </p:sp>
      <p:sp>
        <p:nvSpPr>
          <p:cNvPr id="27" name="Shape 25"/>
          <p:cNvSpPr/>
          <p:nvPr/>
        </p:nvSpPr>
        <p:spPr>
          <a:xfrm>
            <a:off x="822960" y="4654296"/>
            <a:ext cx="164592" cy="164592"/>
          </a:xfrm>
          <a:prstGeom prst="ellipse">
            <a:avLst/>
          </a:prstGeom>
          <a:solidFill>
            <a:srgbClr val="F2C14E"/>
          </a:solidFill>
          <a:ln w="12700">
            <a:solidFill>
              <a:srgbClr val="F2C14E"/>
            </a:solidFill>
            <a:prstDash val="solid"/>
          </a:ln>
        </p:spPr>
      </p:sp>
      <p:sp>
        <p:nvSpPr>
          <p:cNvPr id="28" name="Text 26"/>
          <p:cNvSpPr txBox="1"/>
          <p:nvPr/>
        </p:nvSpPr>
        <p:spPr>
          <a:xfrm>
            <a:off x="1188720" y="44531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Power is the bottleneck</a:t>
            </a:r>
            <a:endParaRPr lang="en-US" sz="1600" dirty="0"/>
          </a:p>
        </p:txBody>
      </p:sp>
      <p:sp>
        <p:nvSpPr>
          <p:cNvPr id="29" name="Text 27"/>
          <p:cNvSpPr txBox="1"/>
          <p:nvPr/>
        </p:nvSpPr>
        <p:spPr>
          <a:xfrm>
            <a:off x="3840480" y="44165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Power yield 94.5% vs 95.0% plan; testers already at 84% utilization, and demand reaches 0.86× of full-load good output.</a:t>
            </a:r>
            <a:endParaRPr lang="en-US" sz="1350" dirty="0"/>
          </a:p>
        </p:txBody>
      </p:sp>
      <p:sp>
        <p:nvSpPr>
          <p:cNvPr id="30" name="Shape 28"/>
          <p:cNvSpPr/>
          <p:nvPr/>
        </p:nvSpPr>
        <p:spPr>
          <a:xfrm>
            <a:off x="548640" y="5257800"/>
            <a:ext cx="11094415" cy="777240"/>
          </a:xfrm>
          <a:prstGeom prst="roundRect">
            <a:avLst>
              <a:gd name="adj" fmla="val 18824"/>
            </a:avLst>
          </a:prstGeom>
          <a:solidFill>
            <a:srgbClr val="121A17"/>
          </a:solidFill>
          <a:ln w="9525">
            <a:solidFill>
              <a:srgbClr val="26332E"/>
            </a:solidFill>
            <a:prstDash val="solid"/>
          </a:ln>
        </p:spPr>
      </p:sp>
      <p:sp>
        <p:nvSpPr>
          <p:cNvPr id="31" name="Shape 29"/>
          <p:cNvSpPr/>
          <p:nvPr/>
        </p:nvSpPr>
        <p:spPr>
          <a:xfrm>
            <a:off x="822960" y="5568696"/>
            <a:ext cx="164592" cy="164592"/>
          </a:xfrm>
          <a:prstGeom prst="ellipse">
            <a:avLst/>
          </a:prstGeom>
          <a:solidFill>
            <a:srgbClr val="A497FF"/>
          </a:solidFill>
          <a:ln w="12700">
            <a:solidFill>
              <a:srgbClr val="A497FF"/>
            </a:solidFill>
            <a:prstDash val="solid"/>
          </a:ln>
        </p:spPr>
      </p:sp>
      <p:sp>
        <p:nvSpPr>
          <p:cNvPr id="32" name="Text 30"/>
          <p:cNvSpPr txBox="1"/>
          <p:nvPr/>
        </p:nvSpPr>
        <p:spPr>
          <a:xfrm>
            <a:off x="1188720" y="53675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Capital request</a:t>
            </a:r>
            <a:endParaRPr lang="en-US" sz="1600" dirty="0"/>
          </a:p>
        </p:txBody>
      </p:sp>
      <p:sp>
        <p:nvSpPr>
          <p:cNvPr id="33" name="Text 31"/>
          <p:cNvSpPr txBox="1"/>
          <p:nvPr/>
        </p:nvSpPr>
        <p:spPr>
          <a:xfrm>
            <a:off x="3840480" y="53309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Approve the $24.5m power test cell with a demand checkpoint: Base NPV $60.4m, IRR 51.6%, payback 2.4 years. It fails in Downside (NPV −$15.9m).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HOW THE MODEL WORKS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One linked model: engineering drivers flow to cash and decisions</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691640"/>
            <a:ext cx="1938528" cy="1828800"/>
          </a:xfrm>
          <a:prstGeom prst="roundRect">
            <a:avLst>
              <a:gd name="adj" fmla="val 8000"/>
            </a:avLst>
          </a:prstGeom>
          <a:solidFill>
            <a:srgbClr val="18231F"/>
          </a:solidFill>
          <a:ln w="9525">
            <a:solidFill>
              <a:srgbClr val="26332E"/>
            </a:solidFill>
            <a:prstDash val="solid"/>
          </a:ln>
        </p:spPr>
      </p:sp>
      <p:sp>
        <p:nvSpPr>
          <p:cNvPr id="7" name="Text 5"/>
          <p:cNvSpPr txBox="1"/>
          <p:nvPr/>
        </p:nvSpPr>
        <p:spPr>
          <a:xfrm>
            <a:off x="749808"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749808"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Drivers</a:t>
            </a:r>
            <a:endParaRPr lang="en-US" sz="1700" dirty="0"/>
          </a:p>
        </p:txBody>
      </p:sp>
      <p:sp>
        <p:nvSpPr>
          <p:cNvPr id="9" name="Text 7"/>
          <p:cNvSpPr txBox="1"/>
          <p:nvPr/>
        </p:nvSpPr>
        <p:spPr>
          <a:xfrm>
            <a:off x="749808"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Demand, selling price, yield, utilization, material cost, opex, capex, tax</a:t>
            </a:r>
            <a:endParaRPr lang="en-US" sz="1200" dirty="0"/>
          </a:p>
        </p:txBody>
      </p:sp>
      <p:sp>
        <p:nvSpPr>
          <p:cNvPr id="10" name="Shape 8"/>
          <p:cNvSpPr/>
          <p:nvPr/>
        </p:nvSpPr>
        <p:spPr>
          <a:xfrm>
            <a:off x="2542032" y="2468880"/>
            <a:ext cx="201168" cy="274320"/>
          </a:xfrm>
          <a:prstGeom prst="rightArrow">
            <a:avLst/>
          </a:prstGeom>
          <a:solidFill>
            <a:srgbClr val="43C99A"/>
          </a:solidFill>
          <a:ln w="12700">
            <a:solidFill>
              <a:srgbClr val="43C99A"/>
            </a:solidFill>
            <a:prstDash val="solid"/>
          </a:ln>
        </p:spPr>
      </p:sp>
      <p:sp>
        <p:nvSpPr>
          <p:cNvPr id="11" name="Shape 9"/>
          <p:cNvSpPr/>
          <p:nvPr/>
        </p:nvSpPr>
        <p:spPr>
          <a:xfrm>
            <a:off x="2798064" y="1691640"/>
            <a:ext cx="1938528" cy="1828800"/>
          </a:xfrm>
          <a:prstGeom prst="roundRect">
            <a:avLst>
              <a:gd name="adj" fmla="val 8000"/>
            </a:avLst>
          </a:prstGeom>
          <a:solidFill>
            <a:srgbClr val="121A17"/>
          </a:solidFill>
          <a:ln w="9525">
            <a:solidFill>
              <a:srgbClr val="26332E"/>
            </a:solidFill>
            <a:prstDash val="solid"/>
          </a:ln>
        </p:spPr>
      </p:sp>
      <p:sp>
        <p:nvSpPr>
          <p:cNvPr id="12" name="Text 10"/>
          <p:cNvSpPr txBox="1"/>
          <p:nvPr/>
        </p:nvSpPr>
        <p:spPr>
          <a:xfrm>
            <a:off x="2999232"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2999232"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Operating model</a:t>
            </a:r>
            <a:endParaRPr lang="en-US" sz="1700" dirty="0"/>
          </a:p>
        </p:txBody>
      </p:sp>
      <p:sp>
        <p:nvSpPr>
          <p:cNvPr id="14" name="Text 12"/>
          <p:cNvSpPr txBox="1"/>
          <p:nvPr/>
        </p:nvSpPr>
        <p:spPr>
          <a:xfrm>
            <a:off x="2999232"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Units produced → good units → units sold; cost per good unit; inventory</a:t>
            </a:r>
            <a:endParaRPr lang="en-US" sz="1200" dirty="0"/>
          </a:p>
        </p:txBody>
      </p:sp>
      <p:sp>
        <p:nvSpPr>
          <p:cNvPr id="15" name="Shape 13"/>
          <p:cNvSpPr/>
          <p:nvPr/>
        </p:nvSpPr>
        <p:spPr>
          <a:xfrm>
            <a:off x="4791456" y="2468880"/>
            <a:ext cx="201168" cy="274320"/>
          </a:xfrm>
          <a:prstGeom prst="rightArrow">
            <a:avLst/>
          </a:prstGeom>
          <a:solidFill>
            <a:srgbClr val="43C99A"/>
          </a:solidFill>
          <a:ln w="12700">
            <a:solidFill>
              <a:srgbClr val="43C99A"/>
            </a:solidFill>
            <a:prstDash val="solid"/>
          </a:ln>
        </p:spPr>
      </p:sp>
      <p:sp>
        <p:nvSpPr>
          <p:cNvPr id="16" name="Shape 14"/>
          <p:cNvSpPr/>
          <p:nvPr/>
        </p:nvSpPr>
        <p:spPr>
          <a:xfrm>
            <a:off x="5047488" y="1691640"/>
            <a:ext cx="1938528" cy="1828800"/>
          </a:xfrm>
          <a:prstGeom prst="roundRect">
            <a:avLst>
              <a:gd name="adj" fmla="val 8000"/>
            </a:avLst>
          </a:prstGeom>
          <a:solidFill>
            <a:srgbClr val="121A17"/>
          </a:solidFill>
          <a:ln w="9525">
            <a:solidFill>
              <a:srgbClr val="26332E"/>
            </a:solidFill>
            <a:prstDash val="solid"/>
          </a:ln>
        </p:spPr>
      </p:sp>
      <p:sp>
        <p:nvSpPr>
          <p:cNvPr id="17" name="Text 15"/>
          <p:cNvSpPr txBox="1"/>
          <p:nvPr/>
        </p:nvSpPr>
        <p:spPr>
          <a:xfrm>
            <a:off x="5248656"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03</a:t>
            </a:r>
            <a:endParaRPr lang="en-US" sz="1200" dirty="0"/>
          </a:p>
        </p:txBody>
      </p:sp>
      <p:sp>
        <p:nvSpPr>
          <p:cNvPr id="18" name="Text 16"/>
          <p:cNvSpPr txBox="1"/>
          <p:nvPr/>
        </p:nvSpPr>
        <p:spPr>
          <a:xfrm>
            <a:off x="5248656"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P&amp;L</a:t>
            </a:r>
            <a:endParaRPr lang="en-US" sz="1700" dirty="0"/>
          </a:p>
        </p:txBody>
      </p:sp>
      <p:sp>
        <p:nvSpPr>
          <p:cNvPr id="19" name="Text 17"/>
          <p:cNvSpPr txBox="1"/>
          <p:nvPr/>
        </p:nvSpPr>
        <p:spPr>
          <a:xfrm>
            <a:off x="5248656"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Revenue, cost of revenue, gross profit, R&amp;D, SG&amp;A, operating profit</a:t>
            </a:r>
            <a:endParaRPr lang="en-US" sz="1200" dirty="0"/>
          </a:p>
        </p:txBody>
      </p:sp>
      <p:sp>
        <p:nvSpPr>
          <p:cNvPr id="20" name="Shape 18"/>
          <p:cNvSpPr/>
          <p:nvPr/>
        </p:nvSpPr>
        <p:spPr>
          <a:xfrm>
            <a:off x="7040880" y="2468880"/>
            <a:ext cx="201168" cy="274320"/>
          </a:xfrm>
          <a:prstGeom prst="rightArrow">
            <a:avLst/>
          </a:prstGeom>
          <a:solidFill>
            <a:srgbClr val="43C99A"/>
          </a:solidFill>
          <a:ln w="12700">
            <a:solidFill>
              <a:srgbClr val="43C99A"/>
            </a:solidFill>
            <a:prstDash val="solid"/>
          </a:ln>
        </p:spPr>
      </p:sp>
      <p:sp>
        <p:nvSpPr>
          <p:cNvPr id="21" name="Shape 19"/>
          <p:cNvSpPr/>
          <p:nvPr/>
        </p:nvSpPr>
        <p:spPr>
          <a:xfrm>
            <a:off x="7296912" y="1691640"/>
            <a:ext cx="1938528" cy="1828800"/>
          </a:xfrm>
          <a:prstGeom prst="roundRect">
            <a:avLst>
              <a:gd name="adj" fmla="val 8000"/>
            </a:avLst>
          </a:prstGeom>
          <a:solidFill>
            <a:srgbClr val="121A17"/>
          </a:solidFill>
          <a:ln w="9525">
            <a:solidFill>
              <a:srgbClr val="26332E"/>
            </a:solidFill>
            <a:prstDash val="solid"/>
          </a:ln>
        </p:spPr>
      </p:sp>
      <p:sp>
        <p:nvSpPr>
          <p:cNvPr id="22" name="Text 20"/>
          <p:cNvSpPr txBox="1"/>
          <p:nvPr/>
        </p:nvSpPr>
        <p:spPr>
          <a:xfrm>
            <a:off x="7498080"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04</a:t>
            </a:r>
            <a:endParaRPr lang="en-US" sz="1200" dirty="0"/>
          </a:p>
        </p:txBody>
      </p:sp>
      <p:sp>
        <p:nvSpPr>
          <p:cNvPr id="23" name="Text 21"/>
          <p:cNvSpPr txBox="1"/>
          <p:nvPr/>
        </p:nvSpPr>
        <p:spPr>
          <a:xfrm>
            <a:off x="7498080"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Cash flow</a:t>
            </a:r>
            <a:endParaRPr lang="en-US" sz="1700" dirty="0"/>
          </a:p>
        </p:txBody>
      </p:sp>
      <p:sp>
        <p:nvSpPr>
          <p:cNvPr id="24" name="Text 22"/>
          <p:cNvSpPr txBox="1"/>
          <p:nvPr/>
        </p:nvSpPr>
        <p:spPr>
          <a:xfrm>
            <a:off x="7498080"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Depreciation, working capital, capex → free cash flow</a:t>
            </a:r>
            <a:endParaRPr lang="en-US" sz="1200" dirty="0"/>
          </a:p>
        </p:txBody>
      </p:sp>
      <p:sp>
        <p:nvSpPr>
          <p:cNvPr id="25" name="Shape 23"/>
          <p:cNvSpPr/>
          <p:nvPr/>
        </p:nvSpPr>
        <p:spPr>
          <a:xfrm>
            <a:off x="9290304" y="2468880"/>
            <a:ext cx="201168" cy="274320"/>
          </a:xfrm>
          <a:prstGeom prst="rightArrow">
            <a:avLst/>
          </a:prstGeom>
          <a:solidFill>
            <a:srgbClr val="43C99A"/>
          </a:solidFill>
          <a:ln w="12700">
            <a:solidFill>
              <a:srgbClr val="43C99A"/>
            </a:solidFill>
            <a:prstDash val="solid"/>
          </a:ln>
        </p:spPr>
      </p:sp>
      <p:sp>
        <p:nvSpPr>
          <p:cNvPr id="26" name="Shape 24"/>
          <p:cNvSpPr/>
          <p:nvPr/>
        </p:nvSpPr>
        <p:spPr>
          <a:xfrm>
            <a:off x="9546336" y="1691640"/>
            <a:ext cx="1938528" cy="1828800"/>
          </a:xfrm>
          <a:prstGeom prst="roundRect">
            <a:avLst>
              <a:gd name="adj" fmla="val 8000"/>
            </a:avLst>
          </a:prstGeom>
          <a:solidFill>
            <a:srgbClr val="121A17"/>
          </a:solidFill>
          <a:ln w="9525">
            <a:solidFill>
              <a:srgbClr val="26332E"/>
            </a:solidFill>
            <a:prstDash val="solid"/>
          </a:ln>
        </p:spPr>
      </p:sp>
      <p:sp>
        <p:nvSpPr>
          <p:cNvPr id="27" name="Text 25"/>
          <p:cNvSpPr txBox="1"/>
          <p:nvPr/>
        </p:nvSpPr>
        <p:spPr>
          <a:xfrm>
            <a:off x="9747504"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05</a:t>
            </a:r>
            <a:endParaRPr lang="en-US" sz="1200" dirty="0"/>
          </a:p>
        </p:txBody>
      </p:sp>
      <p:sp>
        <p:nvSpPr>
          <p:cNvPr id="28" name="Text 26"/>
          <p:cNvSpPr txBox="1"/>
          <p:nvPr/>
        </p:nvSpPr>
        <p:spPr>
          <a:xfrm>
            <a:off x="9747504"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Decisions</a:t>
            </a:r>
            <a:endParaRPr lang="en-US" sz="1700" dirty="0"/>
          </a:p>
        </p:txBody>
      </p:sp>
      <p:sp>
        <p:nvSpPr>
          <p:cNvPr id="29" name="Text 27"/>
          <p:cNvSpPr txBox="1"/>
          <p:nvPr/>
        </p:nvSpPr>
        <p:spPr>
          <a:xfrm>
            <a:off x="9747504"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Budget variance, scenario range, capex NPV / IRR / payback</a:t>
            </a:r>
            <a:endParaRPr lang="en-US" sz="1200" dirty="0"/>
          </a:p>
        </p:txBody>
      </p:sp>
      <p:sp>
        <p:nvSpPr>
          <p:cNvPr id="30" name="Shape 28"/>
          <p:cNvSpPr/>
          <p:nvPr/>
        </p:nvSpPr>
        <p:spPr>
          <a:xfrm>
            <a:off x="548640" y="3840480"/>
            <a:ext cx="3515258" cy="2240280"/>
          </a:xfrm>
          <a:prstGeom prst="roundRect">
            <a:avLst>
              <a:gd name="adj" fmla="val 6531"/>
            </a:avLst>
          </a:prstGeom>
          <a:solidFill>
            <a:srgbClr val="121A17"/>
          </a:solidFill>
          <a:ln w="9525">
            <a:solidFill>
              <a:srgbClr val="26332E"/>
            </a:solidFill>
            <a:prstDash val="solid"/>
          </a:ln>
        </p:spPr>
      </p:sp>
      <p:sp>
        <p:nvSpPr>
          <p:cNvPr id="31" name="Shape 29"/>
          <p:cNvSpPr/>
          <p:nvPr/>
        </p:nvSpPr>
        <p:spPr>
          <a:xfrm>
            <a:off x="777240" y="4114800"/>
            <a:ext cx="164592" cy="164592"/>
          </a:xfrm>
          <a:prstGeom prst="ellipse">
            <a:avLst/>
          </a:prstGeom>
          <a:solidFill>
            <a:srgbClr val="43C99A"/>
          </a:solidFill>
          <a:ln w="12700">
            <a:solidFill>
              <a:srgbClr val="43C99A"/>
            </a:solidFill>
            <a:prstDash val="solid"/>
          </a:ln>
        </p:spPr>
      </p:sp>
      <p:sp>
        <p:nvSpPr>
          <p:cNvPr id="32" name="Text 30"/>
          <p:cNvSpPr txBox="1"/>
          <p:nvPr/>
        </p:nvSpPr>
        <p:spPr>
          <a:xfrm>
            <a:off x="1051560"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Reported public data</a:t>
            </a:r>
            <a:endParaRPr lang="en-US" sz="1500" dirty="0"/>
          </a:p>
        </p:txBody>
      </p:sp>
      <p:sp>
        <p:nvSpPr>
          <p:cNvPr id="33" name="Text 31"/>
          <p:cNvSpPr txBox="1"/>
          <p:nvPr/>
        </p:nvSpPr>
        <p:spPr>
          <a:xfrm>
            <a:off x="777240"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Texas Instruments 10-K FY2022, FY2023, FY2024, FY2025 and 10-Q Q2 FY2026: five years of history, each value traced to its SEC filing.</a:t>
            </a:r>
            <a:endParaRPr lang="en-US" sz="1300" dirty="0"/>
          </a:p>
        </p:txBody>
      </p:sp>
      <p:sp>
        <p:nvSpPr>
          <p:cNvPr id="34" name="Shape 32"/>
          <p:cNvSpPr/>
          <p:nvPr/>
        </p:nvSpPr>
        <p:spPr>
          <a:xfrm>
            <a:off x="4338218" y="3840480"/>
            <a:ext cx="3515258" cy="2240280"/>
          </a:xfrm>
          <a:prstGeom prst="roundRect">
            <a:avLst>
              <a:gd name="adj" fmla="val 6531"/>
            </a:avLst>
          </a:prstGeom>
          <a:solidFill>
            <a:srgbClr val="121A17"/>
          </a:solidFill>
          <a:ln w="9525">
            <a:solidFill>
              <a:srgbClr val="26332E"/>
            </a:solidFill>
            <a:prstDash val="solid"/>
          </a:ln>
        </p:spPr>
      </p:sp>
      <p:sp>
        <p:nvSpPr>
          <p:cNvPr id="35" name="Shape 33"/>
          <p:cNvSpPr/>
          <p:nvPr/>
        </p:nvSpPr>
        <p:spPr>
          <a:xfrm>
            <a:off x="4566818" y="4114800"/>
            <a:ext cx="164592" cy="164592"/>
          </a:xfrm>
          <a:prstGeom prst="ellipse">
            <a:avLst/>
          </a:prstGeom>
          <a:solidFill>
            <a:srgbClr val="F2C14E"/>
          </a:solidFill>
          <a:ln w="12700">
            <a:solidFill>
              <a:srgbClr val="F2C14E"/>
            </a:solidFill>
            <a:prstDash val="solid"/>
          </a:ln>
        </p:spPr>
      </p:sp>
      <p:sp>
        <p:nvSpPr>
          <p:cNvPr id="36" name="Text 34"/>
          <p:cNvSpPr txBox="1"/>
          <p:nvPr/>
        </p:nvSpPr>
        <p:spPr>
          <a:xfrm>
            <a:off x="4841138"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Simulated operational data</a:t>
            </a:r>
            <a:endParaRPr lang="en-US" sz="1500" dirty="0"/>
          </a:p>
        </p:txBody>
      </p:sp>
      <p:sp>
        <p:nvSpPr>
          <p:cNvPr id="37" name="Text 35"/>
          <p:cNvSpPr txBox="1"/>
          <p:nvPr/>
        </p:nvSpPr>
        <p:spPr>
          <a:xfrm>
            <a:off x="4566818"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Division demand, capacity, yield, unit costs and the Jan–May 2026 actuals. Labeled as simulated on every tab and page.</a:t>
            </a:r>
            <a:endParaRPr lang="en-US" sz="1300" dirty="0"/>
          </a:p>
        </p:txBody>
      </p:sp>
      <p:sp>
        <p:nvSpPr>
          <p:cNvPr id="38" name="Shape 36"/>
          <p:cNvSpPr/>
          <p:nvPr/>
        </p:nvSpPr>
        <p:spPr>
          <a:xfrm>
            <a:off x="8127797" y="3840480"/>
            <a:ext cx="3515258" cy="2240280"/>
          </a:xfrm>
          <a:prstGeom prst="roundRect">
            <a:avLst>
              <a:gd name="adj" fmla="val 6531"/>
            </a:avLst>
          </a:prstGeom>
          <a:solidFill>
            <a:srgbClr val="121A17"/>
          </a:solidFill>
          <a:ln w="9525">
            <a:solidFill>
              <a:srgbClr val="26332E"/>
            </a:solidFill>
            <a:prstDash val="solid"/>
          </a:ln>
        </p:spPr>
      </p:sp>
      <p:sp>
        <p:nvSpPr>
          <p:cNvPr id="39" name="Shape 37"/>
          <p:cNvSpPr/>
          <p:nvPr/>
        </p:nvSpPr>
        <p:spPr>
          <a:xfrm>
            <a:off x="8356397" y="4114800"/>
            <a:ext cx="164592" cy="164592"/>
          </a:xfrm>
          <a:prstGeom prst="ellipse">
            <a:avLst/>
          </a:prstGeom>
          <a:solidFill>
            <a:srgbClr val="A497FF"/>
          </a:solidFill>
          <a:ln w="12700">
            <a:solidFill>
              <a:srgbClr val="A497FF"/>
            </a:solidFill>
            <a:prstDash val="solid"/>
          </a:ln>
        </p:spPr>
      </p:sp>
      <p:sp>
        <p:nvSpPr>
          <p:cNvPr id="40" name="Text 38"/>
          <p:cNvSpPr txBox="1"/>
          <p:nvPr/>
        </p:nvSpPr>
        <p:spPr>
          <a:xfrm>
            <a:off x="8630717"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Independent validation</a:t>
            </a:r>
            <a:endParaRPr lang="en-US" sz="1500" dirty="0"/>
          </a:p>
        </p:txBody>
      </p:sp>
      <p:sp>
        <p:nvSpPr>
          <p:cNvPr id="41" name="Text 39"/>
          <p:cNvSpPr txBox="1"/>
          <p:nvPr/>
        </p:nvSpPr>
        <p:spPr>
          <a:xfrm>
            <a:off x="8356397"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147 Excel checks, a separate Python rebuild of every phase, and a browser test matching 38 dashboard values to Excel.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CONTEXT · TEXAS INSTRUMENTS REPORTED RESULTS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The cycle bottomed in FY2024 and demand is recovering fast</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00200"/>
            <a:ext cx="722376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685800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8046720" y="1600200"/>
            <a:ext cx="3596335" cy="1417320"/>
          </a:xfrm>
          <a:prstGeom prst="roundRect">
            <a:avLst>
              <a:gd name="adj" fmla="val 10323"/>
            </a:avLst>
          </a:prstGeom>
          <a:solidFill>
            <a:srgbClr val="121A17"/>
          </a:solidFill>
          <a:ln w="9525">
            <a:solidFill>
              <a:srgbClr val="26332E"/>
            </a:solidFill>
            <a:prstDash val="solid"/>
          </a:ln>
        </p:spPr>
      </p:sp>
      <p:sp>
        <p:nvSpPr>
          <p:cNvPr id="9" name="Text 6"/>
          <p:cNvSpPr txBox="1"/>
          <p:nvPr/>
        </p:nvSpPr>
        <p:spPr>
          <a:xfrm>
            <a:off x="8275320" y="178308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Sales change FY2022 → FY2024</a:t>
            </a:r>
            <a:endParaRPr lang="en-US" sz="1200" dirty="0"/>
          </a:p>
        </p:txBody>
      </p:sp>
      <p:sp>
        <p:nvSpPr>
          <p:cNvPr id="10" name="Text 7"/>
          <p:cNvSpPr txBox="1"/>
          <p:nvPr/>
        </p:nvSpPr>
        <p:spPr>
          <a:xfrm>
            <a:off x="8275320" y="2057400"/>
            <a:ext cx="3139135" cy="640080"/>
          </a:xfrm>
          <a:prstGeom prst="rect">
            <a:avLst/>
          </a:prstGeom>
          <a:noFill/>
          <a:ln/>
        </p:spPr>
        <p:txBody>
          <a:bodyPr wrap="square" lIns="0" tIns="0" rIns="0" bIns="0" rtlCol="0" anchor="ctr"/>
          <a:lstStyle/>
          <a:p>
            <a:pPr indent="0" marL="0">
              <a:buNone/>
            </a:pPr>
            <a:r>
              <a:rPr lang="en-US" sz="3400" b="1" dirty="0">
                <a:solidFill>
                  <a:srgbClr val="F07B6C"/>
                </a:solidFill>
                <a:latin typeface="Calibri" pitchFamily="34" charset="0"/>
                <a:ea typeface="Calibri" pitchFamily="34" charset="-122"/>
                <a:cs typeface="Calibri" pitchFamily="34" charset="-120"/>
              </a:rPr>
              <a:t>−21.9%</a:t>
            </a:r>
            <a:endParaRPr lang="en-US" sz="3400" dirty="0"/>
          </a:p>
        </p:txBody>
      </p:sp>
      <p:sp>
        <p:nvSpPr>
          <p:cNvPr id="11" name="Text 8"/>
          <p:cNvSpPr txBox="1"/>
          <p:nvPr/>
        </p:nvSpPr>
        <p:spPr>
          <a:xfrm>
            <a:off x="8275320" y="269748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Peak to trough, reported net sales</a:t>
            </a:r>
            <a:endParaRPr lang="en-US" sz="1150" dirty="0"/>
          </a:p>
        </p:txBody>
      </p:sp>
      <p:sp>
        <p:nvSpPr>
          <p:cNvPr id="12" name="Shape 9"/>
          <p:cNvSpPr/>
          <p:nvPr/>
        </p:nvSpPr>
        <p:spPr>
          <a:xfrm>
            <a:off x="8046720" y="3154680"/>
            <a:ext cx="3596335" cy="1417320"/>
          </a:xfrm>
          <a:prstGeom prst="roundRect">
            <a:avLst>
              <a:gd name="adj" fmla="val 10323"/>
            </a:avLst>
          </a:prstGeom>
          <a:solidFill>
            <a:srgbClr val="121A17"/>
          </a:solidFill>
          <a:ln w="9525">
            <a:solidFill>
              <a:srgbClr val="26332E"/>
            </a:solidFill>
            <a:prstDash val="solid"/>
          </a:ln>
        </p:spPr>
      </p:sp>
      <p:sp>
        <p:nvSpPr>
          <p:cNvPr id="13" name="Text 10"/>
          <p:cNvSpPr txBox="1"/>
          <p:nvPr/>
        </p:nvSpPr>
        <p:spPr>
          <a:xfrm>
            <a:off x="8275320" y="333756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Q2 FY2026 sales vs Q2 FY2025</a:t>
            </a:r>
            <a:endParaRPr lang="en-US" sz="1200" dirty="0"/>
          </a:p>
        </p:txBody>
      </p:sp>
      <p:sp>
        <p:nvSpPr>
          <p:cNvPr id="14" name="Text 11"/>
          <p:cNvSpPr txBox="1"/>
          <p:nvPr/>
        </p:nvSpPr>
        <p:spPr>
          <a:xfrm>
            <a:off x="8275320" y="3611880"/>
            <a:ext cx="3139135" cy="640080"/>
          </a:xfrm>
          <a:prstGeom prst="rect">
            <a:avLst/>
          </a:prstGeom>
          <a:noFill/>
          <a:ln/>
        </p:spPr>
        <p:txBody>
          <a:bodyPr wrap="square" lIns="0" tIns="0" rIns="0" bIns="0" rtlCol="0" anchor="ctr"/>
          <a:lstStyle/>
          <a:p>
            <a:pPr indent="0" marL="0">
              <a:buNone/>
            </a:pPr>
            <a:r>
              <a:rPr lang="en-US" sz="3400" b="1" dirty="0">
                <a:solidFill>
                  <a:srgbClr val="CDF56E"/>
                </a:solidFill>
                <a:latin typeface="Calibri" pitchFamily="34" charset="0"/>
                <a:ea typeface="Calibri" pitchFamily="34" charset="-122"/>
                <a:cs typeface="Calibri" pitchFamily="34" charset="-120"/>
              </a:rPr>
              <a:t>+22.8%</a:t>
            </a:r>
            <a:endParaRPr lang="en-US" sz="3400" dirty="0"/>
          </a:p>
        </p:txBody>
      </p:sp>
      <p:sp>
        <p:nvSpPr>
          <p:cNvPr id="15" name="Text 12"/>
          <p:cNvSpPr txBox="1"/>
          <p:nvPr/>
        </p:nvSpPr>
        <p:spPr>
          <a:xfrm>
            <a:off x="8275320" y="425196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$5,463.0m vs $4,448.0m (10-Q)</a:t>
            </a:r>
            <a:endParaRPr lang="en-US" sz="1150" dirty="0"/>
          </a:p>
        </p:txBody>
      </p:sp>
      <p:sp>
        <p:nvSpPr>
          <p:cNvPr id="16" name="Shape 13"/>
          <p:cNvSpPr/>
          <p:nvPr/>
        </p:nvSpPr>
        <p:spPr>
          <a:xfrm>
            <a:off x="8046720" y="4709160"/>
            <a:ext cx="3596335" cy="1417320"/>
          </a:xfrm>
          <a:prstGeom prst="roundRect">
            <a:avLst>
              <a:gd name="adj" fmla="val 10323"/>
            </a:avLst>
          </a:prstGeom>
          <a:solidFill>
            <a:srgbClr val="121A17"/>
          </a:solidFill>
          <a:ln w="9525">
            <a:solidFill>
              <a:srgbClr val="26332E"/>
            </a:solidFill>
            <a:prstDash val="solid"/>
          </a:ln>
        </p:spPr>
      </p:sp>
      <p:sp>
        <p:nvSpPr>
          <p:cNvPr id="17" name="Text 14"/>
          <p:cNvSpPr txBox="1"/>
          <p:nvPr/>
        </p:nvSpPr>
        <p:spPr>
          <a:xfrm>
            <a:off x="8275320" y="489204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Gross margin FY2022 → FY2025</a:t>
            </a:r>
            <a:endParaRPr lang="en-US" sz="1200" dirty="0"/>
          </a:p>
        </p:txBody>
      </p:sp>
      <p:sp>
        <p:nvSpPr>
          <p:cNvPr id="18" name="Text 15"/>
          <p:cNvSpPr txBox="1"/>
          <p:nvPr/>
        </p:nvSpPr>
        <p:spPr>
          <a:xfrm>
            <a:off x="8275320" y="5166360"/>
            <a:ext cx="3139135"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57.0%</a:t>
            </a:r>
            <a:endParaRPr lang="en-US" sz="3400" dirty="0"/>
          </a:p>
        </p:txBody>
      </p:sp>
      <p:sp>
        <p:nvSpPr>
          <p:cNvPr id="19" name="Text 16"/>
          <p:cNvSpPr txBox="1"/>
          <p:nvPr/>
        </p:nvSpPr>
        <p:spPr>
          <a:xfrm>
            <a:off x="8275320" y="580644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down from the 68.8% peak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FY2026 FORECAST · BASE SCENARIO</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Revenue grows +14.6% to $1,145.5m; operating margin 38.0%</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00200"/>
            <a:ext cx="758952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722376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8412480" y="1600200"/>
            <a:ext cx="3230575" cy="1051560"/>
          </a:xfrm>
          <a:prstGeom prst="roundRect">
            <a:avLst>
              <a:gd name="adj" fmla="val 13913"/>
            </a:avLst>
          </a:prstGeom>
          <a:solidFill>
            <a:srgbClr val="121A17"/>
          </a:solidFill>
          <a:ln w="9525">
            <a:solidFill>
              <a:srgbClr val="26332E"/>
            </a:solidFill>
            <a:prstDash val="solid"/>
          </a:ln>
        </p:spPr>
      </p:sp>
      <p:sp>
        <p:nvSpPr>
          <p:cNvPr id="9" name="Shape 6"/>
          <p:cNvSpPr/>
          <p:nvPr/>
        </p:nvSpPr>
        <p:spPr>
          <a:xfrm>
            <a:off x="8641080" y="1856232"/>
            <a:ext cx="164592" cy="164592"/>
          </a:xfrm>
          <a:prstGeom prst="ellipse">
            <a:avLst/>
          </a:prstGeom>
          <a:solidFill>
            <a:srgbClr val="8676F2"/>
          </a:solidFill>
          <a:ln w="12700">
            <a:solidFill>
              <a:srgbClr val="8676F2"/>
            </a:solidFill>
            <a:prstDash val="solid"/>
          </a:ln>
        </p:spPr>
      </p:sp>
      <p:sp>
        <p:nvSpPr>
          <p:cNvPr id="10" name="Text 7"/>
          <p:cNvSpPr txBox="1"/>
          <p:nvPr/>
        </p:nvSpPr>
        <p:spPr>
          <a:xfrm>
            <a:off x="8915400" y="175564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Power management</a:t>
            </a:r>
            <a:endParaRPr lang="en-US" sz="1400" dirty="0"/>
          </a:p>
        </p:txBody>
      </p:sp>
      <p:sp>
        <p:nvSpPr>
          <p:cNvPr id="11" name="Text 8"/>
          <p:cNvSpPr txBox="1"/>
          <p:nvPr/>
        </p:nvSpPr>
        <p:spPr>
          <a:xfrm>
            <a:off x="8641080" y="214884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$485.6m  ·  42.4% of revenue  ·  59.4% gross margin</a:t>
            </a:r>
            <a:endParaRPr lang="en-US" sz="1200" dirty="0"/>
          </a:p>
        </p:txBody>
      </p:sp>
      <p:sp>
        <p:nvSpPr>
          <p:cNvPr id="12" name="Shape 9"/>
          <p:cNvSpPr/>
          <p:nvPr/>
        </p:nvSpPr>
        <p:spPr>
          <a:xfrm>
            <a:off x="8412480" y="2788920"/>
            <a:ext cx="3230575" cy="1051560"/>
          </a:xfrm>
          <a:prstGeom prst="roundRect">
            <a:avLst>
              <a:gd name="adj" fmla="val 13913"/>
            </a:avLst>
          </a:prstGeom>
          <a:solidFill>
            <a:srgbClr val="121A17"/>
          </a:solidFill>
          <a:ln w="9525">
            <a:solidFill>
              <a:srgbClr val="26332E"/>
            </a:solidFill>
            <a:prstDash val="solid"/>
          </a:ln>
        </p:spPr>
      </p:sp>
      <p:sp>
        <p:nvSpPr>
          <p:cNvPr id="13" name="Shape 10"/>
          <p:cNvSpPr/>
          <p:nvPr/>
        </p:nvSpPr>
        <p:spPr>
          <a:xfrm>
            <a:off x="8641080" y="3044952"/>
            <a:ext cx="164592" cy="164592"/>
          </a:xfrm>
          <a:prstGeom prst="ellipse">
            <a:avLst/>
          </a:prstGeom>
          <a:solidFill>
            <a:srgbClr val="22A072"/>
          </a:solidFill>
          <a:ln w="12700">
            <a:solidFill>
              <a:srgbClr val="22A072"/>
            </a:solidFill>
            <a:prstDash val="solid"/>
          </a:ln>
        </p:spPr>
      </p:sp>
      <p:sp>
        <p:nvSpPr>
          <p:cNvPr id="14" name="Text 11"/>
          <p:cNvSpPr txBox="1"/>
          <p:nvPr/>
        </p:nvSpPr>
        <p:spPr>
          <a:xfrm>
            <a:off x="8915400" y="294436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Signal chain</a:t>
            </a:r>
            <a:endParaRPr lang="en-US" sz="1400" dirty="0"/>
          </a:p>
        </p:txBody>
      </p:sp>
      <p:sp>
        <p:nvSpPr>
          <p:cNvPr id="15" name="Text 12"/>
          <p:cNvSpPr txBox="1"/>
          <p:nvPr/>
        </p:nvSpPr>
        <p:spPr>
          <a:xfrm>
            <a:off x="8641080" y="333756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$485.6m  ·  42.4% of revenue  ·  60.0% gross margin</a:t>
            </a:r>
            <a:endParaRPr lang="en-US" sz="1200" dirty="0"/>
          </a:p>
        </p:txBody>
      </p:sp>
      <p:sp>
        <p:nvSpPr>
          <p:cNvPr id="16" name="Shape 13"/>
          <p:cNvSpPr/>
          <p:nvPr/>
        </p:nvSpPr>
        <p:spPr>
          <a:xfrm>
            <a:off x="8412480" y="3977640"/>
            <a:ext cx="3230575" cy="1051560"/>
          </a:xfrm>
          <a:prstGeom prst="roundRect">
            <a:avLst>
              <a:gd name="adj" fmla="val 13913"/>
            </a:avLst>
          </a:prstGeom>
          <a:solidFill>
            <a:srgbClr val="121A17"/>
          </a:solidFill>
          <a:ln w="9525">
            <a:solidFill>
              <a:srgbClr val="26332E"/>
            </a:solidFill>
            <a:prstDash val="solid"/>
          </a:ln>
        </p:spPr>
      </p:sp>
      <p:sp>
        <p:nvSpPr>
          <p:cNvPr id="17" name="Shape 14"/>
          <p:cNvSpPr/>
          <p:nvPr/>
        </p:nvSpPr>
        <p:spPr>
          <a:xfrm>
            <a:off x="8641080" y="4233672"/>
            <a:ext cx="164592" cy="164592"/>
          </a:xfrm>
          <a:prstGeom prst="ellipse">
            <a:avLst/>
          </a:prstGeom>
          <a:solidFill>
            <a:srgbClr val="B08C19"/>
          </a:solidFill>
          <a:ln w="12700">
            <a:solidFill>
              <a:srgbClr val="B08C19"/>
            </a:solidFill>
            <a:prstDash val="solid"/>
          </a:ln>
        </p:spPr>
      </p:sp>
      <p:sp>
        <p:nvSpPr>
          <p:cNvPr id="18" name="Text 15"/>
          <p:cNvSpPr txBox="1"/>
          <p:nvPr/>
        </p:nvSpPr>
        <p:spPr>
          <a:xfrm>
            <a:off x="8915400" y="413308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Embedded processors</a:t>
            </a:r>
            <a:endParaRPr lang="en-US" sz="1400" dirty="0"/>
          </a:p>
        </p:txBody>
      </p:sp>
      <p:sp>
        <p:nvSpPr>
          <p:cNvPr id="19" name="Text 16"/>
          <p:cNvSpPr txBox="1"/>
          <p:nvPr/>
        </p:nvSpPr>
        <p:spPr>
          <a:xfrm>
            <a:off x="8641080" y="452628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$174.2m  ·  15.2% of revenue  ·  51.3% gross margin</a:t>
            </a:r>
            <a:endParaRPr lang="en-US" sz="1200" dirty="0"/>
          </a:p>
        </p:txBody>
      </p:sp>
      <p:sp>
        <p:nvSpPr>
          <p:cNvPr id="20" name="Shape 17"/>
          <p:cNvSpPr/>
          <p:nvPr/>
        </p:nvSpPr>
        <p:spPr>
          <a:xfrm>
            <a:off x="8412480" y="5166360"/>
            <a:ext cx="3230575" cy="960120"/>
          </a:xfrm>
          <a:prstGeom prst="roundRect">
            <a:avLst>
              <a:gd name="adj" fmla="val 15238"/>
            </a:avLst>
          </a:prstGeom>
          <a:solidFill>
            <a:srgbClr val="1F7A5A"/>
          </a:solidFill>
          <a:ln w="9525">
            <a:solidFill>
              <a:srgbClr val="26332E"/>
            </a:solidFill>
            <a:prstDash val="solid"/>
          </a:ln>
        </p:spPr>
      </p:sp>
      <p:sp>
        <p:nvSpPr>
          <p:cNvPr id="21" name="Text 18"/>
          <p:cNvSpPr txBox="1"/>
          <p:nvPr/>
        </p:nvSpPr>
        <p:spPr>
          <a:xfrm>
            <a:off x="8641080" y="5230368"/>
            <a:ext cx="2773375"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Free cash flow $379.3m (33.1% of revenue); FY outlook +$3.8m vs budget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BUDGET VS ACTUAL · YTD JANUARY–MAY 2026</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Operating profit is +$3.8m ahead of budget, driven by sales volume</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00200"/>
            <a:ext cx="7589520" cy="4526280"/>
          </a:xfrm>
          <a:prstGeom prst="roundRect">
            <a:avLst>
              <a:gd name="adj" fmla="val 3232"/>
            </a:avLst>
          </a:prstGeom>
          <a:solidFill>
            <a:srgbClr val="121A17"/>
          </a:solidFill>
          <a:ln w="9525">
            <a:solidFill>
              <a:srgbClr val="26332E"/>
            </a:solidFill>
            <a:prstDash val="solid"/>
          </a:ln>
        </p:spPr>
      </p:sp>
      <p:sp>
        <p:nvSpPr>
          <p:cNvPr id="7" name="Text 5"/>
          <p:cNvSpPr txBox="1"/>
          <p:nvPr/>
        </p:nvSpPr>
        <p:spPr>
          <a:xfrm>
            <a:off x="777240" y="1764792"/>
            <a:ext cx="5486400"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Operating-profit bridge, $m (favorable = positive)</a:t>
            </a:r>
            <a:endParaRPr lang="en-US" sz="1200" dirty="0"/>
          </a:p>
        </p:txBody>
      </p:sp>
      <p:sp>
        <p:nvSpPr>
          <p:cNvPr id="8" name="Text 6"/>
          <p:cNvSpPr txBox="1"/>
          <p:nvPr/>
        </p:nvSpPr>
        <p:spPr>
          <a:xfrm>
            <a:off x="1051560" y="5824728"/>
            <a:ext cx="2286000" cy="201168"/>
          </a:xfrm>
          <a:prstGeom prst="rect">
            <a:avLst/>
          </a:prstGeom>
          <a:noFill/>
          <a:ln/>
        </p:spPr>
        <p:txBody>
          <a:bodyPr wrap="square" lIns="0" tIns="0" rIns="0" bIns="0" rtlCol="0" anchor="ctr"/>
          <a:lstStyle/>
          <a:p>
            <a:pPr indent="0" marL="0">
              <a:buNone/>
            </a:pPr>
            <a:r>
              <a:rPr lang="en-US" sz="900" i="1" dirty="0">
                <a:solidFill>
                  <a:srgbClr val="7C8F86"/>
                </a:solidFill>
                <a:latin typeface="Calibri" pitchFamily="34" charset="0"/>
                <a:ea typeface="Calibri" pitchFamily="34" charset="-122"/>
                <a:cs typeface="Calibri" pitchFamily="34" charset="-120"/>
              </a:rPr>
              <a:t>axis starts at $160m</a:t>
            </a:r>
            <a:endParaRPr lang="en-US" sz="900" dirty="0"/>
          </a:p>
        </p:txBody>
      </p:sp>
      <p:sp>
        <p:nvSpPr>
          <p:cNvPr id="9" name="Shape 7"/>
          <p:cNvSpPr/>
          <p:nvPr/>
        </p:nvSpPr>
        <p:spPr>
          <a:xfrm>
            <a:off x="1170016" y="3717809"/>
            <a:ext cx="386542" cy="1539991"/>
          </a:xfrm>
          <a:prstGeom prst="roundRect">
            <a:avLst>
              <a:gd name="adj" fmla="val 14194"/>
            </a:avLst>
          </a:prstGeom>
          <a:solidFill>
            <a:srgbClr val="A497FF"/>
          </a:solidFill>
          <a:ln w="12700">
            <a:solidFill>
              <a:srgbClr val="A497FF"/>
            </a:solidFill>
            <a:prstDash val="solid"/>
          </a:ln>
        </p:spPr>
      </p:sp>
      <p:sp>
        <p:nvSpPr>
          <p:cNvPr id="10" name="Text 8"/>
          <p:cNvSpPr txBox="1"/>
          <p:nvPr/>
        </p:nvSpPr>
        <p:spPr>
          <a:xfrm>
            <a:off x="941416" y="3443489"/>
            <a:ext cx="843742" cy="237744"/>
          </a:xfrm>
          <a:prstGeom prst="rect">
            <a:avLst/>
          </a:prstGeom>
          <a:noFill/>
          <a:ln/>
        </p:spPr>
        <p:txBody>
          <a:bodyPr wrap="square" lIns="0" tIns="0" rIns="0" bIns="0" rtlCol="0" anchor="ctr"/>
          <a:lstStyle/>
          <a:p>
            <a:pPr algn="ctr" indent="0" marL="0">
              <a:buNone/>
            </a:pPr>
            <a:r>
              <a:rPr lang="en-US" sz="1050" b="1" dirty="0">
                <a:solidFill>
                  <a:srgbClr val="EEF5F1"/>
                </a:solidFill>
                <a:latin typeface="Calibri" pitchFamily="34" charset="0"/>
                <a:ea typeface="Calibri" pitchFamily="34" charset="-122"/>
                <a:cs typeface="Calibri" pitchFamily="34" charset="-120"/>
              </a:rPr>
              <a:t>$176.8</a:t>
            </a:r>
            <a:endParaRPr lang="en-US" sz="1050" dirty="0"/>
          </a:p>
        </p:txBody>
      </p:sp>
      <p:sp>
        <p:nvSpPr>
          <p:cNvPr id="11" name="Text 9"/>
          <p:cNvSpPr txBox="1"/>
          <p:nvPr/>
        </p:nvSpPr>
        <p:spPr>
          <a:xfrm>
            <a:off x="1032856"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Budget</a:t>
            </a:r>
            <a:endParaRPr lang="en-US" sz="1050" dirty="0"/>
          </a:p>
        </p:txBody>
      </p:sp>
      <p:sp>
        <p:nvSpPr>
          <p:cNvPr id="12" name="Shape 10"/>
          <p:cNvSpPr/>
          <p:nvPr/>
        </p:nvSpPr>
        <p:spPr>
          <a:xfrm>
            <a:off x="1793471" y="3596349"/>
            <a:ext cx="386542" cy="121460"/>
          </a:xfrm>
          <a:prstGeom prst="roundRect">
            <a:avLst>
              <a:gd name="adj" fmla="val 45170"/>
            </a:avLst>
          </a:prstGeom>
          <a:solidFill>
            <a:srgbClr val="43C99A"/>
          </a:solidFill>
          <a:ln w="12700">
            <a:solidFill>
              <a:srgbClr val="43C99A"/>
            </a:solidFill>
            <a:prstDash val="solid"/>
          </a:ln>
        </p:spPr>
      </p:sp>
      <p:sp>
        <p:nvSpPr>
          <p:cNvPr id="13" name="Text 11"/>
          <p:cNvSpPr txBox="1"/>
          <p:nvPr/>
        </p:nvSpPr>
        <p:spPr>
          <a:xfrm>
            <a:off x="1564871" y="3322029"/>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+1.3</a:t>
            </a:r>
            <a:endParaRPr lang="en-US" sz="1050" dirty="0"/>
          </a:p>
        </p:txBody>
      </p:sp>
      <p:sp>
        <p:nvSpPr>
          <p:cNvPr id="14" name="Text 12"/>
          <p:cNvSpPr txBox="1"/>
          <p:nvPr/>
        </p:nvSpPr>
        <p:spPr>
          <a:xfrm>
            <a:off x="1656311"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Price</a:t>
            </a:r>
            <a:endParaRPr lang="en-US" sz="1050" dirty="0"/>
          </a:p>
        </p:txBody>
      </p:sp>
      <p:sp>
        <p:nvSpPr>
          <p:cNvPr id="15" name="Shape 13"/>
          <p:cNvSpPr/>
          <p:nvPr/>
        </p:nvSpPr>
        <p:spPr>
          <a:xfrm>
            <a:off x="2416925" y="2809784"/>
            <a:ext cx="386542" cy="786565"/>
          </a:xfrm>
          <a:prstGeom prst="roundRect">
            <a:avLst>
              <a:gd name="adj" fmla="val 14194"/>
            </a:avLst>
          </a:prstGeom>
          <a:solidFill>
            <a:srgbClr val="43C99A"/>
          </a:solidFill>
          <a:ln w="12700">
            <a:solidFill>
              <a:srgbClr val="43C99A"/>
            </a:solidFill>
            <a:prstDash val="solid"/>
          </a:ln>
        </p:spPr>
      </p:sp>
      <p:sp>
        <p:nvSpPr>
          <p:cNvPr id="16" name="Text 14"/>
          <p:cNvSpPr txBox="1"/>
          <p:nvPr/>
        </p:nvSpPr>
        <p:spPr>
          <a:xfrm>
            <a:off x="2188325" y="2535464"/>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+8.6</a:t>
            </a:r>
            <a:endParaRPr lang="en-US" sz="1050" dirty="0"/>
          </a:p>
        </p:txBody>
      </p:sp>
      <p:sp>
        <p:nvSpPr>
          <p:cNvPr id="17" name="Text 15"/>
          <p:cNvSpPr txBox="1"/>
          <p:nvPr/>
        </p:nvSpPr>
        <p:spPr>
          <a:xfrm>
            <a:off x="2279765"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Volume</a:t>
            </a:r>
            <a:endParaRPr lang="en-US" sz="1050" dirty="0"/>
          </a:p>
        </p:txBody>
      </p:sp>
      <p:sp>
        <p:nvSpPr>
          <p:cNvPr id="18" name="Shape 16"/>
          <p:cNvSpPr/>
          <p:nvPr/>
        </p:nvSpPr>
        <p:spPr>
          <a:xfrm>
            <a:off x="3040380" y="2809784"/>
            <a:ext cx="386542" cy="302211"/>
          </a:xfrm>
          <a:prstGeom prst="roundRect">
            <a:avLst>
              <a:gd name="adj" fmla="val 18154"/>
            </a:avLst>
          </a:prstGeom>
          <a:solidFill>
            <a:srgbClr val="EF6B6B"/>
          </a:solidFill>
          <a:ln w="12700">
            <a:solidFill>
              <a:srgbClr val="EF6B6B"/>
            </a:solidFill>
            <a:prstDash val="solid"/>
          </a:ln>
        </p:spPr>
      </p:sp>
      <p:sp>
        <p:nvSpPr>
          <p:cNvPr id="19" name="Text 17"/>
          <p:cNvSpPr txBox="1"/>
          <p:nvPr/>
        </p:nvSpPr>
        <p:spPr>
          <a:xfrm>
            <a:off x="2811780" y="2535464"/>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−3.3</a:t>
            </a:r>
            <a:endParaRPr lang="en-US" sz="1050" dirty="0"/>
          </a:p>
        </p:txBody>
      </p:sp>
      <p:sp>
        <p:nvSpPr>
          <p:cNvPr id="20" name="Text 18"/>
          <p:cNvSpPr txBox="1"/>
          <p:nvPr/>
        </p:nvSpPr>
        <p:spPr>
          <a:xfrm>
            <a:off x="2903220"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Mix</a:t>
            </a:r>
            <a:endParaRPr lang="en-US" sz="1050" dirty="0"/>
          </a:p>
        </p:txBody>
      </p:sp>
      <p:sp>
        <p:nvSpPr>
          <p:cNvPr id="21" name="Shape 19"/>
          <p:cNvSpPr/>
          <p:nvPr/>
        </p:nvSpPr>
        <p:spPr>
          <a:xfrm>
            <a:off x="3663835" y="3111995"/>
            <a:ext cx="386542" cy="114754"/>
          </a:xfrm>
          <a:prstGeom prst="roundRect">
            <a:avLst>
              <a:gd name="adj" fmla="val 47810"/>
            </a:avLst>
          </a:prstGeom>
          <a:solidFill>
            <a:srgbClr val="EF6B6B"/>
          </a:solidFill>
          <a:ln w="12700">
            <a:solidFill>
              <a:srgbClr val="EF6B6B"/>
            </a:solidFill>
            <a:prstDash val="solid"/>
          </a:ln>
        </p:spPr>
      </p:sp>
      <p:sp>
        <p:nvSpPr>
          <p:cNvPr id="22" name="Text 20"/>
          <p:cNvSpPr txBox="1"/>
          <p:nvPr/>
        </p:nvSpPr>
        <p:spPr>
          <a:xfrm>
            <a:off x="3435235" y="2837675"/>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−1.3</a:t>
            </a:r>
            <a:endParaRPr lang="en-US" sz="1050" dirty="0"/>
          </a:p>
        </p:txBody>
      </p:sp>
      <p:sp>
        <p:nvSpPr>
          <p:cNvPr id="23" name="Text 21"/>
          <p:cNvSpPr txBox="1"/>
          <p:nvPr/>
        </p:nvSpPr>
        <p:spPr>
          <a:xfrm>
            <a:off x="3526675"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Material</a:t>
            </a:r>
            <a:endParaRPr lang="en-US" sz="1050" dirty="0"/>
          </a:p>
        </p:txBody>
      </p:sp>
      <p:sp>
        <p:nvSpPr>
          <p:cNvPr id="24" name="Shape 22"/>
          <p:cNvSpPr/>
          <p:nvPr/>
        </p:nvSpPr>
        <p:spPr>
          <a:xfrm>
            <a:off x="4287289" y="3226749"/>
            <a:ext cx="386542" cy="76894"/>
          </a:xfrm>
          <a:prstGeom prst="roundRect">
            <a:avLst>
              <a:gd name="adj" fmla="val 50000"/>
            </a:avLst>
          </a:prstGeom>
          <a:solidFill>
            <a:srgbClr val="EF6B6B"/>
          </a:solidFill>
          <a:ln w="12700">
            <a:solidFill>
              <a:srgbClr val="EF6B6B"/>
            </a:solidFill>
            <a:prstDash val="solid"/>
          </a:ln>
        </p:spPr>
      </p:sp>
      <p:sp>
        <p:nvSpPr>
          <p:cNvPr id="25" name="Text 23"/>
          <p:cNvSpPr txBox="1"/>
          <p:nvPr/>
        </p:nvSpPr>
        <p:spPr>
          <a:xfrm>
            <a:off x="4058689" y="2952429"/>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−0.8</a:t>
            </a:r>
            <a:endParaRPr lang="en-US" sz="1050" dirty="0"/>
          </a:p>
        </p:txBody>
      </p:sp>
      <p:sp>
        <p:nvSpPr>
          <p:cNvPr id="26" name="Text 24"/>
          <p:cNvSpPr txBox="1"/>
          <p:nvPr/>
        </p:nvSpPr>
        <p:spPr>
          <a:xfrm>
            <a:off x="4150129"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Yield</a:t>
            </a:r>
            <a:endParaRPr lang="en-US" sz="1050" dirty="0"/>
          </a:p>
        </p:txBody>
      </p:sp>
      <p:sp>
        <p:nvSpPr>
          <p:cNvPr id="27" name="Shape 25"/>
          <p:cNvSpPr/>
          <p:nvPr/>
        </p:nvSpPr>
        <p:spPr>
          <a:xfrm>
            <a:off x="4910744" y="3303642"/>
            <a:ext cx="386542" cy="85787"/>
          </a:xfrm>
          <a:prstGeom prst="roundRect">
            <a:avLst>
              <a:gd name="adj" fmla="val 50000"/>
            </a:avLst>
          </a:prstGeom>
          <a:solidFill>
            <a:srgbClr val="EF6B6B"/>
          </a:solidFill>
          <a:ln w="12700">
            <a:solidFill>
              <a:srgbClr val="EF6B6B"/>
            </a:solidFill>
            <a:prstDash val="solid"/>
          </a:ln>
        </p:spPr>
      </p:sp>
      <p:sp>
        <p:nvSpPr>
          <p:cNvPr id="28" name="Text 26"/>
          <p:cNvSpPr txBox="1"/>
          <p:nvPr/>
        </p:nvSpPr>
        <p:spPr>
          <a:xfrm>
            <a:off x="4682144" y="3029322"/>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−0.9</a:t>
            </a:r>
            <a:endParaRPr lang="en-US" sz="1050" dirty="0"/>
          </a:p>
        </p:txBody>
      </p:sp>
      <p:sp>
        <p:nvSpPr>
          <p:cNvPr id="29" name="Text 27"/>
          <p:cNvSpPr txBox="1"/>
          <p:nvPr/>
        </p:nvSpPr>
        <p:spPr>
          <a:xfrm>
            <a:off x="4773584"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Fixed mfg</a:t>
            </a:r>
            <a:endParaRPr lang="en-US" sz="1050" dirty="0"/>
          </a:p>
        </p:txBody>
      </p:sp>
      <p:sp>
        <p:nvSpPr>
          <p:cNvPr id="30" name="Shape 28"/>
          <p:cNvSpPr/>
          <p:nvPr/>
        </p:nvSpPr>
        <p:spPr>
          <a:xfrm>
            <a:off x="5534198" y="3320455"/>
            <a:ext cx="386542" cy="68975"/>
          </a:xfrm>
          <a:prstGeom prst="roundRect">
            <a:avLst>
              <a:gd name="adj" fmla="val 50000"/>
            </a:avLst>
          </a:prstGeom>
          <a:solidFill>
            <a:srgbClr val="43C99A"/>
          </a:solidFill>
          <a:ln w="12700">
            <a:solidFill>
              <a:srgbClr val="43C99A"/>
            </a:solidFill>
            <a:prstDash val="solid"/>
          </a:ln>
        </p:spPr>
      </p:sp>
      <p:sp>
        <p:nvSpPr>
          <p:cNvPr id="31" name="Text 29"/>
          <p:cNvSpPr txBox="1"/>
          <p:nvPr/>
        </p:nvSpPr>
        <p:spPr>
          <a:xfrm>
            <a:off x="5305598" y="3046135"/>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+0.8</a:t>
            </a:r>
            <a:endParaRPr lang="en-US" sz="1050" dirty="0"/>
          </a:p>
        </p:txBody>
      </p:sp>
      <p:sp>
        <p:nvSpPr>
          <p:cNvPr id="32" name="Text 30"/>
          <p:cNvSpPr txBox="1"/>
          <p:nvPr/>
        </p:nvSpPr>
        <p:spPr>
          <a:xfrm>
            <a:off x="5397038"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Vol. &amp; inv.</a:t>
            </a:r>
            <a:endParaRPr lang="en-US" sz="1050" dirty="0"/>
          </a:p>
        </p:txBody>
      </p:sp>
      <p:sp>
        <p:nvSpPr>
          <p:cNvPr id="33" name="Shape 31"/>
          <p:cNvSpPr/>
          <p:nvPr/>
        </p:nvSpPr>
        <p:spPr>
          <a:xfrm>
            <a:off x="6157653" y="3320455"/>
            <a:ext cx="386542" cy="137160"/>
          </a:xfrm>
          <a:prstGeom prst="roundRect">
            <a:avLst>
              <a:gd name="adj" fmla="val 40000"/>
            </a:avLst>
          </a:prstGeom>
          <a:solidFill>
            <a:srgbClr val="EF6B6B"/>
          </a:solidFill>
          <a:ln w="12700">
            <a:solidFill>
              <a:srgbClr val="EF6B6B"/>
            </a:solidFill>
            <a:prstDash val="solid"/>
          </a:ln>
        </p:spPr>
      </p:sp>
      <p:sp>
        <p:nvSpPr>
          <p:cNvPr id="34" name="Text 32"/>
          <p:cNvSpPr txBox="1"/>
          <p:nvPr/>
        </p:nvSpPr>
        <p:spPr>
          <a:xfrm>
            <a:off x="5929053" y="3046135"/>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−1.5</a:t>
            </a:r>
            <a:endParaRPr lang="en-US" sz="1050" dirty="0"/>
          </a:p>
        </p:txBody>
      </p:sp>
      <p:sp>
        <p:nvSpPr>
          <p:cNvPr id="35" name="Text 33"/>
          <p:cNvSpPr txBox="1"/>
          <p:nvPr/>
        </p:nvSpPr>
        <p:spPr>
          <a:xfrm>
            <a:off x="6020493"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R&amp;D</a:t>
            </a:r>
            <a:endParaRPr lang="en-US" sz="1050" dirty="0"/>
          </a:p>
        </p:txBody>
      </p:sp>
      <p:sp>
        <p:nvSpPr>
          <p:cNvPr id="36" name="Shape 34"/>
          <p:cNvSpPr/>
          <p:nvPr/>
        </p:nvSpPr>
        <p:spPr>
          <a:xfrm>
            <a:off x="6781107" y="3373795"/>
            <a:ext cx="386542" cy="83820"/>
          </a:xfrm>
          <a:prstGeom prst="roundRect">
            <a:avLst>
              <a:gd name="adj" fmla="val 50000"/>
            </a:avLst>
          </a:prstGeom>
          <a:solidFill>
            <a:srgbClr val="43C99A"/>
          </a:solidFill>
          <a:ln w="12700">
            <a:solidFill>
              <a:srgbClr val="43C99A"/>
            </a:solidFill>
            <a:prstDash val="solid"/>
          </a:ln>
        </p:spPr>
      </p:sp>
      <p:sp>
        <p:nvSpPr>
          <p:cNvPr id="37" name="Text 35"/>
          <p:cNvSpPr txBox="1"/>
          <p:nvPr/>
        </p:nvSpPr>
        <p:spPr>
          <a:xfrm>
            <a:off x="6552507" y="3099475"/>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+0.9</a:t>
            </a:r>
            <a:endParaRPr lang="en-US" sz="1050" dirty="0"/>
          </a:p>
        </p:txBody>
      </p:sp>
      <p:sp>
        <p:nvSpPr>
          <p:cNvPr id="38" name="Text 36"/>
          <p:cNvSpPr txBox="1"/>
          <p:nvPr/>
        </p:nvSpPr>
        <p:spPr>
          <a:xfrm>
            <a:off x="6643947"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SG&amp;A</a:t>
            </a:r>
            <a:endParaRPr lang="en-US" sz="1050" dirty="0"/>
          </a:p>
        </p:txBody>
      </p:sp>
      <p:sp>
        <p:nvSpPr>
          <p:cNvPr id="39" name="Shape 37"/>
          <p:cNvSpPr/>
          <p:nvPr/>
        </p:nvSpPr>
        <p:spPr>
          <a:xfrm>
            <a:off x="7404562" y="3373795"/>
            <a:ext cx="386542" cy="1884005"/>
          </a:xfrm>
          <a:prstGeom prst="roundRect">
            <a:avLst>
              <a:gd name="adj" fmla="val 14194"/>
            </a:avLst>
          </a:prstGeom>
          <a:solidFill>
            <a:srgbClr val="A497FF"/>
          </a:solidFill>
          <a:ln w="12700">
            <a:solidFill>
              <a:srgbClr val="A497FF"/>
            </a:solidFill>
            <a:prstDash val="solid"/>
          </a:ln>
        </p:spPr>
      </p:sp>
      <p:sp>
        <p:nvSpPr>
          <p:cNvPr id="40" name="Text 38"/>
          <p:cNvSpPr txBox="1"/>
          <p:nvPr/>
        </p:nvSpPr>
        <p:spPr>
          <a:xfrm>
            <a:off x="7175962" y="3099475"/>
            <a:ext cx="843742" cy="237744"/>
          </a:xfrm>
          <a:prstGeom prst="rect">
            <a:avLst/>
          </a:prstGeom>
          <a:noFill/>
          <a:ln/>
        </p:spPr>
        <p:txBody>
          <a:bodyPr wrap="square" lIns="0" tIns="0" rIns="0" bIns="0" rtlCol="0" anchor="ctr"/>
          <a:lstStyle/>
          <a:p>
            <a:pPr algn="ctr" indent="0" marL="0">
              <a:buNone/>
            </a:pPr>
            <a:r>
              <a:rPr lang="en-US" sz="1050" b="1" dirty="0">
                <a:solidFill>
                  <a:srgbClr val="EEF5F1"/>
                </a:solidFill>
                <a:latin typeface="Calibri" pitchFamily="34" charset="0"/>
                <a:ea typeface="Calibri" pitchFamily="34" charset="-122"/>
                <a:cs typeface="Calibri" pitchFamily="34" charset="-120"/>
              </a:rPr>
              <a:t>$180.6</a:t>
            </a:r>
            <a:endParaRPr lang="en-US" sz="1050" dirty="0"/>
          </a:p>
        </p:txBody>
      </p:sp>
      <p:sp>
        <p:nvSpPr>
          <p:cNvPr id="41" name="Text 39"/>
          <p:cNvSpPr txBox="1"/>
          <p:nvPr/>
        </p:nvSpPr>
        <p:spPr>
          <a:xfrm>
            <a:off x="7267402"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Actual</a:t>
            </a:r>
            <a:endParaRPr lang="en-US" sz="1050" dirty="0"/>
          </a:p>
        </p:txBody>
      </p:sp>
      <p:sp>
        <p:nvSpPr>
          <p:cNvPr id="42" name="Shape 40"/>
          <p:cNvSpPr/>
          <p:nvPr/>
        </p:nvSpPr>
        <p:spPr>
          <a:xfrm>
            <a:off x="8412480" y="1600200"/>
            <a:ext cx="3230575" cy="4526280"/>
          </a:xfrm>
          <a:prstGeom prst="roundRect">
            <a:avLst>
              <a:gd name="adj" fmla="val 4529"/>
            </a:avLst>
          </a:prstGeom>
          <a:solidFill>
            <a:srgbClr val="121A17"/>
          </a:solidFill>
          <a:ln w="9525">
            <a:solidFill>
              <a:srgbClr val="26332E"/>
            </a:solidFill>
            <a:prstDash val="solid"/>
          </a:ln>
        </p:spPr>
      </p:sp>
      <p:sp>
        <p:nvSpPr>
          <p:cNvPr id="43" name="Text 41"/>
          <p:cNvSpPr txBox="1"/>
          <p:nvPr/>
        </p:nvSpPr>
        <p:spPr>
          <a:xfrm>
            <a:off x="8641080" y="1764792"/>
            <a:ext cx="277337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Required variances (division, $m)</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595360" y="2148840"/>
          <a:ext cx="2864815" cy="914400"/>
        </p:xfrm>
        <a:graphic>
          <a:graphicData uri="http://schemas.openxmlformats.org/drawingml/2006/table">
            <a:tbl>
              <a:tblPr/>
              <a:tblGrid>
                <a:gridCol w="1767535"/>
                <a:gridCol w="1097280"/>
              </a:tblGrid>
              <a:tr h="329184">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Total revenue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Price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Volume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Product-mix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Material-cost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Manufacturing-yield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Operating-expense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Operating-profit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bl>
          </a:graphicData>
        </a:graphic>
      </p:graphicFrame>
      <p:sp>
        <p:nvSpPr>
          <p:cNvPr id="45" name="Text 42"/>
          <p:cNvSpPr txBox="1"/>
          <p:nvPr/>
        </p:nvSpPr>
        <p:spPr>
          <a:xfrm>
            <a:off x="8641080" y="5486400"/>
            <a:ext cx="2773375" cy="457200"/>
          </a:xfrm>
          <a:prstGeom prst="rect">
            <a:avLst/>
          </a:prstGeom>
          <a:noFill/>
          <a:ln/>
        </p:spPr>
        <p:txBody>
          <a:bodyPr wrap="square" lIns="0" tIns="0" rIns="0" bIns="0" rtlCol="0" anchor="ctr"/>
          <a:lstStyle/>
          <a:p>
            <a:pPr indent="0" marL="0">
              <a:buNone/>
            </a:pPr>
            <a:r>
              <a:rPr lang="en-US" sz="1100" b="1" dirty="0">
                <a:solidFill>
                  <a:srgbClr val="43C99A"/>
                </a:solidFill>
                <a:latin typeface="Calibri" pitchFamily="34" charset="0"/>
                <a:ea typeface="Calibri" pitchFamily="34" charset="-122"/>
                <a:cs typeface="Calibri" pitchFamily="34" charset="-120"/>
              </a:rPr>
              <a:t>Revenue decomposition: Reconciled  ·  Profit bridge: Reconciled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SEMICONDUCTOR OPERATIONS · FINAL TEST</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Power runs closest to its test-capacity limit, peaking at 0.86</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00200"/>
            <a:ext cx="11094415" cy="2606040"/>
          </a:xfrm>
          <a:prstGeom prst="roundRect">
            <a:avLst>
              <a:gd name="adj" fmla="val 5614"/>
            </a:avLst>
          </a:prstGeom>
          <a:solidFill>
            <a:srgbClr val="121A17"/>
          </a:solidFill>
          <a:ln w="9525">
            <a:solidFill>
              <a:srgbClr val="26332E"/>
            </a:solidFill>
            <a:prstDash val="solid"/>
          </a:ln>
        </p:spPr>
      </p:sp>
      <p:sp>
        <p:nvSpPr>
          <p:cNvPr id="7" name="Text 5"/>
          <p:cNvSpPr txBox="1"/>
          <p:nvPr/>
        </p:nvSpPr>
        <p:spPr>
          <a:xfrm>
            <a:off x="777240" y="1737360"/>
            <a:ext cx="9144000"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Demand ÷ good-unit capacity at full load, Base scenario (TIGHT ≥ 0.85, SHORT ≥ 1.00)</a:t>
            </a:r>
            <a:endParaRPr lang="en-US" sz="1200" dirty="0"/>
          </a:p>
        </p:txBody>
      </p:sp>
      <p:sp>
        <p:nvSpPr>
          <p:cNvPr id="8" name="Text 6"/>
          <p:cNvSpPr txBox="1"/>
          <p:nvPr/>
        </p:nvSpPr>
        <p:spPr>
          <a:xfrm>
            <a:off x="2514600"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Jan</a:t>
            </a:r>
            <a:endParaRPr lang="en-US" sz="1000" dirty="0"/>
          </a:p>
        </p:txBody>
      </p:sp>
      <p:sp>
        <p:nvSpPr>
          <p:cNvPr id="9" name="Text 7"/>
          <p:cNvSpPr txBox="1"/>
          <p:nvPr/>
        </p:nvSpPr>
        <p:spPr>
          <a:xfrm>
            <a:off x="3256255"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Feb</a:t>
            </a:r>
            <a:endParaRPr lang="en-US" sz="1000" dirty="0"/>
          </a:p>
        </p:txBody>
      </p:sp>
      <p:sp>
        <p:nvSpPr>
          <p:cNvPr id="10" name="Text 8"/>
          <p:cNvSpPr txBox="1"/>
          <p:nvPr/>
        </p:nvSpPr>
        <p:spPr>
          <a:xfrm>
            <a:off x="3997909"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Mar</a:t>
            </a:r>
            <a:endParaRPr lang="en-US" sz="1000" dirty="0"/>
          </a:p>
        </p:txBody>
      </p:sp>
      <p:sp>
        <p:nvSpPr>
          <p:cNvPr id="11" name="Text 9"/>
          <p:cNvSpPr txBox="1"/>
          <p:nvPr/>
        </p:nvSpPr>
        <p:spPr>
          <a:xfrm>
            <a:off x="4739564"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Apr</a:t>
            </a:r>
            <a:endParaRPr lang="en-US" sz="1000" dirty="0"/>
          </a:p>
        </p:txBody>
      </p:sp>
      <p:sp>
        <p:nvSpPr>
          <p:cNvPr id="12" name="Text 10"/>
          <p:cNvSpPr txBox="1"/>
          <p:nvPr/>
        </p:nvSpPr>
        <p:spPr>
          <a:xfrm>
            <a:off x="5481218"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May</a:t>
            </a:r>
            <a:endParaRPr lang="en-US" sz="1000" dirty="0"/>
          </a:p>
        </p:txBody>
      </p:sp>
      <p:sp>
        <p:nvSpPr>
          <p:cNvPr id="13" name="Text 11"/>
          <p:cNvSpPr txBox="1"/>
          <p:nvPr/>
        </p:nvSpPr>
        <p:spPr>
          <a:xfrm>
            <a:off x="6222873"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Jun</a:t>
            </a:r>
            <a:endParaRPr lang="en-US" sz="1000" dirty="0"/>
          </a:p>
        </p:txBody>
      </p:sp>
      <p:sp>
        <p:nvSpPr>
          <p:cNvPr id="14" name="Text 12"/>
          <p:cNvSpPr txBox="1"/>
          <p:nvPr/>
        </p:nvSpPr>
        <p:spPr>
          <a:xfrm>
            <a:off x="6964528"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Jul</a:t>
            </a:r>
            <a:endParaRPr lang="en-US" sz="1000" dirty="0"/>
          </a:p>
        </p:txBody>
      </p:sp>
      <p:sp>
        <p:nvSpPr>
          <p:cNvPr id="15" name="Text 13"/>
          <p:cNvSpPr txBox="1"/>
          <p:nvPr/>
        </p:nvSpPr>
        <p:spPr>
          <a:xfrm>
            <a:off x="7706182"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Aug</a:t>
            </a:r>
            <a:endParaRPr lang="en-US" sz="1000" dirty="0"/>
          </a:p>
        </p:txBody>
      </p:sp>
      <p:sp>
        <p:nvSpPr>
          <p:cNvPr id="16" name="Text 14"/>
          <p:cNvSpPr txBox="1"/>
          <p:nvPr/>
        </p:nvSpPr>
        <p:spPr>
          <a:xfrm>
            <a:off x="8447837"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Sep</a:t>
            </a:r>
            <a:endParaRPr lang="en-US" sz="1000" dirty="0"/>
          </a:p>
        </p:txBody>
      </p:sp>
      <p:sp>
        <p:nvSpPr>
          <p:cNvPr id="17" name="Text 15"/>
          <p:cNvSpPr txBox="1"/>
          <p:nvPr/>
        </p:nvSpPr>
        <p:spPr>
          <a:xfrm>
            <a:off x="9189491"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Oct</a:t>
            </a:r>
            <a:endParaRPr lang="en-US" sz="1000" dirty="0"/>
          </a:p>
        </p:txBody>
      </p:sp>
      <p:sp>
        <p:nvSpPr>
          <p:cNvPr id="18" name="Text 16"/>
          <p:cNvSpPr txBox="1"/>
          <p:nvPr/>
        </p:nvSpPr>
        <p:spPr>
          <a:xfrm>
            <a:off x="9931146"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Nov</a:t>
            </a:r>
            <a:endParaRPr lang="en-US" sz="1000" dirty="0"/>
          </a:p>
        </p:txBody>
      </p:sp>
      <p:sp>
        <p:nvSpPr>
          <p:cNvPr id="19" name="Text 17"/>
          <p:cNvSpPr txBox="1"/>
          <p:nvPr/>
        </p:nvSpPr>
        <p:spPr>
          <a:xfrm>
            <a:off x="10672801"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Dec</a:t>
            </a:r>
            <a:endParaRPr lang="en-US" sz="1000" dirty="0"/>
          </a:p>
        </p:txBody>
      </p:sp>
      <p:sp>
        <p:nvSpPr>
          <p:cNvPr id="20" name="Shape 18"/>
          <p:cNvSpPr/>
          <p:nvPr/>
        </p:nvSpPr>
        <p:spPr>
          <a:xfrm>
            <a:off x="777240" y="2532888"/>
            <a:ext cx="137160" cy="137160"/>
          </a:xfrm>
          <a:prstGeom prst="ellipse">
            <a:avLst/>
          </a:prstGeom>
          <a:solidFill>
            <a:srgbClr val="8676F2"/>
          </a:solidFill>
          <a:ln w="12700">
            <a:solidFill>
              <a:srgbClr val="8676F2"/>
            </a:solidFill>
            <a:prstDash val="solid"/>
          </a:ln>
        </p:spPr>
      </p:sp>
      <p:sp>
        <p:nvSpPr>
          <p:cNvPr id="21" name="Text 19"/>
          <p:cNvSpPr txBox="1"/>
          <p:nvPr/>
        </p:nvSpPr>
        <p:spPr>
          <a:xfrm>
            <a:off x="1005840" y="2350008"/>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Power management</a:t>
            </a:r>
            <a:endParaRPr lang="en-US" sz="1250" dirty="0"/>
          </a:p>
        </p:txBody>
      </p:sp>
      <p:sp>
        <p:nvSpPr>
          <p:cNvPr id="22" name="Shape 20"/>
          <p:cNvSpPr/>
          <p:nvPr/>
        </p:nvSpPr>
        <p:spPr>
          <a:xfrm>
            <a:off x="2542032" y="2350008"/>
            <a:ext cx="686791" cy="512064"/>
          </a:xfrm>
          <a:prstGeom prst="roundRect">
            <a:avLst>
              <a:gd name="adj" fmla="val 14286"/>
            </a:avLst>
          </a:prstGeom>
          <a:solidFill>
            <a:srgbClr val="1F6A4D"/>
          </a:solidFill>
          <a:ln w="12700">
            <a:solidFill>
              <a:srgbClr val="1F6A4D"/>
            </a:solidFill>
            <a:prstDash val="solid"/>
          </a:ln>
        </p:spPr>
      </p:sp>
      <p:sp>
        <p:nvSpPr>
          <p:cNvPr id="23" name="Text 21"/>
          <p:cNvSpPr txBox="1"/>
          <p:nvPr/>
        </p:nvSpPr>
        <p:spPr>
          <a:xfrm>
            <a:off x="2514600"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4" name="Shape 22"/>
          <p:cNvSpPr/>
          <p:nvPr/>
        </p:nvSpPr>
        <p:spPr>
          <a:xfrm>
            <a:off x="3283687" y="2350008"/>
            <a:ext cx="686791" cy="512064"/>
          </a:xfrm>
          <a:prstGeom prst="roundRect">
            <a:avLst>
              <a:gd name="adj" fmla="val 14286"/>
            </a:avLst>
          </a:prstGeom>
          <a:solidFill>
            <a:srgbClr val="1F6A4D"/>
          </a:solidFill>
          <a:ln w="12700">
            <a:solidFill>
              <a:srgbClr val="1F6A4D"/>
            </a:solidFill>
            <a:prstDash val="solid"/>
          </a:ln>
        </p:spPr>
      </p:sp>
      <p:sp>
        <p:nvSpPr>
          <p:cNvPr id="25" name="Text 23"/>
          <p:cNvSpPr txBox="1"/>
          <p:nvPr/>
        </p:nvSpPr>
        <p:spPr>
          <a:xfrm>
            <a:off x="3256255"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6" name="Shape 24"/>
          <p:cNvSpPr/>
          <p:nvPr/>
        </p:nvSpPr>
        <p:spPr>
          <a:xfrm>
            <a:off x="4025341" y="2350008"/>
            <a:ext cx="686791" cy="512064"/>
          </a:xfrm>
          <a:prstGeom prst="roundRect">
            <a:avLst>
              <a:gd name="adj" fmla="val 14286"/>
            </a:avLst>
          </a:prstGeom>
          <a:solidFill>
            <a:srgbClr val="2F9D72"/>
          </a:solidFill>
          <a:ln w="12700">
            <a:solidFill>
              <a:srgbClr val="2F9D72"/>
            </a:solidFill>
            <a:prstDash val="solid"/>
          </a:ln>
        </p:spPr>
      </p:sp>
      <p:sp>
        <p:nvSpPr>
          <p:cNvPr id="27" name="Text 25"/>
          <p:cNvSpPr txBox="1"/>
          <p:nvPr/>
        </p:nvSpPr>
        <p:spPr>
          <a:xfrm>
            <a:off x="3997909"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0.83</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8" name="Shape 26"/>
          <p:cNvSpPr/>
          <p:nvPr/>
        </p:nvSpPr>
        <p:spPr>
          <a:xfrm>
            <a:off x="4766996" y="2350008"/>
            <a:ext cx="686791" cy="512064"/>
          </a:xfrm>
          <a:prstGeom prst="roundRect">
            <a:avLst>
              <a:gd name="adj" fmla="val 14286"/>
            </a:avLst>
          </a:prstGeom>
          <a:solidFill>
            <a:srgbClr val="2F9D72"/>
          </a:solidFill>
          <a:ln w="12700">
            <a:solidFill>
              <a:srgbClr val="2F9D72"/>
            </a:solidFill>
            <a:prstDash val="solid"/>
          </a:ln>
        </p:spPr>
      </p:sp>
      <p:sp>
        <p:nvSpPr>
          <p:cNvPr id="29" name="Text 27"/>
          <p:cNvSpPr txBox="1"/>
          <p:nvPr/>
        </p:nvSpPr>
        <p:spPr>
          <a:xfrm>
            <a:off x="4739564"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0" name="Shape 28"/>
          <p:cNvSpPr/>
          <p:nvPr/>
        </p:nvSpPr>
        <p:spPr>
          <a:xfrm>
            <a:off x="5508650" y="2350008"/>
            <a:ext cx="686791" cy="512064"/>
          </a:xfrm>
          <a:prstGeom prst="roundRect">
            <a:avLst>
              <a:gd name="adj" fmla="val 14286"/>
            </a:avLst>
          </a:prstGeom>
          <a:solidFill>
            <a:srgbClr val="2F9D72"/>
          </a:solidFill>
          <a:ln w="12700">
            <a:solidFill>
              <a:srgbClr val="2F9D72"/>
            </a:solidFill>
            <a:prstDash val="solid"/>
          </a:ln>
        </p:spPr>
      </p:sp>
      <p:sp>
        <p:nvSpPr>
          <p:cNvPr id="31" name="Text 29"/>
          <p:cNvSpPr txBox="1"/>
          <p:nvPr/>
        </p:nvSpPr>
        <p:spPr>
          <a:xfrm>
            <a:off x="5481218"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2" name="Shape 30"/>
          <p:cNvSpPr/>
          <p:nvPr/>
        </p:nvSpPr>
        <p:spPr>
          <a:xfrm>
            <a:off x="6250305" y="2350008"/>
            <a:ext cx="686791" cy="512064"/>
          </a:xfrm>
          <a:prstGeom prst="roundRect">
            <a:avLst>
              <a:gd name="adj" fmla="val 14286"/>
            </a:avLst>
          </a:prstGeom>
          <a:solidFill>
            <a:srgbClr val="2F9D72"/>
          </a:solidFill>
          <a:ln w="12700">
            <a:solidFill>
              <a:srgbClr val="2F9D72"/>
            </a:solidFill>
            <a:prstDash val="solid"/>
          </a:ln>
        </p:spPr>
      </p:sp>
      <p:sp>
        <p:nvSpPr>
          <p:cNvPr id="33" name="Text 31"/>
          <p:cNvSpPr txBox="1"/>
          <p:nvPr/>
        </p:nvSpPr>
        <p:spPr>
          <a:xfrm>
            <a:off x="6222873"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4" name="Shape 32"/>
          <p:cNvSpPr/>
          <p:nvPr/>
        </p:nvSpPr>
        <p:spPr>
          <a:xfrm>
            <a:off x="6991960" y="2350008"/>
            <a:ext cx="686791" cy="512064"/>
          </a:xfrm>
          <a:prstGeom prst="roundRect">
            <a:avLst>
              <a:gd name="adj" fmla="val 14286"/>
            </a:avLst>
          </a:prstGeom>
          <a:solidFill>
            <a:srgbClr val="2F9D72"/>
          </a:solidFill>
          <a:ln w="12700">
            <a:solidFill>
              <a:srgbClr val="2F9D72"/>
            </a:solidFill>
            <a:prstDash val="solid"/>
          </a:ln>
        </p:spPr>
      </p:sp>
      <p:sp>
        <p:nvSpPr>
          <p:cNvPr id="35" name="Text 33"/>
          <p:cNvSpPr txBox="1"/>
          <p:nvPr/>
        </p:nvSpPr>
        <p:spPr>
          <a:xfrm>
            <a:off x="6964528"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0.83</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6" name="Shape 34"/>
          <p:cNvSpPr/>
          <p:nvPr/>
        </p:nvSpPr>
        <p:spPr>
          <a:xfrm>
            <a:off x="7733614" y="2350008"/>
            <a:ext cx="686791" cy="512064"/>
          </a:xfrm>
          <a:prstGeom prst="roundRect">
            <a:avLst>
              <a:gd name="adj" fmla="val 14286"/>
            </a:avLst>
          </a:prstGeom>
          <a:solidFill>
            <a:srgbClr val="2F9D72"/>
          </a:solidFill>
          <a:ln w="12700">
            <a:solidFill>
              <a:srgbClr val="2F9D72"/>
            </a:solidFill>
            <a:prstDash val="solid"/>
          </a:ln>
        </p:spPr>
      </p:sp>
      <p:sp>
        <p:nvSpPr>
          <p:cNvPr id="37" name="Text 35"/>
          <p:cNvSpPr txBox="1"/>
          <p:nvPr/>
        </p:nvSpPr>
        <p:spPr>
          <a:xfrm>
            <a:off x="7706182"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8" name="Shape 36"/>
          <p:cNvSpPr/>
          <p:nvPr/>
        </p:nvSpPr>
        <p:spPr>
          <a:xfrm>
            <a:off x="8475269" y="2350008"/>
            <a:ext cx="686791" cy="512064"/>
          </a:xfrm>
          <a:prstGeom prst="roundRect">
            <a:avLst>
              <a:gd name="adj" fmla="val 14286"/>
            </a:avLst>
          </a:prstGeom>
          <a:solidFill>
            <a:srgbClr val="2F9D72"/>
          </a:solidFill>
          <a:ln w="15875">
            <a:solidFill>
              <a:srgbClr val="F2C14E"/>
            </a:solidFill>
            <a:prstDash val="solid"/>
          </a:ln>
        </p:spPr>
      </p:sp>
      <p:sp>
        <p:nvSpPr>
          <p:cNvPr id="39" name="Text 37"/>
          <p:cNvSpPr txBox="1"/>
          <p:nvPr/>
        </p:nvSpPr>
        <p:spPr>
          <a:xfrm>
            <a:off x="8447837"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TIGHT</a:t>
            </a:r>
            <a:endParaRPr lang="en-US" sz="1100" dirty="0"/>
          </a:p>
        </p:txBody>
      </p:sp>
      <p:sp>
        <p:nvSpPr>
          <p:cNvPr id="40" name="Shape 38"/>
          <p:cNvSpPr/>
          <p:nvPr/>
        </p:nvSpPr>
        <p:spPr>
          <a:xfrm>
            <a:off x="9216923" y="2350008"/>
            <a:ext cx="686791" cy="512064"/>
          </a:xfrm>
          <a:prstGeom prst="roundRect">
            <a:avLst>
              <a:gd name="adj" fmla="val 14286"/>
            </a:avLst>
          </a:prstGeom>
          <a:solidFill>
            <a:srgbClr val="2F9D72"/>
          </a:solidFill>
          <a:ln w="12700">
            <a:solidFill>
              <a:srgbClr val="2F9D72"/>
            </a:solidFill>
            <a:prstDash val="solid"/>
          </a:ln>
        </p:spPr>
      </p:sp>
      <p:sp>
        <p:nvSpPr>
          <p:cNvPr id="41" name="Text 39"/>
          <p:cNvSpPr txBox="1"/>
          <p:nvPr/>
        </p:nvSpPr>
        <p:spPr>
          <a:xfrm>
            <a:off x="9189491"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0.83</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2" name="Shape 40"/>
          <p:cNvSpPr/>
          <p:nvPr/>
        </p:nvSpPr>
        <p:spPr>
          <a:xfrm>
            <a:off x="9958578" y="2350008"/>
            <a:ext cx="686791" cy="512064"/>
          </a:xfrm>
          <a:prstGeom prst="roundRect">
            <a:avLst>
              <a:gd name="adj" fmla="val 14286"/>
            </a:avLst>
          </a:prstGeom>
          <a:solidFill>
            <a:srgbClr val="1F6A4D"/>
          </a:solidFill>
          <a:ln w="12700">
            <a:solidFill>
              <a:srgbClr val="1F6A4D"/>
            </a:solidFill>
            <a:prstDash val="solid"/>
          </a:ln>
        </p:spPr>
      </p:sp>
      <p:sp>
        <p:nvSpPr>
          <p:cNvPr id="43" name="Text 41"/>
          <p:cNvSpPr txBox="1"/>
          <p:nvPr/>
        </p:nvSpPr>
        <p:spPr>
          <a:xfrm>
            <a:off x="9931146"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4" name="Shape 42"/>
          <p:cNvSpPr/>
          <p:nvPr/>
        </p:nvSpPr>
        <p:spPr>
          <a:xfrm>
            <a:off x="10700233" y="2350008"/>
            <a:ext cx="686791" cy="512064"/>
          </a:xfrm>
          <a:prstGeom prst="roundRect">
            <a:avLst>
              <a:gd name="adj" fmla="val 14286"/>
            </a:avLst>
          </a:prstGeom>
          <a:solidFill>
            <a:srgbClr val="1F6A4D"/>
          </a:solidFill>
          <a:ln w="12700">
            <a:solidFill>
              <a:srgbClr val="1F6A4D"/>
            </a:solidFill>
            <a:prstDash val="solid"/>
          </a:ln>
        </p:spPr>
      </p:sp>
      <p:sp>
        <p:nvSpPr>
          <p:cNvPr id="45" name="Text 43"/>
          <p:cNvSpPr txBox="1"/>
          <p:nvPr/>
        </p:nvSpPr>
        <p:spPr>
          <a:xfrm>
            <a:off x="10672801"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6" name="Shape 44"/>
          <p:cNvSpPr/>
          <p:nvPr/>
        </p:nvSpPr>
        <p:spPr>
          <a:xfrm>
            <a:off x="777240" y="3136392"/>
            <a:ext cx="137160" cy="137160"/>
          </a:xfrm>
          <a:prstGeom prst="ellipse">
            <a:avLst/>
          </a:prstGeom>
          <a:solidFill>
            <a:srgbClr val="22A072"/>
          </a:solidFill>
          <a:ln w="12700">
            <a:solidFill>
              <a:srgbClr val="22A072"/>
            </a:solidFill>
            <a:prstDash val="solid"/>
          </a:ln>
        </p:spPr>
      </p:sp>
      <p:sp>
        <p:nvSpPr>
          <p:cNvPr id="47" name="Text 45"/>
          <p:cNvSpPr txBox="1"/>
          <p:nvPr/>
        </p:nvSpPr>
        <p:spPr>
          <a:xfrm>
            <a:off x="1005840" y="2953512"/>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Signal chain</a:t>
            </a:r>
            <a:endParaRPr lang="en-US" sz="1250" dirty="0"/>
          </a:p>
        </p:txBody>
      </p:sp>
      <p:sp>
        <p:nvSpPr>
          <p:cNvPr id="48" name="Shape 46"/>
          <p:cNvSpPr/>
          <p:nvPr/>
        </p:nvSpPr>
        <p:spPr>
          <a:xfrm>
            <a:off x="2542032" y="2953512"/>
            <a:ext cx="686791" cy="512064"/>
          </a:xfrm>
          <a:prstGeom prst="roundRect">
            <a:avLst>
              <a:gd name="adj" fmla="val 14286"/>
            </a:avLst>
          </a:prstGeom>
          <a:solidFill>
            <a:srgbClr val="1F6A4D"/>
          </a:solidFill>
          <a:ln w="12700">
            <a:solidFill>
              <a:srgbClr val="1F6A4D"/>
            </a:solidFill>
            <a:prstDash val="solid"/>
          </a:ln>
        </p:spPr>
      </p:sp>
      <p:sp>
        <p:nvSpPr>
          <p:cNvPr id="49" name="Text 47"/>
          <p:cNvSpPr txBox="1"/>
          <p:nvPr/>
        </p:nvSpPr>
        <p:spPr>
          <a:xfrm>
            <a:off x="2514600"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0.72</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0" name="Shape 48"/>
          <p:cNvSpPr/>
          <p:nvPr/>
        </p:nvSpPr>
        <p:spPr>
          <a:xfrm>
            <a:off x="3283687" y="2953512"/>
            <a:ext cx="686791" cy="512064"/>
          </a:xfrm>
          <a:prstGeom prst="roundRect">
            <a:avLst>
              <a:gd name="adj" fmla="val 14286"/>
            </a:avLst>
          </a:prstGeom>
          <a:solidFill>
            <a:srgbClr val="1F6A4D"/>
          </a:solidFill>
          <a:ln w="12700">
            <a:solidFill>
              <a:srgbClr val="1F6A4D"/>
            </a:solidFill>
            <a:prstDash val="solid"/>
          </a:ln>
        </p:spPr>
      </p:sp>
      <p:sp>
        <p:nvSpPr>
          <p:cNvPr id="51" name="Text 49"/>
          <p:cNvSpPr txBox="1"/>
          <p:nvPr/>
        </p:nvSpPr>
        <p:spPr>
          <a:xfrm>
            <a:off x="3256255"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2" name="Shape 50"/>
          <p:cNvSpPr/>
          <p:nvPr/>
        </p:nvSpPr>
        <p:spPr>
          <a:xfrm>
            <a:off x="4025341" y="2953512"/>
            <a:ext cx="686791" cy="512064"/>
          </a:xfrm>
          <a:prstGeom prst="roundRect">
            <a:avLst>
              <a:gd name="adj" fmla="val 14286"/>
            </a:avLst>
          </a:prstGeom>
          <a:solidFill>
            <a:srgbClr val="1F6A4D"/>
          </a:solidFill>
          <a:ln w="12700">
            <a:solidFill>
              <a:srgbClr val="1F6A4D"/>
            </a:solidFill>
            <a:prstDash val="solid"/>
          </a:ln>
        </p:spPr>
      </p:sp>
      <p:sp>
        <p:nvSpPr>
          <p:cNvPr id="53" name="Text 51"/>
          <p:cNvSpPr txBox="1"/>
          <p:nvPr/>
        </p:nvSpPr>
        <p:spPr>
          <a:xfrm>
            <a:off x="3997909"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4" name="Shape 52"/>
          <p:cNvSpPr/>
          <p:nvPr/>
        </p:nvSpPr>
        <p:spPr>
          <a:xfrm>
            <a:off x="4766996" y="2953512"/>
            <a:ext cx="686791" cy="512064"/>
          </a:xfrm>
          <a:prstGeom prst="roundRect">
            <a:avLst>
              <a:gd name="adj" fmla="val 14286"/>
            </a:avLst>
          </a:prstGeom>
          <a:solidFill>
            <a:srgbClr val="1F6A4D"/>
          </a:solidFill>
          <a:ln w="12700">
            <a:solidFill>
              <a:srgbClr val="1F6A4D"/>
            </a:solidFill>
            <a:prstDash val="solid"/>
          </a:ln>
        </p:spPr>
      </p:sp>
      <p:sp>
        <p:nvSpPr>
          <p:cNvPr id="55" name="Text 53"/>
          <p:cNvSpPr txBox="1"/>
          <p:nvPr/>
        </p:nvSpPr>
        <p:spPr>
          <a:xfrm>
            <a:off x="4739564"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6" name="Shape 54"/>
          <p:cNvSpPr/>
          <p:nvPr/>
        </p:nvSpPr>
        <p:spPr>
          <a:xfrm>
            <a:off x="5508650" y="2953512"/>
            <a:ext cx="686791" cy="512064"/>
          </a:xfrm>
          <a:prstGeom prst="roundRect">
            <a:avLst>
              <a:gd name="adj" fmla="val 14286"/>
            </a:avLst>
          </a:prstGeom>
          <a:solidFill>
            <a:srgbClr val="1F6A4D"/>
          </a:solidFill>
          <a:ln w="12700">
            <a:solidFill>
              <a:srgbClr val="1F6A4D"/>
            </a:solidFill>
            <a:prstDash val="solid"/>
          </a:ln>
        </p:spPr>
      </p:sp>
      <p:sp>
        <p:nvSpPr>
          <p:cNvPr id="57" name="Text 55"/>
          <p:cNvSpPr txBox="1"/>
          <p:nvPr/>
        </p:nvSpPr>
        <p:spPr>
          <a:xfrm>
            <a:off x="5481218"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8" name="Shape 56"/>
          <p:cNvSpPr/>
          <p:nvPr/>
        </p:nvSpPr>
        <p:spPr>
          <a:xfrm>
            <a:off x="6250305" y="2953512"/>
            <a:ext cx="686791" cy="512064"/>
          </a:xfrm>
          <a:prstGeom prst="roundRect">
            <a:avLst>
              <a:gd name="adj" fmla="val 14286"/>
            </a:avLst>
          </a:prstGeom>
          <a:solidFill>
            <a:srgbClr val="1F6A4D"/>
          </a:solidFill>
          <a:ln w="12700">
            <a:solidFill>
              <a:srgbClr val="1F6A4D"/>
            </a:solidFill>
            <a:prstDash val="solid"/>
          </a:ln>
        </p:spPr>
      </p:sp>
      <p:sp>
        <p:nvSpPr>
          <p:cNvPr id="59" name="Text 57"/>
          <p:cNvSpPr txBox="1"/>
          <p:nvPr/>
        </p:nvSpPr>
        <p:spPr>
          <a:xfrm>
            <a:off x="6222873"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0" name="Shape 58"/>
          <p:cNvSpPr/>
          <p:nvPr/>
        </p:nvSpPr>
        <p:spPr>
          <a:xfrm>
            <a:off x="6991960" y="2953512"/>
            <a:ext cx="686791" cy="512064"/>
          </a:xfrm>
          <a:prstGeom prst="roundRect">
            <a:avLst>
              <a:gd name="adj" fmla="val 14286"/>
            </a:avLst>
          </a:prstGeom>
          <a:solidFill>
            <a:srgbClr val="1F6A4D"/>
          </a:solidFill>
          <a:ln w="12700">
            <a:solidFill>
              <a:srgbClr val="1F6A4D"/>
            </a:solidFill>
            <a:prstDash val="solid"/>
          </a:ln>
        </p:spPr>
      </p:sp>
      <p:sp>
        <p:nvSpPr>
          <p:cNvPr id="61" name="Text 59"/>
          <p:cNvSpPr txBox="1"/>
          <p:nvPr/>
        </p:nvSpPr>
        <p:spPr>
          <a:xfrm>
            <a:off x="6964528"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2" name="Shape 60"/>
          <p:cNvSpPr/>
          <p:nvPr/>
        </p:nvSpPr>
        <p:spPr>
          <a:xfrm>
            <a:off x="7733614" y="2953512"/>
            <a:ext cx="686791" cy="512064"/>
          </a:xfrm>
          <a:prstGeom prst="roundRect">
            <a:avLst>
              <a:gd name="adj" fmla="val 14286"/>
            </a:avLst>
          </a:prstGeom>
          <a:solidFill>
            <a:srgbClr val="1F6A4D"/>
          </a:solidFill>
          <a:ln w="12700">
            <a:solidFill>
              <a:srgbClr val="1F6A4D"/>
            </a:solidFill>
            <a:prstDash val="solid"/>
          </a:ln>
        </p:spPr>
      </p:sp>
      <p:sp>
        <p:nvSpPr>
          <p:cNvPr id="63" name="Text 61"/>
          <p:cNvSpPr txBox="1"/>
          <p:nvPr/>
        </p:nvSpPr>
        <p:spPr>
          <a:xfrm>
            <a:off x="7706182"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4" name="Shape 62"/>
          <p:cNvSpPr/>
          <p:nvPr/>
        </p:nvSpPr>
        <p:spPr>
          <a:xfrm>
            <a:off x="8475269" y="2953512"/>
            <a:ext cx="686791" cy="512064"/>
          </a:xfrm>
          <a:prstGeom prst="roundRect">
            <a:avLst>
              <a:gd name="adj" fmla="val 14286"/>
            </a:avLst>
          </a:prstGeom>
          <a:solidFill>
            <a:srgbClr val="2F9D72"/>
          </a:solidFill>
          <a:ln w="12700">
            <a:solidFill>
              <a:srgbClr val="2F9D72"/>
            </a:solidFill>
            <a:prstDash val="solid"/>
          </a:ln>
        </p:spPr>
      </p:sp>
      <p:sp>
        <p:nvSpPr>
          <p:cNvPr id="65" name="Text 63"/>
          <p:cNvSpPr txBox="1"/>
          <p:nvPr/>
        </p:nvSpPr>
        <p:spPr>
          <a:xfrm>
            <a:off x="8447837"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6" name="Shape 64"/>
          <p:cNvSpPr/>
          <p:nvPr/>
        </p:nvSpPr>
        <p:spPr>
          <a:xfrm>
            <a:off x="9216923" y="2953512"/>
            <a:ext cx="686791" cy="512064"/>
          </a:xfrm>
          <a:prstGeom prst="roundRect">
            <a:avLst>
              <a:gd name="adj" fmla="val 14286"/>
            </a:avLst>
          </a:prstGeom>
          <a:solidFill>
            <a:srgbClr val="1F6A4D"/>
          </a:solidFill>
          <a:ln w="12700">
            <a:solidFill>
              <a:srgbClr val="1F6A4D"/>
            </a:solidFill>
            <a:prstDash val="solid"/>
          </a:ln>
        </p:spPr>
      </p:sp>
      <p:sp>
        <p:nvSpPr>
          <p:cNvPr id="67" name="Text 65"/>
          <p:cNvSpPr txBox="1"/>
          <p:nvPr/>
        </p:nvSpPr>
        <p:spPr>
          <a:xfrm>
            <a:off x="9189491"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8" name="Shape 66"/>
          <p:cNvSpPr/>
          <p:nvPr/>
        </p:nvSpPr>
        <p:spPr>
          <a:xfrm>
            <a:off x="9958578" y="2953512"/>
            <a:ext cx="686791" cy="512064"/>
          </a:xfrm>
          <a:prstGeom prst="roundRect">
            <a:avLst>
              <a:gd name="adj" fmla="val 14286"/>
            </a:avLst>
          </a:prstGeom>
          <a:solidFill>
            <a:srgbClr val="1F6A4D"/>
          </a:solidFill>
          <a:ln w="12700">
            <a:solidFill>
              <a:srgbClr val="1F6A4D"/>
            </a:solidFill>
            <a:prstDash val="solid"/>
          </a:ln>
        </p:spPr>
      </p:sp>
      <p:sp>
        <p:nvSpPr>
          <p:cNvPr id="69" name="Text 67"/>
          <p:cNvSpPr txBox="1"/>
          <p:nvPr/>
        </p:nvSpPr>
        <p:spPr>
          <a:xfrm>
            <a:off x="9931146"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0" name="Shape 68"/>
          <p:cNvSpPr/>
          <p:nvPr/>
        </p:nvSpPr>
        <p:spPr>
          <a:xfrm>
            <a:off x="10700233" y="2953512"/>
            <a:ext cx="686791" cy="512064"/>
          </a:xfrm>
          <a:prstGeom prst="roundRect">
            <a:avLst>
              <a:gd name="adj" fmla="val 14286"/>
            </a:avLst>
          </a:prstGeom>
          <a:solidFill>
            <a:srgbClr val="1F6A4D"/>
          </a:solidFill>
          <a:ln w="12700">
            <a:solidFill>
              <a:srgbClr val="1F6A4D"/>
            </a:solidFill>
            <a:prstDash val="solid"/>
          </a:ln>
        </p:spPr>
      </p:sp>
      <p:sp>
        <p:nvSpPr>
          <p:cNvPr id="71" name="Text 69"/>
          <p:cNvSpPr txBox="1"/>
          <p:nvPr/>
        </p:nvSpPr>
        <p:spPr>
          <a:xfrm>
            <a:off x="10672801"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2" name="Shape 70"/>
          <p:cNvSpPr/>
          <p:nvPr/>
        </p:nvSpPr>
        <p:spPr>
          <a:xfrm>
            <a:off x="777240" y="3739896"/>
            <a:ext cx="137160" cy="137160"/>
          </a:xfrm>
          <a:prstGeom prst="ellipse">
            <a:avLst/>
          </a:prstGeom>
          <a:solidFill>
            <a:srgbClr val="B08C19"/>
          </a:solidFill>
          <a:ln w="12700">
            <a:solidFill>
              <a:srgbClr val="B08C19"/>
            </a:solidFill>
            <a:prstDash val="solid"/>
          </a:ln>
        </p:spPr>
      </p:sp>
      <p:sp>
        <p:nvSpPr>
          <p:cNvPr id="73" name="Text 71"/>
          <p:cNvSpPr txBox="1"/>
          <p:nvPr/>
        </p:nvSpPr>
        <p:spPr>
          <a:xfrm>
            <a:off x="1005840" y="3557016"/>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Embedded processors</a:t>
            </a:r>
            <a:endParaRPr lang="en-US" sz="1250" dirty="0"/>
          </a:p>
        </p:txBody>
      </p:sp>
      <p:sp>
        <p:nvSpPr>
          <p:cNvPr id="74" name="Shape 72"/>
          <p:cNvSpPr/>
          <p:nvPr/>
        </p:nvSpPr>
        <p:spPr>
          <a:xfrm>
            <a:off x="2542032" y="3557016"/>
            <a:ext cx="686791" cy="512064"/>
          </a:xfrm>
          <a:prstGeom prst="roundRect">
            <a:avLst>
              <a:gd name="adj" fmla="val 14286"/>
            </a:avLst>
          </a:prstGeom>
          <a:solidFill>
            <a:srgbClr val="17402F"/>
          </a:solidFill>
          <a:ln w="12700">
            <a:solidFill>
              <a:srgbClr val="17402F"/>
            </a:solidFill>
            <a:prstDash val="solid"/>
          </a:ln>
        </p:spPr>
      </p:sp>
      <p:sp>
        <p:nvSpPr>
          <p:cNvPr id="75" name="Text 73"/>
          <p:cNvSpPr txBox="1"/>
          <p:nvPr/>
        </p:nvSpPr>
        <p:spPr>
          <a:xfrm>
            <a:off x="2514600"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0.66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6" name="Shape 74"/>
          <p:cNvSpPr/>
          <p:nvPr/>
        </p:nvSpPr>
        <p:spPr>
          <a:xfrm>
            <a:off x="3283687" y="3557016"/>
            <a:ext cx="686791" cy="512064"/>
          </a:xfrm>
          <a:prstGeom prst="roundRect">
            <a:avLst>
              <a:gd name="adj" fmla="val 14286"/>
            </a:avLst>
          </a:prstGeom>
          <a:solidFill>
            <a:srgbClr val="17402F"/>
          </a:solidFill>
          <a:ln w="12700">
            <a:solidFill>
              <a:srgbClr val="17402F"/>
            </a:solidFill>
            <a:prstDash val="solid"/>
          </a:ln>
        </p:spPr>
      </p:sp>
      <p:sp>
        <p:nvSpPr>
          <p:cNvPr id="77" name="Text 75"/>
          <p:cNvSpPr txBox="1"/>
          <p:nvPr/>
        </p:nvSpPr>
        <p:spPr>
          <a:xfrm>
            <a:off x="3256255"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0.67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8" name="Shape 76"/>
          <p:cNvSpPr/>
          <p:nvPr/>
        </p:nvSpPr>
        <p:spPr>
          <a:xfrm>
            <a:off x="4025341" y="3557016"/>
            <a:ext cx="686791" cy="512064"/>
          </a:xfrm>
          <a:prstGeom prst="roundRect">
            <a:avLst>
              <a:gd name="adj" fmla="val 14286"/>
            </a:avLst>
          </a:prstGeom>
          <a:solidFill>
            <a:srgbClr val="1F6A4D"/>
          </a:solidFill>
          <a:ln w="12700">
            <a:solidFill>
              <a:srgbClr val="1F6A4D"/>
            </a:solidFill>
            <a:prstDash val="solid"/>
          </a:ln>
        </p:spPr>
      </p:sp>
      <p:sp>
        <p:nvSpPr>
          <p:cNvPr id="79" name="Text 77"/>
          <p:cNvSpPr txBox="1"/>
          <p:nvPr/>
        </p:nvSpPr>
        <p:spPr>
          <a:xfrm>
            <a:off x="3997909"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0" name="Shape 78"/>
          <p:cNvSpPr/>
          <p:nvPr/>
        </p:nvSpPr>
        <p:spPr>
          <a:xfrm>
            <a:off x="4766996" y="3557016"/>
            <a:ext cx="686791" cy="512064"/>
          </a:xfrm>
          <a:prstGeom prst="roundRect">
            <a:avLst>
              <a:gd name="adj" fmla="val 14286"/>
            </a:avLst>
          </a:prstGeom>
          <a:solidFill>
            <a:srgbClr val="17402F"/>
          </a:solidFill>
          <a:ln w="12700">
            <a:solidFill>
              <a:srgbClr val="17402F"/>
            </a:solidFill>
            <a:prstDash val="solid"/>
          </a:ln>
        </p:spPr>
      </p:sp>
      <p:sp>
        <p:nvSpPr>
          <p:cNvPr id="81" name="Text 79"/>
          <p:cNvSpPr txBox="1"/>
          <p:nvPr/>
        </p:nvSpPr>
        <p:spPr>
          <a:xfrm>
            <a:off x="4739564"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0.69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2" name="Shape 80"/>
          <p:cNvSpPr/>
          <p:nvPr/>
        </p:nvSpPr>
        <p:spPr>
          <a:xfrm>
            <a:off x="5508650" y="3557016"/>
            <a:ext cx="686791" cy="512064"/>
          </a:xfrm>
          <a:prstGeom prst="roundRect">
            <a:avLst>
              <a:gd name="adj" fmla="val 14286"/>
            </a:avLst>
          </a:prstGeom>
          <a:solidFill>
            <a:srgbClr val="1F6A4D"/>
          </a:solidFill>
          <a:ln w="12700">
            <a:solidFill>
              <a:srgbClr val="1F6A4D"/>
            </a:solidFill>
            <a:prstDash val="solid"/>
          </a:ln>
        </p:spPr>
      </p:sp>
      <p:sp>
        <p:nvSpPr>
          <p:cNvPr id="83" name="Text 81"/>
          <p:cNvSpPr txBox="1"/>
          <p:nvPr/>
        </p:nvSpPr>
        <p:spPr>
          <a:xfrm>
            <a:off x="5481218"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4" name="Shape 82"/>
          <p:cNvSpPr/>
          <p:nvPr/>
        </p:nvSpPr>
        <p:spPr>
          <a:xfrm>
            <a:off x="6250305" y="3557016"/>
            <a:ext cx="686791" cy="512064"/>
          </a:xfrm>
          <a:prstGeom prst="roundRect">
            <a:avLst>
              <a:gd name="adj" fmla="val 14286"/>
            </a:avLst>
          </a:prstGeom>
          <a:solidFill>
            <a:srgbClr val="1F6A4D"/>
          </a:solidFill>
          <a:ln w="12700">
            <a:solidFill>
              <a:srgbClr val="1F6A4D"/>
            </a:solidFill>
            <a:prstDash val="solid"/>
          </a:ln>
        </p:spPr>
      </p:sp>
      <p:sp>
        <p:nvSpPr>
          <p:cNvPr id="85" name="Text 83"/>
          <p:cNvSpPr txBox="1"/>
          <p:nvPr/>
        </p:nvSpPr>
        <p:spPr>
          <a:xfrm>
            <a:off x="6222873"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0.72</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6" name="Shape 84"/>
          <p:cNvSpPr/>
          <p:nvPr/>
        </p:nvSpPr>
        <p:spPr>
          <a:xfrm>
            <a:off x="6991960" y="3557016"/>
            <a:ext cx="686791" cy="512064"/>
          </a:xfrm>
          <a:prstGeom prst="roundRect">
            <a:avLst>
              <a:gd name="adj" fmla="val 14286"/>
            </a:avLst>
          </a:prstGeom>
          <a:solidFill>
            <a:srgbClr val="1F6A4D"/>
          </a:solidFill>
          <a:ln w="12700">
            <a:solidFill>
              <a:srgbClr val="1F6A4D"/>
            </a:solidFill>
            <a:prstDash val="solid"/>
          </a:ln>
        </p:spPr>
      </p:sp>
      <p:sp>
        <p:nvSpPr>
          <p:cNvPr id="87" name="Text 85"/>
          <p:cNvSpPr txBox="1"/>
          <p:nvPr/>
        </p:nvSpPr>
        <p:spPr>
          <a:xfrm>
            <a:off x="6964528"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8" name="Shape 86"/>
          <p:cNvSpPr/>
          <p:nvPr/>
        </p:nvSpPr>
        <p:spPr>
          <a:xfrm>
            <a:off x="7733614" y="3557016"/>
            <a:ext cx="686791" cy="512064"/>
          </a:xfrm>
          <a:prstGeom prst="roundRect">
            <a:avLst>
              <a:gd name="adj" fmla="val 14286"/>
            </a:avLst>
          </a:prstGeom>
          <a:solidFill>
            <a:srgbClr val="1F6A4D"/>
          </a:solidFill>
          <a:ln w="12700">
            <a:solidFill>
              <a:srgbClr val="1F6A4D"/>
            </a:solidFill>
            <a:prstDash val="solid"/>
          </a:ln>
        </p:spPr>
      </p:sp>
      <p:sp>
        <p:nvSpPr>
          <p:cNvPr id="89" name="Text 87"/>
          <p:cNvSpPr txBox="1"/>
          <p:nvPr/>
        </p:nvSpPr>
        <p:spPr>
          <a:xfrm>
            <a:off x="7706182"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0.72</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0" name="Shape 88"/>
          <p:cNvSpPr/>
          <p:nvPr/>
        </p:nvSpPr>
        <p:spPr>
          <a:xfrm>
            <a:off x="8475269" y="3557016"/>
            <a:ext cx="686791" cy="512064"/>
          </a:xfrm>
          <a:prstGeom prst="roundRect">
            <a:avLst>
              <a:gd name="adj" fmla="val 14286"/>
            </a:avLst>
          </a:prstGeom>
          <a:solidFill>
            <a:srgbClr val="1F6A4D"/>
          </a:solidFill>
          <a:ln w="12700">
            <a:solidFill>
              <a:srgbClr val="1F6A4D"/>
            </a:solidFill>
            <a:prstDash val="solid"/>
          </a:ln>
        </p:spPr>
      </p:sp>
      <p:sp>
        <p:nvSpPr>
          <p:cNvPr id="91" name="Text 89"/>
          <p:cNvSpPr txBox="1"/>
          <p:nvPr/>
        </p:nvSpPr>
        <p:spPr>
          <a:xfrm>
            <a:off x="8447837"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2" name="Shape 90"/>
          <p:cNvSpPr/>
          <p:nvPr/>
        </p:nvSpPr>
        <p:spPr>
          <a:xfrm>
            <a:off x="9216923" y="3557016"/>
            <a:ext cx="686791" cy="512064"/>
          </a:xfrm>
          <a:prstGeom prst="roundRect">
            <a:avLst>
              <a:gd name="adj" fmla="val 14286"/>
            </a:avLst>
          </a:prstGeom>
          <a:solidFill>
            <a:srgbClr val="1F6A4D"/>
          </a:solidFill>
          <a:ln w="12700">
            <a:solidFill>
              <a:srgbClr val="1F6A4D"/>
            </a:solidFill>
            <a:prstDash val="solid"/>
          </a:ln>
        </p:spPr>
      </p:sp>
      <p:sp>
        <p:nvSpPr>
          <p:cNvPr id="93" name="Text 91"/>
          <p:cNvSpPr txBox="1"/>
          <p:nvPr/>
        </p:nvSpPr>
        <p:spPr>
          <a:xfrm>
            <a:off x="9189491"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4" name="Shape 92"/>
          <p:cNvSpPr/>
          <p:nvPr/>
        </p:nvSpPr>
        <p:spPr>
          <a:xfrm>
            <a:off x="9958578" y="3557016"/>
            <a:ext cx="686791" cy="512064"/>
          </a:xfrm>
          <a:prstGeom prst="roundRect">
            <a:avLst>
              <a:gd name="adj" fmla="val 14286"/>
            </a:avLst>
          </a:prstGeom>
          <a:solidFill>
            <a:srgbClr val="17402F"/>
          </a:solidFill>
          <a:ln w="12700">
            <a:solidFill>
              <a:srgbClr val="17402F"/>
            </a:solidFill>
            <a:prstDash val="solid"/>
          </a:ln>
        </p:spPr>
      </p:sp>
      <p:sp>
        <p:nvSpPr>
          <p:cNvPr id="95" name="Text 93"/>
          <p:cNvSpPr txBox="1"/>
          <p:nvPr/>
        </p:nvSpPr>
        <p:spPr>
          <a:xfrm>
            <a:off x="9931146"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0.69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6" name="Shape 94"/>
          <p:cNvSpPr/>
          <p:nvPr/>
        </p:nvSpPr>
        <p:spPr>
          <a:xfrm>
            <a:off x="10700233" y="3557016"/>
            <a:ext cx="686791" cy="512064"/>
          </a:xfrm>
          <a:prstGeom prst="roundRect">
            <a:avLst>
              <a:gd name="adj" fmla="val 14286"/>
            </a:avLst>
          </a:prstGeom>
          <a:solidFill>
            <a:srgbClr val="17402F"/>
          </a:solidFill>
          <a:ln w="12700">
            <a:solidFill>
              <a:srgbClr val="17402F"/>
            </a:solidFill>
            <a:prstDash val="solid"/>
          </a:ln>
        </p:spPr>
      </p:sp>
      <p:sp>
        <p:nvSpPr>
          <p:cNvPr id="97" name="Text 95"/>
          <p:cNvSpPr txBox="1"/>
          <p:nvPr/>
        </p:nvSpPr>
        <p:spPr>
          <a:xfrm>
            <a:off x="10672801"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0.67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8" name="Shape 96"/>
          <p:cNvSpPr/>
          <p:nvPr/>
        </p:nvSpPr>
        <p:spPr>
          <a:xfrm>
            <a:off x="548640" y="4434840"/>
            <a:ext cx="2567864" cy="1691640"/>
          </a:xfrm>
          <a:prstGeom prst="roundRect">
            <a:avLst>
              <a:gd name="adj" fmla="val 8649"/>
            </a:avLst>
          </a:prstGeom>
          <a:solidFill>
            <a:srgbClr val="121A17"/>
          </a:solidFill>
          <a:ln w="9525">
            <a:solidFill>
              <a:srgbClr val="26332E"/>
            </a:solidFill>
            <a:prstDash val="solid"/>
          </a:ln>
        </p:spPr>
      </p:sp>
      <p:sp>
        <p:nvSpPr>
          <p:cNvPr id="99" name="Text 97"/>
          <p:cNvSpPr txBox="1"/>
          <p:nvPr/>
        </p:nvSpPr>
        <p:spPr>
          <a:xfrm>
            <a:off x="777240"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Embedded yield, YTD</a:t>
            </a:r>
            <a:endParaRPr lang="en-US" sz="1200" dirty="0"/>
          </a:p>
        </p:txBody>
      </p:sp>
      <p:sp>
        <p:nvSpPr>
          <p:cNvPr id="100" name="Text 98"/>
          <p:cNvSpPr txBox="1"/>
          <p:nvPr/>
        </p:nvSpPr>
        <p:spPr>
          <a:xfrm>
            <a:off x="777240" y="4892040"/>
            <a:ext cx="2110664" cy="640080"/>
          </a:xfrm>
          <a:prstGeom prst="rect">
            <a:avLst/>
          </a:prstGeom>
          <a:noFill/>
          <a:ln/>
        </p:spPr>
        <p:txBody>
          <a:bodyPr wrap="square" lIns="0" tIns="0" rIns="0" bIns="0" rtlCol="0" anchor="ctr"/>
          <a:lstStyle/>
          <a:p>
            <a:pPr indent="0" marL="0">
              <a:buNone/>
            </a:pPr>
            <a:r>
              <a:rPr lang="en-US" sz="3400" b="1" dirty="0">
                <a:solidFill>
                  <a:srgbClr val="F07B6C"/>
                </a:solidFill>
                <a:latin typeface="Calibri" pitchFamily="34" charset="0"/>
                <a:ea typeface="Calibri" pitchFamily="34" charset="-122"/>
                <a:cs typeface="Calibri" pitchFamily="34" charset="-120"/>
              </a:rPr>
              <a:t>86.0%</a:t>
            </a:r>
            <a:endParaRPr lang="en-US" sz="3400" dirty="0"/>
          </a:p>
        </p:txBody>
      </p:sp>
      <p:sp>
        <p:nvSpPr>
          <p:cNvPr id="101" name="Text 99"/>
          <p:cNvSpPr txBox="1"/>
          <p:nvPr/>
        </p:nvSpPr>
        <p:spPr>
          <a:xfrm>
            <a:off x="777240"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88.0%</a:t>
            </a:r>
            <a:endParaRPr lang="en-US" sz="1150" dirty="0"/>
          </a:p>
        </p:txBody>
      </p:sp>
      <p:sp>
        <p:nvSpPr>
          <p:cNvPr id="102" name="Shape 100"/>
          <p:cNvSpPr/>
          <p:nvPr/>
        </p:nvSpPr>
        <p:spPr>
          <a:xfrm>
            <a:off x="3390824" y="4434840"/>
            <a:ext cx="2567864" cy="1691640"/>
          </a:xfrm>
          <a:prstGeom prst="roundRect">
            <a:avLst>
              <a:gd name="adj" fmla="val 8649"/>
            </a:avLst>
          </a:prstGeom>
          <a:solidFill>
            <a:srgbClr val="121A17"/>
          </a:solidFill>
          <a:ln w="9525">
            <a:solidFill>
              <a:srgbClr val="26332E"/>
            </a:solidFill>
            <a:prstDash val="solid"/>
          </a:ln>
        </p:spPr>
      </p:sp>
      <p:sp>
        <p:nvSpPr>
          <p:cNvPr id="103" name="Text 101"/>
          <p:cNvSpPr txBox="1"/>
          <p:nvPr/>
        </p:nvSpPr>
        <p:spPr>
          <a:xfrm>
            <a:off x="3619424"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Power tester utilization, YTD</a:t>
            </a:r>
            <a:endParaRPr lang="en-US" sz="1200" dirty="0"/>
          </a:p>
        </p:txBody>
      </p:sp>
      <p:sp>
        <p:nvSpPr>
          <p:cNvPr id="104" name="Text 102"/>
          <p:cNvSpPr txBox="1"/>
          <p:nvPr/>
        </p:nvSpPr>
        <p:spPr>
          <a:xfrm>
            <a:off x="3619424" y="4892040"/>
            <a:ext cx="2110664" cy="640080"/>
          </a:xfrm>
          <a:prstGeom prst="rect">
            <a:avLst/>
          </a:prstGeom>
          <a:noFill/>
          <a:ln/>
        </p:spPr>
        <p:txBody>
          <a:bodyPr wrap="square" lIns="0" tIns="0" rIns="0" bIns="0" rtlCol="0" anchor="ctr"/>
          <a:lstStyle/>
          <a:p>
            <a:pPr indent="0" marL="0">
              <a:buNone/>
            </a:pPr>
            <a:r>
              <a:rPr lang="en-US" sz="3400" b="1" dirty="0">
                <a:solidFill>
                  <a:srgbClr val="F2C14E"/>
                </a:solidFill>
                <a:latin typeface="Calibri" pitchFamily="34" charset="0"/>
                <a:ea typeface="Calibri" pitchFamily="34" charset="-122"/>
                <a:cs typeface="Calibri" pitchFamily="34" charset="-120"/>
              </a:rPr>
              <a:t>84%</a:t>
            </a:r>
            <a:endParaRPr lang="en-US" sz="3400" dirty="0"/>
          </a:p>
        </p:txBody>
      </p:sp>
      <p:sp>
        <p:nvSpPr>
          <p:cNvPr id="105" name="Text 103"/>
          <p:cNvSpPr txBox="1"/>
          <p:nvPr/>
        </p:nvSpPr>
        <p:spPr>
          <a:xfrm>
            <a:off x="3619424"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78% · limited headroom</a:t>
            </a:r>
            <a:endParaRPr lang="en-US" sz="1150" dirty="0"/>
          </a:p>
        </p:txBody>
      </p:sp>
      <p:sp>
        <p:nvSpPr>
          <p:cNvPr id="106" name="Shape 104"/>
          <p:cNvSpPr/>
          <p:nvPr/>
        </p:nvSpPr>
        <p:spPr>
          <a:xfrm>
            <a:off x="6233008" y="4434840"/>
            <a:ext cx="2567864" cy="1691640"/>
          </a:xfrm>
          <a:prstGeom prst="roundRect">
            <a:avLst>
              <a:gd name="adj" fmla="val 8649"/>
            </a:avLst>
          </a:prstGeom>
          <a:solidFill>
            <a:srgbClr val="121A17"/>
          </a:solidFill>
          <a:ln w="9525">
            <a:solidFill>
              <a:srgbClr val="26332E"/>
            </a:solidFill>
            <a:prstDash val="solid"/>
          </a:ln>
        </p:spPr>
      </p:sp>
      <p:sp>
        <p:nvSpPr>
          <p:cNvPr id="107" name="Text 105"/>
          <p:cNvSpPr txBox="1"/>
          <p:nvPr/>
        </p:nvSpPr>
        <p:spPr>
          <a:xfrm>
            <a:off x="6461608"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Embedded cost per good unit, YTD</a:t>
            </a:r>
            <a:endParaRPr lang="en-US" sz="1200" dirty="0"/>
          </a:p>
        </p:txBody>
      </p:sp>
      <p:sp>
        <p:nvSpPr>
          <p:cNvPr id="108" name="Text 106"/>
          <p:cNvSpPr txBox="1"/>
          <p:nvPr/>
        </p:nvSpPr>
        <p:spPr>
          <a:xfrm>
            <a:off x="6461608" y="489204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$1.75</a:t>
            </a:r>
            <a:endParaRPr lang="en-US" sz="3400" dirty="0"/>
          </a:p>
        </p:txBody>
      </p:sp>
      <p:sp>
        <p:nvSpPr>
          <p:cNvPr id="109" name="Text 107"/>
          <p:cNvSpPr txBox="1"/>
          <p:nvPr/>
        </p:nvSpPr>
        <p:spPr>
          <a:xfrm>
            <a:off x="6461608"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$1.63 · yield loss adds cost</a:t>
            </a:r>
            <a:endParaRPr lang="en-US" sz="1150" dirty="0"/>
          </a:p>
        </p:txBody>
      </p:sp>
      <p:sp>
        <p:nvSpPr>
          <p:cNvPr id="110" name="Shape 108"/>
          <p:cNvSpPr/>
          <p:nvPr/>
        </p:nvSpPr>
        <p:spPr>
          <a:xfrm>
            <a:off x="9075191" y="4434840"/>
            <a:ext cx="2567864" cy="1691640"/>
          </a:xfrm>
          <a:prstGeom prst="roundRect">
            <a:avLst>
              <a:gd name="adj" fmla="val 8649"/>
            </a:avLst>
          </a:prstGeom>
          <a:solidFill>
            <a:srgbClr val="121A17"/>
          </a:solidFill>
          <a:ln w="9525">
            <a:solidFill>
              <a:srgbClr val="26332E"/>
            </a:solidFill>
            <a:prstDash val="solid"/>
          </a:ln>
        </p:spPr>
      </p:sp>
      <p:sp>
        <p:nvSpPr>
          <p:cNvPr id="111" name="Text 109"/>
          <p:cNvSpPr txBox="1"/>
          <p:nvPr/>
        </p:nvSpPr>
        <p:spPr>
          <a:xfrm>
            <a:off x="9303791"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Embedded utilization, YTD</a:t>
            </a:r>
            <a:endParaRPr lang="en-US" sz="1200" dirty="0"/>
          </a:p>
        </p:txBody>
      </p:sp>
      <p:sp>
        <p:nvSpPr>
          <p:cNvPr id="112" name="Text 110"/>
          <p:cNvSpPr txBox="1"/>
          <p:nvPr/>
        </p:nvSpPr>
        <p:spPr>
          <a:xfrm>
            <a:off x="9303791" y="489204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72%</a:t>
            </a:r>
            <a:endParaRPr lang="en-US" sz="3400" dirty="0"/>
          </a:p>
        </p:txBody>
      </p:sp>
      <p:sp>
        <p:nvSpPr>
          <p:cNvPr id="113" name="Text 111"/>
          <p:cNvSpPr txBox="1"/>
          <p:nvPr/>
        </p:nvSpPr>
        <p:spPr>
          <a:xfrm>
            <a:off x="9303791"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cut to avoid building inventory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SCENARIO PLANNING · ONE MODEL, THREE CASES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Operating profit ranges from $314.5m to $531.7m</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00200"/>
            <a:ext cx="694944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658368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7772400" y="1600200"/>
            <a:ext cx="3870655" cy="4526280"/>
          </a:xfrm>
          <a:prstGeom prst="roundRect">
            <a:avLst>
              <a:gd name="adj" fmla="val 3780"/>
            </a:avLst>
          </a:prstGeom>
          <a:solidFill>
            <a:srgbClr val="121A17"/>
          </a:solidFill>
          <a:ln w="9525">
            <a:solidFill>
              <a:srgbClr val="26332E"/>
            </a:solidFill>
            <a:prstDash val="solid"/>
          </a:ln>
        </p:spPr>
      </p:sp>
      <p:sp>
        <p:nvSpPr>
          <p:cNvPr id="9" name="Text 6"/>
          <p:cNvSpPr txBox="1"/>
          <p:nvPr/>
        </p:nvSpPr>
        <p:spPr>
          <a:xfrm>
            <a:off x="8001000" y="1764792"/>
            <a:ext cx="341345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Key drivers vs FY2025 base year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955280" y="2103120"/>
          <a:ext cx="3504895" cy="914400"/>
        </p:xfrm>
        <a:graphic>
          <a:graphicData uri="http://schemas.openxmlformats.org/drawingml/2006/table">
            <a:tbl>
              <a:tblPr/>
              <a:tblGrid>
                <a:gridCol w="898855"/>
                <a:gridCol w="868680"/>
                <a:gridCol w="868680"/>
                <a:gridCol w="868680"/>
              </a:tblGrid>
              <a:tr h="365760">
                <a:tc>
                  <a:txBody>
                    <a:bodyPr/>
                    <a:lstStyle/>
                    <a:p>
                      <a:pPr algn="l" indent="0" marL="0">
                        <a:buNone/>
                      </a:pPr>
                      <a:r>
                        <a:rPr lang="en-US" sz="1150" b="1" dirty="0">
                          <a:solidFill>
                            <a:srgbClr val="7C8F86"/>
                          </a:solidFill>
                          <a:latin typeface="Calibri" pitchFamily="34" charset="0"/>
                          <a:ea typeface="Calibri" pitchFamily="34" charset="-122"/>
                          <a:cs typeface="Calibri" pitchFamily="34" charset="-120"/>
                        </a:rPr>
                        <a:t>Driver</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F07B6C"/>
                          </a:solidFill>
                          <a:latin typeface="Calibri" pitchFamily="34" charset="0"/>
                          <a:ea typeface="Calibri" pitchFamily="34" charset="-122"/>
                          <a:cs typeface="Calibri" pitchFamily="34" charset="-120"/>
                        </a:rPr>
                        <a:t>Downside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9FB3AA"/>
                          </a:solidFill>
                          <a:latin typeface="Calibri" pitchFamily="34" charset="0"/>
                          <a:ea typeface="Calibri" pitchFamily="34" charset="-122"/>
                          <a:cs typeface="Calibri" pitchFamily="34" charset="-120"/>
                        </a:rPr>
                        <a:t>Base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CDF56E"/>
                          </a:solidFill>
                          <a:latin typeface="Calibri" pitchFamily="34" charset="0"/>
                          <a:ea typeface="Calibri" pitchFamily="34" charset="-122"/>
                          <a:cs typeface="Calibri" pitchFamily="34" charset="-120"/>
                        </a:rPr>
                        <a:t>Upside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Demand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+24.0%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Selling price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Yield change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+0.0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Utilization</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68%</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86%</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Material inflation</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R&amp;D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SG&amp;A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Capex % revenue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Tax rate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CAPITAL ALLOCATION · HYPOTHETICAL POWER-MANAGEMENT FINAL-TEST EXPANSION CELL</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Test cell passes every hurdle in Base and Upside, not Downside</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600200"/>
            <a:ext cx="5760720" cy="4526280"/>
          </a:xfrm>
          <a:prstGeom prst="roundRect">
            <a:avLst>
              <a:gd name="adj" fmla="val 3232"/>
            </a:avLst>
          </a:prstGeom>
          <a:solidFill>
            <a:srgbClr val="121A17"/>
          </a:solidFill>
          <a:ln w="9525">
            <a:solidFill>
              <a:srgbClr val="26332E"/>
            </a:solidFill>
            <a:prstDash val="solid"/>
          </a:ln>
        </p:spPr>
      </p:sp>
      <p:sp>
        <p:nvSpPr>
          <p:cNvPr id="7" name="Text 5"/>
          <p:cNvSpPr txBox="1"/>
          <p:nvPr/>
        </p:nvSpPr>
        <p:spPr>
          <a:xfrm>
            <a:off x="777240" y="1764792"/>
            <a:ext cx="5303520"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$22.0m equipment + $2.5m install · +6.00m units/month · +1 pts yield · 6-year life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2286000"/>
          <a:ext cx="5394960" cy="914400"/>
        </p:xfrm>
        <a:graphic>
          <a:graphicData uri="http://schemas.openxmlformats.org/drawingml/2006/table">
            <a:tbl>
              <a:tblPr/>
              <a:tblGrid>
                <a:gridCol w="1828800"/>
                <a:gridCol w="1188720"/>
                <a:gridCol w="1188720"/>
                <a:gridCol w="1188720"/>
              </a:tblGrid>
              <a:tr h="429768">
                <a:tc>
                  <a:txBody>
                    <a:bodyPr/>
                    <a:lstStyle/>
                    <a:p>
                      <a:pPr indent="0" marL="0">
                        <a:buNone/>
                      </a:pPr>
                      <a:r>
                        <a:rPr lang="en-US" sz="1200" b="1" dirty="0">
                          <a:solidFill>
                            <a:srgbClr val="7C8F86"/>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07B6C"/>
                          </a:solidFill>
                          <a:latin typeface="Calibri" pitchFamily="34" charset="0"/>
                          <a:ea typeface="Calibri" pitchFamily="34" charset="-122"/>
                          <a:cs typeface="Calibri" pitchFamily="34" charset="-120"/>
                        </a:rPr>
                        <a:t>Downside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9FB3AA"/>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CDF56E"/>
                          </a:solidFill>
                          <a:latin typeface="Calibri" pitchFamily="34" charset="0"/>
                          <a:ea typeface="Calibri" pitchFamily="34" charset="-122"/>
                          <a:cs typeface="Calibri" pitchFamily="34" charset="-120"/>
                        </a:rPr>
                        <a:t>Upside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NPV at 9%</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−$15.9m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$60.4m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$100.4m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NPV &gt; 0</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IRR</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104.8%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IRR ≥ 11% hurdle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Payback</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2.42 yrs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1.04 yrs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Payback ≤ 4 years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Meets all criteria</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bl>
          </a:graphicData>
        </a:graphic>
      </p:graphicFrame>
      <p:sp>
        <p:nvSpPr>
          <p:cNvPr id="9" name="Shape 6"/>
          <p:cNvSpPr/>
          <p:nvPr/>
        </p:nvSpPr>
        <p:spPr>
          <a:xfrm>
            <a:off x="6583680" y="1600200"/>
            <a:ext cx="5059375" cy="4526280"/>
          </a:xfrm>
          <a:prstGeom prst="roundRect">
            <a:avLst>
              <a:gd name="adj" fmla="val 3232"/>
            </a:avLst>
          </a:prstGeom>
          <a:solidFill>
            <a:srgbClr val="121A17"/>
          </a:solidFill>
          <a:ln w="9525">
            <a:solidFill>
              <a:srgbClr val="26332E"/>
            </a:solidFill>
            <a:prstDash val="solid"/>
          </a:ln>
        </p:spPr>
      </p:sp>
      <p:graphicFrame>
        <p:nvGraphicFramePr>
          <p:cNvPr id="10" name="Chart 0" descr=""/>
          <p:cNvGraphicFramePr/>
          <p:nvPr/>
        </p:nvGraphicFramePr>
        <p:xfrm>
          <a:off x="6766560" y="1737360"/>
          <a:ext cx="4693615" cy="42519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200" b="1" spc="300" kern="0" dirty="0">
                <a:solidFill>
                  <a:srgbClr val="43C99A"/>
                </a:solidFill>
                <a:latin typeface="Calibri" pitchFamily="34" charset="0"/>
                <a:ea typeface="Calibri" pitchFamily="34" charset="-122"/>
                <a:cs typeface="Calibri" pitchFamily="34" charset="-120"/>
              </a:rPr>
              <a:t>RECOMMENDATION</a:t>
            </a:r>
            <a:endParaRPr lang="en-US" sz="1200" dirty="0"/>
          </a:p>
        </p:txBody>
      </p:sp>
      <p:sp>
        <p:nvSpPr>
          <p:cNvPr id="3" name="Text 1"/>
          <p:cNvSpPr txBox="1"/>
          <p:nvPr/>
        </p:nvSpPr>
        <p:spPr>
          <a:xfrm>
            <a:off x="548640" y="822960"/>
            <a:ext cx="10789920" cy="91440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Approve the power test cell, released on a demand checkpoint</a:t>
            </a:r>
            <a:endParaRPr lang="en-US" sz="3400" dirty="0"/>
          </a:p>
        </p:txBody>
      </p:sp>
      <p:sp>
        <p:nvSpPr>
          <p:cNvPr id="4" name="Shape 2"/>
          <p:cNvSpPr/>
          <p:nvPr/>
        </p:nvSpPr>
        <p:spPr>
          <a:xfrm>
            <a:off x="548640" y="1965960"/>
            <a:ext cx="11094415" cy="1234440"/>
          </a:xfrm>
          <a:prstGeom prst="roundRect">
            <a:avLst>
              <a:gd name="adj" fmla="val 11852"/>
            </a:avLst>
          </a:prstGeom>
          <a:solidFill>
            <a:srgbClr val="1F7A5A"/>
          </a:solidFill>
          <a:ln w="9525">
            <a:solidFill>
              <a:srgbClr val="26332E"/>
            </a:solidFill>
            <a:prstDash val="solid"/>
          </a:ln>
        </p:spPr>
      </p:sp>
      <p:sp>
        <p:nvSpPr>
          <p:cNvPr id="5" name="Text 3"/>
          <p:cNvSpPr txBox="1"/>
          <p:nvPr/>
        </p:nvSpPr>
        <p:spPr>
          <a:xfrm>
            <a:off x="868680" y="2011680"/>
            <a:ext cx="10454335" cy="11430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Release the purchase order once trailing Power demand exceeds 71.48m good units a month (95% of current good-unit capacity at max utilization).</a:t>
            </a:r>
            <a:endParaRPr lang="en-US" sz="1800" dirty="0"/>
          </a:p>
        </p:txBody>
      </p:sp>
      <p:sp>
        <p:nvSpPr>
          <p:cNvPr id="6" name="Shape 4"/>
          <p:cNvSpPr/>
          <p:nvPr/>
        </p:nvSpPr>
        <p:spPr>
          <a:xfrm>
            <a:off x="548640" y="3474720"/>
            <a:ext cx="5410048" cy="1051560"/>
          </a:xfrm>
          <a:prstGeom prst="roundRect">
            <a:avLst>
              <a:gd name="adj" fmla="val 13913"/>
            </a:avLst>
          </a:prstGeom>
          <a:solidFill>
            <a:srgbClr val="121A17"/>
          </a:solidFill>
          <a:ln w="9525">
            <a:solidFill>
              <a:srgbClr val="26332E"/>
            </a:solidFill>
            <a:prstDash val="solid"/>
          </a:ln>
        </p:spPr>
      </p:sp>
      <p:sp>
        <p:nvSpPr>
          <p:cNvPr id="7" name="Shape 5"/>
          <p:cNvSpPr/>
          <p:nvPr/>
        </p:nvSpPr>
        <p:spPr>
          <a:xfrm>
            <a:off x="804672" y="3749040"/>
            <a:ext cx="164592" cy="164592"/>
          </a:xfrm>
          <a:prstGeom prst="ellipse">
            <a:avLst/>
          </a:prstGeom>
          <a:solidFill>
            <a:srgbClr val="CDF56E"/>
          </a:solidFill>
          <a:ln w="12700">
            <a:solidFill>
              <a:srgbClr val="CDF56E"/>
            </a:solidFill>
            <a:prstDash val="solid"/>
          </a:ln>
        </p:spPr>
      </p:sp>
      <p:sp>
        <p:nvSpPr>
          <p:cNvPr id="8" name="Text 6"/>
          <p:cNvSpPr txBox="1"/>
          <p:nvPr/>
        </p:nvSpPr>
        <p:spPr>
          <a:xfrm>
            <a:off x="1143000" y="362102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Track Embedded yield monthly</a:t>
            </a:r>
            <a:endParaRPr lang="en-US" sz="1500" dirty="0"/>
          </a:p>
        </p:txBody>
      </p:sp>
      <p:sp>
        <p:nvSpPr>
          <p:cNvPr id="9" name="Text 7"/>
          <p:cNvSpPr txBox="1"/>
          <p:nvPr/>
        </p:nvSpPr>
        <p:spPr>
          <a:xfrm>
            <a:off x="1143000" y="397764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Recover from 86.0% toward the 88.0% plan; every point of yield lowers cost per good unit.</a:t>
            </a:r>
            <a:endParaRPr lang="en-US" sz="1200" dirty="0"/>
          </a:p>
        </p:txBody>
      </p:sp>
      <p:sp>
        <p:nvSpPr>
          <p:cNvPr id="10" name="Shape 8"/>
          <p:cNvSpPr/>
          <p:nvPr/>
        </p:nvSpPr>
        <p:spPr>
          <a:xfrm>
            <a:off x="6233008" y="3474720"/>
            <a:ext cx="5410048" cy="1051560"/>
          </a:xfrm>
          <a:prstGeom prst="roundRect">
            <a:avLst>
              <a:gd name="adj" fmla="val 13913"/>
            </a:avLst>
          </a:prstGeom>
          <a:solidFill>
            <a:srgbClr val="121A17"/>
          </a:solidFill>
          <a:ln w="9525">
            <a:solidFill>
              <a:srgbClr val="26332E"/>
            </a:solidFill>
            <a:prstDash val="solid"/>
          </a:ln>
        </p:spPr>
      </p:sp>
      <p:sp>
        <p:nvSpPr>
          <p:cNvPr id="11" name="Shape 9"/>
          <p:cNvSpPr/>
          <p:nvPr/>
        </p:nvSpPr>
        <p:spPr>
          <a:xfrm>
            <a:off x="6489040" y="3749040"/>
            <a:ext cx="164592" cy="164592"/>
          </a:xfrm>
          <a:prstGeom prst="ellipse">
            <a:avLst/>
          </a:prstGeom>
          <a:solidFill>
            <a:srgbClr val="CDF56E"/>
          </a:solidFill>
          <a:ln w="12700">
            <a:solidFill>
              <a:srgbClr val="CDF56E"/>
            </a:solidFill>
            <a:prstDash val="solid"/>
          </a:ln>
        </p:spPr>
      </p:sp>
      <p:sp>
        <p:nvSpPr>
          <p:cNvPr id="12" name="Text 10"/>
          <p:cNvSpPr txBox="1"/>
          <p:nvPr/>
        </p:nvSpPr>
        <p:spPr>
          <a:xfrm>
            <a:off x="6827368" y="362102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Re-forecast at the Q2 close</a:t>
            </a:r>
            <a:endParaRPr lang="en-US" sz="1500" dirty="0"/>
          </a:p>
        </p:txBody>
      </p:sp>
      <p:sp>
        <p:nvSpPr>
          <p:cNvPr id="13" name="Text 11"/>
          <p:cNvSpPr txBox="1"/>
          <p:nvPr/>
        </p:nvSpPr>
        <p:spPr>
          <a:xfrm>
            <a:off x="6827368" y="397764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Load June actuals and re-run all three scenarios before the next capital review.</a:t>
            </a:r>
            <a:endParaRPr lang="en-US" sz="1200" dirty="0"/>
          </a:p>
        </p:txBody>
      </p:sp>
      <p:sp>
        <p:nvSpPr>
          <p:cNvPr id="14" name="Shape 12"/>
          <p:cNvSpPr/>
          <p:nvPr/>
        </p:nvSpPr>
        <p:spPr>
          <a:xfrm>
            <a:off x="548640" y="4709160"/>
            <a:ext cx="5410048" cy="1051560"/>
          </a:xfrm>
          <a:prstGeom prst="roundRect">
            <a:avLst>
              <a:gd name="adj" fmla="val 13913"/>
            </a:avLst>
          </a:prstGeom>
          <a:solidFill>
            <a:srgbClr val="121A17"/>
          </a:solidFill>
          <a:ln w="9525">
            <a:solidFill>
              <a:srgbClr val="26332E"/>
            </a:solidFill>
            <a:prstDash val="solid"/>
          </a:ln>
        </p:spPr>
      </p:sp>
      <p:sp>
        <p:nvSpPr>
          <p:cNvPr id="15" name="Shape 13"/>
          <p:cNvSpPr/>
          <p:nvPr/>
        </p:nvSpPr>
        <p:spPr>
          <a:xfrm>
            <a:off x="804672" y="4983480"/>
            <a:ext cx="164592" cy="164592"/>
          </a:xfrm>
          <a:prstGeom prst="ellipse">
            <a:avLst/>
          </a:prstGeom>
          <a:solidFill>
            <a:srgbClr val="CDF56E"/>
          </a:solidFill>
          <a:ln w="12700">
            <a:solidFill>
              <a:srgbClr val="CDF56E"/>
            </a:solidFill>
            <a:prstDash val="solid"/>
          </a:ln>
        </p:spPr>
      </p:sp>
      <p:sp>
        <p:nvSpPr>
          <p:cNvPr id="16" name="Text 14"/>
          <p:cNvSpPr txBox="1"/>
          <p:nvPr/>
        </p:nvSpPr>
        <p:spPr>
          <a:xfrm>
            <a:off x="1143000" y="485546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Hold embedded loading</a:t>
            </a:r>
            <a:endParaRPr lang="en-US" sz="1500" dirty="0"/>
          </a:p>
        </p:txBody>
      </p:sp>
      <p:sp>
        <p:nvSpPr>
          <p:cNvPr id="17" name="Text 15"/>
          <p:cNvSpPr txBox="1"/>
          <p:nvPr/>
        </p:nvSpPr>
        <p:spPr>
          <a:xfrm>
            <a:off x="1143000" y="521208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Keep utilization near 72% while embedded demand trails plan, to avoid building inventory.</a:t>
            </a:r>
            <a:endParaRPr lang="en-US" sz="1200" dirty="0"/>
          </a:p>
        </p:txBody>
      </p:sp>
      <p:sp>
        <p:nvSpPr>
          <p:cNvPr id="18" name="Shape 16"/>
          <p:cNvSpPr/>
          <p:nvPr/>
        </p:nvSpPr>
        <p:spPr>
          <a:xfrm>
            <a:off x="6233008" y="4709160"/>
            <a:ext cx="5410048" cy="1051560"/>
          </a:xfrm>
          <a:prstGeom prst="roundRect">
            <a:avLst>
              <a:gd name="adj" fmla="val 13913"/>
            </a:avLst>
          </a:prstGeom>
          <a:solidFill>
            <a:srgbClr val="121A17"/>
          </a:solidFill>
          <a:ln w="9525">
            <a:solidFill>
              <a:srgbClr val="26332E"/>
            </a:solidFill>
            <a:prstDash val="solid"/>
          </a:ln>
        </p:spPr>
      </p:sp>
      <p:sp>
        <p:nvSpPr>
          <p:cNvPr id="19" name="Shape 17"/>
          <p:cNvSpPr/>
          <p:nvPr/>
        </p:nvSpPr>
        <p:spPr>
          <a:xfrm>
            <a:off x="6489040" y="4983480"/>
            <a:ext cx="164592" cy="164592"/>
          </a:xfrm>
          <a:prstGeom prst="ellipse">
            <a:avLst/>
          </a:prstGeom>
          <a:solidFill>
            <a:srgbClr val="CDF56E"/>
          </a:solidFill>
          <a:ln w="12700">
            <a:solidFill>
              <a:srgbClr val="CDF56E"/>
            </a:solidFill>
            <a:prstDash val="solid"/>
          </a:ln>
        </p:spPr>
      </p:sp>
      <p:sp>
        <p:nvSpPr>
          <p:cNvPr id="20" name="Text 18"/>
          <p:cNvSpPr txBox="1"/>
          <p:nvPr/>
        </p:nvSpPr>
        <p:spPr>
          <a:xfrm>
            <a:off x="6827368" y="485546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Firm up the proposal</a:t>
            </a:r>
            <a:endParaRPr lang="en-US" sz="1500" dirty="0"/>
          </a:p>
        </p:txBody>
      </p:sp>
      <p:sp>
        <p:nvSpPr>
          <p:cNvPr id="21" name="Text 19"/>
          <p:cNvSpPr txBox="1"/>
          <p:nvPr/>
        </p:nvSpPr>
        <p:spPr>
          <a:xfrm>
            <a:off x="6827368" y="521208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Replace the hypothetical price, capacity and yield gain with vendor quotes, then re-test the decision rule.</a:t>
            </a:r>
            <a:endParaRPr lang="en-US" sz="1200" dirty="0"/>
          </a:p>
        </p:txBody>
      </p:sp>
      <p:sp>
        <p:nvSpPr>
          <p:cNvPr id="22" name="Text 20"/>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Texas Instruments information.</a:t>
            </a:r>
            <a:endParaRPr lang="en-US" sz="900" dirty="0"/>
          </a:p>
        </p:txBody>
      </p:sp>
      <p:sp>
        <p:nvSpPr>
          <p:cNvPr id="23" name="Text 21"/>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Signal &amp; Embedded Division - FY2026 Executive Review</dc:title>
  <dc:subject>PptxGenJS Presentation</dc:subject>
  <dc:creator>FP&amp;A portfolio project</dc:creator>
  <cp:lastModifiedBy>FP&amp;A portfolio project</cp:lastModifiedBy>
  <cp:revision>1</cp:revision>
  <dcterms:created xsi:type="dcterms:W3CDTF">2026-09-23T01:06:33Z</dcterms:created>
  <dcterms:modified xsi:type="dcterms:W3CDTF">2026-09-23T01:06:33Z</dcterms:modified>
</cp:coreProperties>
</file>