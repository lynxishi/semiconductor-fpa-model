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A9BAB2"/>
                </a:solidFill>
                <a:latin typeface="Calibri"/>
              </a:defRPr>
            </a:pPr>
            <a:r>
              <a:rPr sz="1200" b="0" i="0" u="none" strike="noStrike">
                <a:solidFill>
                  <a:srgbClr val="A9BAB2"/>
                </a:solidFill>
                <a:latin typeface="Calibri"/>
              </a:rPr>
              <a:t>Microchip net sales, $m (fiscal years end March)</a:t>
            </a:r>
          </a:p>
        </c:rich>
      </c:tx>
      <c:layout/>
      <c:overlay val="0"/>
    </c:title>
    <c:autoTitleDeleted val="0"/>
    <c:plotArea>
      <c:layout/>
      <c:barChart>
        <c:barDir val="col"/>
        <c:grouping val="clustered"/>
        <c:varyColors val="0"/>
        <c:ser>
          <c:idx val="0"/>
          <c:order val="0"/>
          <c:tx>
            <c:strRef>
              <c:f>Sheet1!$B$1</c:f>
              <c:strCache>
                <c:ptCount val="1"/>
                <c:pt idx="0">
                  <c:v>Net sales ($m)</c:v>
                </c:pt>
              </c:strCache>
            </c:strRef>
          </c:tx>
          <c:spPr>
            <a:solidFill>
              <a:srgbClr val="43C99A"/>
            </a:solidFill>
            <a:effectLst/>
          </c:spPr>
          <c:invertIfNegative val="0"/>
          <c:dLbls>
            <c:numFmt formatCode="$#,##0" sourceLinked="0"/>
            <c:txPr>
              <a:bodyPr/>
              <a:lstStyle/>
              <a:p>
                <a:pPr>
                  <a:defRPr b="0" i="0" strike="noStrike" sz="1100" u="none">
                    <a:solidFill>
                      <a:srgbClr val="EEF5F1"/>
                    </a:solidFill>
                    <a:latin typeface="Calibri"/>
                  </a:defRPr>
                </a:pPr>
              </a:p>
            </c:txPr>
            <c:showLegendKey val="0"/>
            <c:showVal val="1"/>
            <c:showCatName val="0"/>
            <c:showSerName val="0"/>
            <c:showPercent val="0"/>
            <c:showBubbleSize val="0"/>
            <c:showLeaderLines val="0"/>
          </c:dLbls>
          <c:cat>
            <c:multiLvlStrRef>
              <c:f>Sheet1!$A$2:$A$6</c:f>
              <c:multiLvlStrCache>
                <c:ptCount val="5"/>
                <c:lvl>
                  <c:pt idx="0">
                    <c:v>FY2022</c:v>
                  </c:pt>
                  <c:pt idx="1">
                    <c:v>FY2023</c:v>
                  </c:pt>
                  <c:pt idx="2">
                    <c:v>FY2024</c:v>
                  </c:pt>
                  <c:pt idx="3">
                    <c:v>FY2025</c:v>
                  </c:pt>
                  <c:pt idx="4">
                    <c:v>FY2026</c:v>
                  </c:pt>
                </c:lvl>
              </c:multiLvlStrCache>
            </c:multiLvlStrRef>
          </c:cat>
          <c:val>
            <c:numRef>
              <c:f>Sheet1!$B$2:$B$6</c:f>
              <c:numCache>
                <c:formatCode>General</c:formatCode>
                <c:ptCount val="5"/>
                <c:pt idx="0">
                  <c:v>6820.9</c:v>
                </c:pt>
                <c:pt idx="1">
                  <c:v>8438.7</c:v>
                </c:pt>
                <c:pt idx="2">
                  <c:v>7634.4</c:v>
                </c:pt>
                <c:pt idx="3">
                  <c:v>4401.6</c:v>
                </c:pt>
                <c:pt idx="4">
                  <c:v>4713.1</c:v>
                </c:pt>
              </c:numCache>
            </c:numRef>
          </c:val>
        </c:ser>
        <c:dLbls>
          <c:numFmt formatCode="$#,##0" sourceLinked="0"/>
          <c:txPr>
            <a:bodyPr/>
            <a:lstStyle/>
            <a:p>
              <a:pPr>
                <a:defRPr b="0" i="0" strike="noStrike" sz="1100" u="none">
                  <a:solidFill>
                    <a:srgbClr val="EEF5F1"/>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A9BAB2"/>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2302A"/>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7C8F86"/>
                </a:solidFill>
                <a:latin typeface="Calibri"/>
              </a:defRPr>
            </a:pPr>
            <a:endParaRPr lang="en-US"/>
          </a:p>
        </c:txPr>
        <c:crossAx val="2094734554"/>
        <c:crosses val="autoZero"/>
        <c:crossBetween val="between"/>
      </c:valAx>
      <c:spPr>
        <a:solidFill>
          <a:srgbClr val="121A17"/>
        </a:solid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A9BAB2"/>
                </a:solidFill>
                <a:latin typeface="Calibri"/>
              </a:defRPr>
            </a:pPr>
            <a:r>
              <a:rPr sz="1200" b="0" i="0" u="none" strike="noStrike">
                <a:solidFill>
                  <a:srgbClr val="A9BAB2"/>
                </a:solidFill>
                <a:latin typeface="Calibri"/>
              </a:rPr>
              <a:t>Monthly revenue, $m</a:t>
            </a:r>
          </a:p>
        </c:rich>
      </c:tx>
      <c:layout/>
      <c:overlay val="0"/>
    </c:title>
    <c:autoTitleDeleted val="0"/>
    <c:plotArea>
      <c:layout/>
      <c:lineChart>
        <c:varyColors val="0"/>
        <c:ser>
          <c:idx val="0"/>
          <c:order val="0"/>
          <c:tx>
            <c:strRef>
              <c:f>Sheet1!$B$1</c:f>
              <c:strCache>
                <c:ptCount val="1"/>
                <c:pt idx="0">
                  <c:v>Budget</c:v>
                </c:pt>
              </c:strCache>
            </c:strRef>
          </c:tx>
          <c:spPr>
            <a:solidFill>
              <a:srgbClr val="9FB3AA"/>
            </a:solidFill>
            <a:ln w="31750" cap="flat">
              <a:solidFill>
                <a:srgbClr val="9FB3AA"/>
              </a:solidFill>
              <a:prstDash val="dash,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9FB3AA"/>
              </a:solidFill>
              <a:ln w="9525" cap="flat">
                <a:solidFill>
                  <a:srgbClr val="9FB3AA"/>
                </a:solidFill>
                <a:prstDash val="solid"/>
                <a:round/>
              </a:ln>
              <a:effectLst/>
            </c:spPr>
          </c:marker>
          <c:cat>
            <c:multiLvlStrRef>
              <c:f>Sheet1!$A$2:$A$13</c:f>
              <c:multiLvlStrCache>
                <c:ptCount val="12"/>
                <c:lvl>
                  <c:pt idx="0">
                    <c:v>Apr</c:v>
                  </c:pt>
                  <c:pt idx="1">
                    <c:v>May</c:v>
                  </c:pt>
                  <c:pt idx="2">
                    <c:v>Jun</c:v>
                  </c:pt>
                  <c:pt idx="3">
                    <c:v>Jul</c:v>
                  </c:pt>
                  <c:pt idx="4">
                    <c:v>Aug</c:v>
                  </c:pt>
                  <c:pt idx="5">
                    <c:v>Sep</c:v>
                  </c:pt>
                  <c:pt idx="6">
                    <c:v>Oct</c:v>
                  </c:pt>
                  <c:pt idx="7">
                    <c:v>Nov</c:v>
                  </c:pt>
                  <c:pt idx="8">
                    <c:v>Dec</c:v>
                  </c:pt>
                  <c:pt idx="9">
                    <c:v>Jan</c:v>
                  </c:pt>
                  <c:pt idx="10">
                    <c:v>Feb</c:v>
                  </c:pt>
                  <c:pt idx="11">
                    <c:v>Mar</c:v>
                  </c:pt>
                </c:lvl>
              </c:multiLvlStrCache>
            </c:multiLvlStrRef>
          </c:cat>
          <c:val>
            <c:numRef>
              <c:f>Sheet1!$B$2:$B$13</c:f>
              <c:numCache>
                <c:formatCode>General</c:formatCode>
                <c:ptCount val="12"/>
                <c:pt idx="0">
                  <c:v>94.79</c:v>
                </c:pt>
                <c:pt idx="1">
                  <c:v>96.76</c:v>
                </c:pt>
                <c:pt idx="2">
                  <c:v>100.71</c:v>
                </c:pt>
                <c:pt idx="3">
                  <c:v>95.78</c:v>
                </c:pt>
                <c:pt idx="4">
                  <c:v>97.75</c:v>
                </c:pt>
                <c:pt idx="5">
                  <c:v>102.69</c:v>
                </c:pt>
                <c:pt idx="6">
                  <c:v>101.7</c:v>
                </c:pt>
                <c:pt idx="7">
                  <c:v>99.72</c:v>
                </c:pt>
                <c:pt idx="8">
                  <c:v>93.8</c:v>
                </c:pt>
                <c:pt idx="9">
                  <c:v>95.78</c:v>
                </c:pt>
                <c:pt idx="10">
                  <c:v>98.74</c:v>
                </c:pt>
                <c:pt idx="11">
                  <c:v>106.64</c:v>
                </c:pt>
              </c:numCache>
            </c:numRef>
          </c:val>
          <c:smooth val="0"/>
        </c:ser>
        <c:ser>
          <c:idx val="1"/>
          <c:order val="1"/>
          <c:tx>
            <c:strRef>
              <c:f>Sheet1!$C$1</c:f>
              <c:strCache>
                <c:ptCount val="1"/>
                <c:pt idx="0">
                  <c:v>Outlook (actual Apr–Aug + forecast)</c:v>
                </c:pt>
              </c:strCache>
            </c:strRef>
          </c:tx>
          <c:spPr>
            <a:solidFill>
              <a:srgbClr val="43C99A"/>
            </a:solidFill>
            <a:ln w="31750" cap="flat">
              <a:solidFill>
                <a:srgbClr val="43C99A"/>
              </a:solidFill>
              <a:prstDash val="dash,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43C99A"/>
              </a:solidFill>
              <a:ln w="9525" cap="flat">
                <a:solidFill>
                  <a:srgbClr val="43C99A"/>
                </a:solidFill>
                <a:prstDash val="solid"/>
                <a:round/>
              </a:ln>
              <a:effectLst/>
            </c:spPr>
          </c:marker>
          <c:cat>
            <c:multiLvlStrRef>
              <c:f>Sheet1!$A$2:$A$13</c:f>
              <c:multiLvlStrCache>
                <c:ptCount val="12"/>
                <c:lvl>
                  <c:pt idx="0">
                    <c:v>Apr</c:v>
                  </c:pt>
                  <c:pt idx="1">
                    <c:v>May</c:v>
                  </c:pt>
                  <c:pt idx="2">
                    <c:v>Jun</c:v>
                  </c:pt>
                  <c:pt idx="3">
                    <c:v>Jul</c:v>
                  </c:pt>
                  <c:pt idx="4">
                    <c:v>Aug</c:v>
                  </c:pt>
                  <c:pt idx="5">
                    <c:v>Sep</c:v>
                  </c:pt>
                  <c:pt idx="6">
                    <c:v>Oct</c:v>
                  </c:pt>
                  <c:pt idx="7">
                    <c:v>Nov</c:v>
                  </c:pt>
                  <c:pt idx="8">
                    <c:v>Dec</c:v>
                  </c:pt>
                  <c:pt idx="9">
                    <c:v>Jan</c:v>
                  </c:pt>
                  <c:pt idx="10">
                    <c:v>Feb</c:v>
                  </c:pt>
                  <c:pt idx="11">
                    <c:v>Mar</c:v>
                  </c:pt>
                </c:lvl>
              </c:multiLvlStrCache>
            </c:multiLvlStrRef>
          </c:cat>
          <c:val>
            <c:numRef>
              <c:f>Sheet1!$C$2:$C$13</c:f>
              <c:numCache>
                <c:formatCode>General</c:formatCode>
                <c:ptCount val="12"/>
                <c:pt idx="0">
                  <c:v>97.11</c:v>
                </c:pt>
                <c:pt idx="1">
                  <c:v>102.14</c:v>
                </c:pt>
                <c:pt idx="2">
                  <c:v>104.23</c:v>
                </c:pt>
                <c:pt idx="3">
                  <c:v>97.14</c:v>
                </c:pt>
                <c:pt idx="4">
                  <c:v>102.17</c:v>
                </c:pt>
                <c:pt idx="5">
                  <c:v>102.69</c:v>
                </c:pt>
                <c:pt idx="6">
                  <c:v>101.7</c:v>
                </c:pt>
                <c:pt idx="7">
                  <c:v>99.72</c:v>
                </c:pt>
                <c:pt idx="8">
                  <c:v>93.8</c:v>
                </c:pt>
                <c:pt idx="9">
                  <c:v>95.78</c:v>
                </c:pt>
                <c:pt idx="10">
                  <c:v>98.74</c:v>
                </c:pt>
                <c:pt idx="11">
                  <c:v>106.64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A9BAB2"/>
                </a:solidFill>
                <a:latin typeface="Calibri"/>
              </a:defRPr>
            </a:pPr>
            <a:endParaRPr lang="en-US"/>
          </a:p>
        </c:txPr>
        <c:crossAx val="2094734552"/>
        <c:crosses val="autoZero"/>
        <c:auto val="1"/>
        <c:lblAlgn val="ctr"/>
        <c:noMultiLvlLbl val="1"/>
      </c:catAx>
      <c:valAx>
        <c:axId val="2094734552"/>
        <c:scaling>
          <c:orientation val="minMax"/>
          <c:min val="85"/>
        </c:scaling>
        <c:delete val="0"/>
        <c:axPos val="l"/>
        <c:majorGridlines>
          <c:spPr>
            <a:ln w="6350" cap="flat">
              <a:solidFill>
                <a:srgbClr val="22302A"/>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7C8F86"/>
                </a:solidFill>
                <a:latin typeface="Calibri"/>
              </a:defRPr>
            </a:pPr>
            <a:endParaRPr lang="en-US"/>
          </a:p>
        </c:txPr>
        <c:crossAx val="2094734554"/>
        <c:crosses val="autoZero"/>
        <c:crossBetween val="between"/>
      </c:valAx>
      <c:spPr>
        <a:solidFill>
          <a:srgbClr val="121A17"/>
        </a:solidFill>
        <a:ln>
          <a:noFill/>
        </a:ln>
        <a:effectLst/>
      </c:spPr>
    </c:plotArea>
    <c:legend>
      <c:legendPos val="b"/>
      <c:overlay val="0"/>
      <c:txPr>
        <a:bodyPr/>
        <a:lstStyle/>
        <a:p>
          <a:pPr>
            <a:defRPr sz="1050">
              <a:solidFill>
                <a:srgbClr val="A9BAB2"/>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A9BAB2"/>
                </a:solidFill>
                <a:latin typeface="Calibri"/>
              </a:defRPr>
            </a:pPr>
            <a:r>
              <a:rPr sz="1200" b="0" i="0" u="none" strike="noStrike">
                <a:solidFill>
                  <a:srgbClr val="A9BAB2"/>
                </a:solidFill>
                <a:latin typeface="Calibri"/>
              </a:rPr>
              <a:t>FY2027, $m</a:t>
            </a:r>
          </a:p>
        </c:rich>
      </c:tx>
      <c:layout/>
      <c:overlay val="0"/>
    </c:title>
    <c:autoTitleDeleted val="0"/>
    <c:plotArea>
      <c:layout/>
      <c:barChart>
        <c:barDir val="col"/>
        <c:grouping val="clustered"/>
        <c:varyColors val="0"/>
        <c:ser>
          <c:idx val="0"/>
          <c:order val="0"/>
          <c:tx>
            <c:strRef>
              <c:f>Sheet1!$B$1</c:f>
              <c:strCache>
                <c:ptCount val="1"/>
                <c:pt idx="0">
                  <c:v>Downside</c:v>
                </c:pt>
              </c:strCache>
            </c:strRef>
          </c:tx>
          <c:spPr>
            <a:solidFill>
              <a:srgbClr val="F07B6C"/>
            </a:solidFill>
            <a:effectLst/>
          </c:spPr>
          <c:invertIfNegative val="0"/>
          <c:dLbls>
            <c:numFmt formatCode="$#,##0" sourceLinked="0"/>
            <c:txPr>
              <a:bodyPr/>
              <a:lstStyle/>
              <a:p>
                <a:pPr>
                  <a:defRPr b="0" i="0" strike="noStrike" sz="950" u="none">
                    <a:solidFill>
                      <a:srgbClr val="EEF5F1"/>
                    </a:solidFill>
                    <a:latin typeface="Calibri"/>
                  </a:defRPr>
                </a:pPr>
              </a:p>
            </c:txPr>
            <c:showLegendKey val="0"/>
            <c:showVal val="1"/>
            <c:showCatName val="0"/>
            <c:showSerName val="0"/>
            <c:showPercent val="0"/>
            <c:showBubbleSize val="0"/>
            <c:showLeaderLines val="0"/>
          </c:dLbls>
          <c:cat>
            <c:multiLvlStrRef>
              <c:f>Sheet1!$A$2:$A$5</c:f>
              <c:multiLvlStrCache>
                <c:ptCount val="4"/>
                <c:lvl>
                  <c:pt idx="0">
                    <c:v>Revenue</c:v>
                  </c:pt>
                  <c:pt idx="1">
                    <c:v>Gross profit</c:v>
                  </c:pt>
                  <c:pt idx="2">
                    <c:v>Operating profit</c:v>
                  </c:pt>
                  <c:pt idx="3">
                    <c:v>Free cash flow</c:v>
                  </c:pt>
                </c:lvl>
              </c:multiLvlStrCache>
            </c:multiLvlStrRef>
          </c:cat>
          <c:val>
            <c:numRef>
              <c:f>Sheet1!$B$2:$B$5</c:f>
              <c:numCache>
                <c:formatCode>General</c:formatCode>
                <c:ptCount val="4"/>
                <c:pt idx="0">
                  <c:v>1004.9</c:v>
                </c:pt>
                <c:pt idx="1">
                  <c:v>558.5</c:v>
                </c:pt>
                <c:pt idx="2">
                  <c:v>253.5</c:v>
                </c:pt>
                <c:pt idx="3">
                  <c:v>242.3</c:v>
                </c:pt>
              </c:numCache>
            </c:numRef>
          </c:val>
        </c:ser>
        <c:ser>
          <c:idx val="1"/>
          <c:order val="1"/>
          <c:tx>
            <c:strRef>
              <c:f>Sheet1!$C$1</c:f>
              <c:strCache>
                <c:ptCount val="1"/>
                <c:pt idx="0">
                  <c:v>Base</c:v>
                </c:pt>
              </c:strCache>
            </c:strRef>
          </c:tx>
          <c:spPr>
            <a:solidFill>
              <a:srgbClr val="9FB3AA"/>
            </a:solidFill>
            <a:effectLst/>
          </c:spPr>
          <c:invertIfNegative val="0"/>
          <c:dLbls>
            <c:numFmt formatCode="$#,##0" sourceLinked="0"/>
            <c:txPr>
              <a:bodyPr/>
              <a:lstStyle/>
              <a:p>
                <a:pPr>
                  <a:defRPr b="0" i="0" strike="noStrike" sz="950" u="none">
                    <a:solidFill>
                      <a:srgbClr val="EEF5F1"/>
                    </a:solidFill>
                    <a:latin typeface="Calibri"/>
                  </a:defRPr>
                </a:pPr>
              </a:p>
            </c:txPr>
            <c:showLegendKey val="0"/>
            <c:showVal val="1"/>
            <c:showCatName val="0"/>
            <c:showSerName val="0"/>
            <c:showPercent val="0"/>
            <c:showBubbleSize val="0"/>
            <c:showLeaderLines val="0"/>
          </c:dLbls>
          <c:cat>
            <c:multiLvlStrRef>
              <c:f>Sheet1!$A$2:$A$5</c:f>
              <c:multiLvlStrCache>
                <c:ptCount val="4"/>
                <c:lvl>
                  <c:pt idx="0">
                    <c:v>Revenue</c:v>
                  </c:pt>
                  <c:pt idx="1">
                    <c:v>Gross profit</c:v>
                  </c:pt>
                  <c:pt idx="2">
                    <c:v>Operating profit</c:v>
                  </c:pt>
                  <c:pt idx="3">
                    <c:v>Free cash flow</c:v>
                  </c:pt>
                </c:lvl>
              </c:multiLvlStrCache>
            </c:multiLvlStrRef>
          </c:cat>
          <c:val>
            <c:numRef>
              <c:f>Sheet1!$C$2:$C$5</c:f>
              <c:numCache>
                <c:formatCode>General</c:formatCode>
                <c:ptCount val="4"/>
                <c:pt idx="0">
                  <c:v>1184.8</c:v>
                </c:pt>
                <c:pt idx="1">
                  <c:v>720</c:v>
                </c:pt>
                <c:pt idx="2">
                  <c:v>406</c:v>
                </c:pt>
                <c:pt idx="3">
                  <c:v>325.1</c:v>
                </c:pt>
              </c:numCache>
            </c:numRef>
          </c:val>
        </c:ser>
        <c:ser>
          <c:idx val="2"/>
          <c:order val="2"/>
          <c:tx>
            <c:strRef>
              <c:f>Sheet1!$D$1</c:f>
              <c:strCache>
                <c:ptCount val="1"/>
                <c:pt idx="0">
                  <c:v>Upside</c:v>
                </c:pt>
              </c:strCache>
            </c:strRef>
          </c:tx>
          <c:spPr>
            <a:solidFill>
              <a:srgbClr val="CDF56E"/>
            </a:solidFill>
            <a:effectLst/>
          </c:spPr>
          <c:invertIfNegative val="0"/>
          <c:dLbls>
            <c:numFmt formatCode="$#,##0" sourceLinked="0"/>
            <c:txPr>
              <a:bodyPr/>
              <a:lstStyle/>
              <a:p>
                <a:pPr>
                  <a:defRPr b="0" i="0" strike="noStrike" sz="950" u="none">
                    <a:solidFill>
                      <a:srgbClr val="EEF5F1"/>
                    </a:solidFill>
                    <a:latin typeface="Calibri"/>
                  </a:defRPr>
                </a:pPr>
              </a:p>
            </c:txPr>
            <c:showLegendKey val="0"/>
            <c:showVal val="1"/>
            <c:showCatName val="0"/>
            <c:showSerName val="0"/>
            <c:showPercent val="0"/>
            <c:showBubbleSize val="0"/>
            <c:showLeaderLines val="0"/>
          </c:dLbls>
          <c:cat>
            <c:multiLvlStrRef>
              <c:f>Sheet1!$A$2:$A$5</c:f>
              <c:multiLvlStrCache>
                <c:ptCount val="4"/>
                <c:lvl>
                  <c:pt idx="0">
                    <c:v>Revenue</c:v>
                  </c:pt>
                  <c:pt idx="1">
                    <c:v>Gross profit</c:v>
                  </c:pt>
                  <c:pt idx="2">
                    <c:v>Operating profit</c:v>
                  </c:pt>
                  <c:pt idx="3">
                    <c:v>Free cash flow</c:v>
                  </c:pt>
                </c:lvl>
              </c:multiLvlStrCache>
            </c:multiLvlStrRef>
          </c:cat>
          <c:val>
            <c:numRef>
              <c:f>Sheet1!$D$2:$D$5</c:f>
              <c:numCache>
                <c:formatCode>General</c:formatCode>
                <c:ptCount val="4"/>
                <c:pt idx="0">
                  <c:v>1309.8</c:v>
                </c:pt>
                <c:pt idx="1">
                  <c:v>835.3</c:v>
                </c:pt>
                <c:pt idx="2">
                  <c:v>513.3</c:v>
                </c:pt>
                <c:pt idx="3">
                  <c:v>377.4</c:v>
                </c:pt>
              </c:numCache>
            </c:numRef>
          </c:val>
        </c:ser>
        <c:dLbls>
          <c:numFmt formatCode="$#,##0" sourceLinked="0"/>
          <c:txPr>
            <a:bodyPr/>
            <a:lstStyle/>
            <a:p>
              <a:pPr>
                <a:defRPr b="0" i="0" strike="noStrike" sz="950" u="none">
                  <a:solidFill>
                    <a:srgbClr val="EEF5F1"/>
                  </a:solidFill>
                  <a:latin typeface="Calibri"/>
                </a:defRPr>
              </a:pPr>
            </a:p>
          </c:txPr>
          <c:showLegendKey val="0"/>
          <c:showVal val="1"/>
          <c:showCatName val="0"/>
          <c:showSerName val="0"/>
          <c:showPercent val="0"/>
          <c:showBubbleSize val="0"/>
          <c:showLeaderLines val="0"/>
        </c:dLbls>
        <c:gapWidth val="60"/>
        <c:overlap val="-8"/>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A9BAB2"/>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2302A"/>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7C8F86"/>
                </a:solidFill>
                <a:latin typeface="Calibri"/>
              </a:defRPr>
            </a:pPr>
            <a:endParaRPr lang="en-US"/>
          </a:p>
        </c:txPr>
        <c:crossAx val="2094734554"/>
        <c:crosses val="autoZero"/>
        <c:crossBetween val="between"/>
      </c:valAx>
      <c:spPr>
        <a:solidFill>
          <a:srgbClr val="121A17"/>
        </a:solidFill>
        <a:ln>
          <a:noFill/>
        </a:ln>
        <a:effectLst/>
      </c:spPr>
    </c:plotArea>
    <c:legend>
      <c:legendPos val="b"/>
      <c:overlay val="0"/>
      <c:txPr>
        <a:bodyPr/>
        <a:lstStyle/>
        <a:p>
          <a:pPr>
            <a:defRPr sz="1050">
              <a:solidFill>
                <a:srgbClr val="A9BAB2"/>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A9BAB2"/>
                </a:solidFill>
                <a:latin typeface="Calibri"/>
              </a:defRPr>
            </a:pPr>
            <a:r>
              <a:rPr sz="1150" b="0" i="0" u="none" strike="noStrike">
                <a:solidFill>
                  <a:srgbClr val="A9BAB2"/>
                </a:solidFill>
                <a:latin typeface="Calibri"/>
              </a:rPr>
              <a:t>Cumulative incremental free cash flow, $m (payback where it crosses zero)</a:t>
            </a:r>
          </a:p>
        </c:rich>
      </c:tx>
      <c:layout/>
      <c:overlay val="0"/>
    </c:title>
    <c:autoTitleDeleted val="0"/>
    <c:plotArea>
      <c:layout/>
      <c:lineChart>
        <c:varyColors val="0"/>
        <c:ser>
          <c:idx val="0"/>
          <c:order val="0"/>
          <c:tx>
            <c:strRef>
              <c:f>Sheet1!$B$1</c:f>
              <c:strCache>
                <c:ptCount val="1"/>
                <c:pt idx="0">
                  <c:v>Downside</c:v>
                </c:pt>
              </c:strCache>
            </c:strRef>
          </c:tx>
          <c:spPr>
            <a:solidFill>
              <a:srgbClr val="F07B6C"/>
            </a:solidFill>
            <a:ln w="31750" cap="flat">
              <a:solidFill>
                <a:srgbClr val="F07B6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07B6C"/>
              </a:solidFill>
              <a:ln w="9525" cap="flat">
                <a:solidFill>
                  <a:srgbClr val="F07B6C"/>
                </a:solidFill>
                <a:prstDash val="solid"/>
                <a:round/>
              </a:ln>
              <a:effectLst/>
            </c:spPr>
          </c:marker>
          <c:cat>
            <c:multiLvlStrRef>
              <c:f>Sheet1!$A$2:$A$8</c:f>
              <c:multiLvlStrCache>
                <c:ptCount val="7"/>
                <c:lvl>
                  <c:pt idx="0">
                    <c:v>Y0</c:v>
                  </c:pt>
                  <c:pt idx="1">
                    <c:v>Y1</c:v>
                  </c:pt>
                  <c:pt idx="2">
                    <c:v>Y2</c:v>
                  </c:pt>
                  <c:pt idx="3">
                    <c:v>Y3</c:v>
                  </c:pt>
                  <c:pt idx="4">
                    <c:v>Y4</c:v>
                  </c:pt>
                  <c:pt idx="5">
                    <c:v>Y5</c:v>
                  </c:pt>
                  <c:pt idx="6">
                    <c:v>Y6</c:v>
                  </c:pt>
                </c:lvl>
              </c:multiLvlStrCache>
            </c:multiLvlStrRef>
          </c:cat>
          <c:val>
            <c:numRef>
              <c:f>Sheet1!$B$2:$B$8</c:f>
              <c:numCache>
                <c:formatCode>General</c:formatCode>
                <c:ptCount val="7"/>
                <c:pt idx="0">
                  <c:v>-27</c:v>
                </c:pt>
                <c:pt idx="1">
                  <c:v>-24.2</c:v>
                </c:pt>
                <c:pt idx="2">
                  <c:v>-21.4</c:v>
                </c:pt>
                <c:pt idx="3">
                  <c:v>-18.5</c:v>
                </c:pt>
                <c:pt idx="4">
                  <c:v>-15.6</c:v>
                </c:pt>
                <c:pt idx="5">
                  <c:v>-12.7</c:v>
                </c:pt>
                <c:pt idx="6">
                  <c:v>-9.7</c:v>
                </c:pt>
              </c:numCache>
            </c:numRef>
          </c:val>
          <c:smooth val="0"/>
        </c:ser>
        <c:ser>
          <c:idx val="1"/>
          <c:order val="1"/>
          <c:tx>
            <c:strRef>
              <c:f>Sheet1!$C$1</c:f>
              <c:strCache>
                <c:ptCount val="1"/>
                <c:pt idx="0">
                  <c:v>Base</c:v>
                </c:pt>
              </c:strCache>
            </c:strRef>
          </c:tx>
          <c:spPr>
            <a:solidFill>
              <a:srgbClr val="9FB3AA"/>
            </a:solidFill>
            <a:ln w="31750" cap="flat">
              <a:solidFill>
                <a:srgbClr val="9FB3A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9FB3AA"/>
              </a:solidFill>
              <a:ln w="9525" cap="flat">
                <a:solidFill>
                  <a:srgbClr val="9FB3AA"/>
                </a:solidFill>
                <a:prstDash val="solid"/>
                <a:round/>
              </a:ln>
              <a:effectLst/>
            </c:spPr>
          </c:marker>
          <c:cat>
            <c:multiLvlStrRef>
              <c:f>Sheet1!$A$2:$A$8</c:f>
              <c:multiLvlStrCache>
                <c:ptCount val="7"/>
                <c:lvl>
                  <c:pt idx="0">
                    <c:v>Y0</c:v>
                  </c:pt>
                  <c:pt idx="1">
                    <c:v>Y1</c:v>
                  </c:pt>
                  <c:pt idx="2">
                    <c:v>Y2</c:v>
                  </c:pt>
                  <c:pt idx="3">
                    <c:v>Y3</c:v>
                  </c:pt>
                  <c:pt idx="4">
                    <c:v>Y4</c:v>
                  </c:pt>
                  <c:pt idx="5">
                    <c:v>Y5</c:v>
                  </c:pt>
                  <c:pt idx="6">
                    <c:v>Y6</c:v>
                  </c:pt>
                </c:lvl>
              </c:multiLvlStrCache>
            </c:multiLvlStrRef>
          </c:cat>
          <c:val>
            <c:numRef>
              <c:f>Sheet1!$C$2:$C$8</c:f>
              <c:numCache>
                <c:formatCode>General</c:formatCode>
                <c:ptCount val="7"/>
                <c:pt idx="0">
                  <c:v>-27</c:v>
                </c:pt>
                <c:pt idx="1">
                  <c:v>-24.1</c:v>
                </c:pt>
                <c:pt idx="2">
                  <c:v>-17.5</c:v>
                </c:pt>
                <c:pt idx="3">
                  <c:v>-1.8</c:v>
                </c:pt>
                <c:pt idx="4">
                  <c:v>24.5</c:v>
                </c:pt>
                <c:pt idx="5">
                  <c:v>61.5</c:v>
                </c:pt>
                <c:pt idx="6">
                  <c:v>118.3</c:v>
                </c:pt>
              </c:numCache>
            </c:numRef>
          </c:val>
          <c:smooth val="0"/>
        </c:ser>
        <c:ser>
          <c:idx val="2"/>
          <c:order val="2"/>
          <c:tx>
            <c:strRef>
              <c:f>Sheet1!$D$1</c:f>
              <c:strCache>
                <c:ptCount val="1"/>
                <c:pt idx="0">
                  <c:v>Upside</c:v>
                </c:pt>
              </c:strCache>
            </c:strRef>
          </c:tx>
          <c:spPr>
            <a:solidFill>
              <a:srgbClr val="CDF56E"/>
            </a:solidFill>
            <a:ln w="31750" cap="flat">
              <a:solidFill>
                <a:srgbClr val="CDF56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DF56E"/>
              </a:solidFill>
              <a:ln w="9525" cap="flat">
                <a:solidFill>
                  <a:srgbClr val="CDF56E"/>
                </a:solidFill>
                <a:prstDash val="solid"/>
                <a:round/>
              </a:ln>
              <a:effectLst/>
            </c:spPr>
          </c:marker>
          <c:cat>
            <c:multiLvlStrRef>
              <c:f>Sheet1!$A$2:$A$8</c:f>
              <c:multiLvlStrCache>
                <c:ptCount val="7"/>
                <c:lvl>
                  <c:pt idx="0">
                    <c:v>Y0</c:v>
                  </c:pt>
                  <c:pt idx="1">
                    <c:v>Y1</c:v>
                  </c:pt>
                  <c:pt idx="2">
                    <c:v>Y2</c:v>
                  </c:pt>
                  <c:pt idx="3">
                    <c:v>Y3</c:v>
                  </c:pt>
                  <c:pt idx="4">
                    <c:v>Y4</c:v>
                  </c:pt>
                  <c:pt idx="5">
                    <c:v>Y5</c:v>
                  </c:pt>
                  <c:pt idx="6">
                    <c:v>Y6</c:v>
                  </c:pt>
                </c:lvl>
              </c:multiLvlStrCache>
            </c:multiLvlStrRef>
          </c:cat>
          <c:val>
            <c:numRef>
              <c:f>Sheet1!$D$2:$D$8</c:f>
              <c:numCache>
                <c:formatCode>General</c:formatCode>
                <c:ptCount val="7"/>
                <c:pt idx="0">
                  <c:v>-27</c:v>
                </c:pt>
                <c:pt idx="1">
                  <c:v>-13.2</c:v>
                </c:pt>
                <c:pt idx="2">
                  <c:v>19.3</c:v>
                </c:pt>
                <c:pt idx="3">
                  <c:v>69.1</c:v>
                </c:pt>
                <c:pt idx="4">
                  <c:v>122.1</c:v>
                </c:pt>
                <c:pt idx="5">
                  <c:v>173.7</c:v>
                </c:pt>
                <c:pt idx="6">
                  <c:v>236.3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A9BAB2"/>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2302A"/>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7C8F86"/>
                </a:solidFill>
                <a:latin typeface="Calibri"/>
              </a:defRPr>
            </a:pPr>
            <a:endParaRPr lang="en-US"/>
          </a:p>
        </c:txPr>
        <c:crossAx val="2094734554"/>
        <c:crosses val="autoZero"/>
        <c:crossBetween val="between"/>
      </c:valAx>
      <c:spPr>
        <a:solidFill>
          <a:srgbClr val="121A17"/>
        </a:solidFill>
        <a:ln>
          <a:noFill/>
        </a:ln>
        <a:effectLst/>
      </c:spPr>
    </c:plotArea>
    <c:legend>
      <c:legendPos val="b"/>
      <c:overlay val="0"/>
      <c:txPr>
        <a:bodyPr/>
        <a:lstStyle/>
        <a:p>
          <a:pPr>
            <a:defRPr sz="1050">
              <a:solidFill>
                <a:srgbClr val="A9BAB2"/>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review the division's FY2027 outlook, year-to-date results versus budget, the scenario range, and one capital request. Everything comes from one linked Excel model; the dashboard and this deck read the same validated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answer. Base-case FY2027 revenue $1,184.8m, operating profit $406.0m, free cash flow $325.1m. Year to date we are +$7.8m ahead on operating profit. The one operational constraint is FPGA final test, which is also the subject of the capital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step is a visible row in Excel, so any output can be traced back to an assumption. One scenario switch drives the forecast; the budget is locked to the Base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Reported public data only on this slide. Net sales fell by almost half from the FY2023 peak as customers and distributors worked down inventory; gross margin fell with factory utilization. Q1 FY2027 sales were up 38% year over year, which anchors the Base demand-growth assumption of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Operating profit grows faster than revenue because fixed factory cost is spread over more units (utilization 67% → 80%). The outlook line replaces April–August with actuals; the remaining months are forecast at budget in the Base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Budget YTD operating profit $163.6m, actual $171.4m. Mix is the largest favorable driver: higher-priced FPGAs and MCUs replaced low-priced analog units, so total units fell (negative volume) while revenue rose. Material inflation, the FPGA yield shortfall and R&amp;D hiring were unfavorable. Every component is computed separately and reconciles to the total with zero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heat map compares each month's demand with what the test floor can deliver at full load. FPGA runs closest to its limit, peaking at 0.89 in the Base plan. Year to date FPGA yield is 82.0% against an 85.0% plan, which raises cost per good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cases run through the same Excel model via one selector cell. Downside: demand +5%, price −4%, yield −2 pts, 70% utilization. Upside: demand +30%, price +1%, 88% utilization. FY outlook vs budget ranges from −$83.8m to +$71.9m.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Break-even needs only about 7% use of the added capacity because FPGAs carry a high contribution margin, so the real risk is whether demand ever exceeds today's capacity. In Downside (FPGA demand +2% a year) it never does, and yield, scrap and savings alone cannot repay $27.0m.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rule: reject if Base fails; approve outright only if Downside also passes; otherwise approve with a checkpoint. Base NPV $69.9m, IRR 46.5%, payback 3.07 years; Downside NPV −$14.1m.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Slide-4-image-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Slide-5-image-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Slide-8-image-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Slide-9-image-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48640" y="1234440"/>
            <a:ext cx="566928" cy="566928"/>
          </a:xfrm>
          <a:prstGeom prst="ellipse">
            <a:avLst/>
          </a:prstGeom>
          <a:solidFill>
            <a:srgbClr val="43C99A"/>
          </a:solidFill>
          <a:ln w="12700">
            <a:solidFill>
              <a:srgbClr val="43C99A"/>
            </a:solidFill>
            <a:prstDash val="solid"/>
          </a:ln>
        </p:spPr>
      </p:sp>
      <p:sp>
        <p:nvSpPr>
          <p:cNvPr id="3" name="Shape 1"/>
          <p:cNvSpPr/>
          <p:nvPr/>
        </p:nvSpPr>
        <p:spPr>
          <a:xfrm>
            <a:off x="704088" y="1389888"/>
            <a:ext cx="256032" cy="256032"/>
          </a:xfrm>
          <a:prstGeom prst="ellipse">
            <a:avLst/>
          </a:prstGeom>
          <a:solidFill>
            <a:srgbClr val="0B120F"/>
          </a:solidFill>
          <a:ln w="12700">
            <a:solidFill>
              <a:srgbClr val="0B120F"/>
            </a:solidFill>
            <a:prstDash val="solid"/>
          </a:ln>
        </p:spPr>
      </p:sp>
      <p:sp>
        <p:nvSpPr>
          <p:cNvPr id="4" name="Text 2"/>
          <p:cNvSpPr txBox="1"/>
          <p:nvPr/>
        </p:nvSpPr>
        <p:spPr>
          <a:xfrm>
            <a:off x="548640" y="2148840"/>
            <a:ext cx="9144000" cy="320040"/>
          </a:xfrm>
          <a:prstGeom prst="rect">
            <a:avLst/>
          </a:prstGeom>
          <a:noFill/>
          <a:ln/>
        </p:spPr>
        <p:txBody>
          <a:bodyPr wrap="square" lIns="0" tIns="0" rIns="0" bIns="0" rtlCol="0" anchor="ctr"/>
          <a:lstStyle/>
          <a:p>
            <a:pPr indent="0" marL="0">
              <a:buNone/>
            </a:pPr>
            <a:r>
              <a:rPr lang="en-US" sz="1300" b="1" spc="300" kern="0" dirty="0">
                <a:solidFill>
                  <a:srgbClr val="43C99A"/>
                </a:solidFill>
                <a:latin typeface="Calibri" pitchFamily="34" charset="0"/>
                <a:ea typeface="Calibri" pitchFamily="34" charset="-122"/>
                <a:cs typeface="Calibri" pitchFamily="34" charset="-120"/>
              </a:rPr>
              <a:t>FP&amp;A PORTFOLIO PROJECT  ·  SEPTEMBER 2026</a:t>
            </a:r>
            <a:endParaRPr lang="en-US" sz="1300" dirty="0"/>
          </a:p>
        </p:txBody>
      </p:sp>
      <p:sp>
        <p:nvSpPr>
          <p:cNvPr id="5" name="Text 3"/>
          <p:cNvSpPr txBox="1"/>
          <p:nvPr/>
        </p:nvSpPr>
        <p:spPr>
          <a:xfrm>
            <a:off x="548640" y="2514600"/>
            <a:ext cx="10515600" cy="1005840"/>
          </a:xfrm>
          <a:prstGeom prst="rect">
            <a:avLst/>
          </a:prstGeom>
          <a:noFill/>
          <a:ln/>
        </p:spPr>
        <p:txBody>
          <a:bodyPr wrap="square" lIns="0" tIns="0" rIns="0" bIns="0" rtlCol="0" anchor="ctr"/>
          <a:lstStyle/>
          <a:p>
            <a:pPr indent="0" marL="0">
              <a:buNone/>
            </a:pPr>
            <a:r>
              <a:rPr lang="en-US" sz="5400" b="1" dirty="0">
                <a:solidFill>
                  <a:srgbClr val="EEF5F1"/>
                </a:solidFill>
                <a:latin typeface="Calibri" pitchFamily="34" charset="0"/>
                <a:ea typeface="Calibri" pitchFamily="34" charset="-122"/>
                <a:cs typeface="Calibri" pitchFamily="34" charset="-120"/>
              </a:rPr>
              <a:t>Embedded Control Division</a:t>
            </a:r>
            <a:endParaRPr lang="en-US" sz="5400" dirty="0"/>
          </a:p>
        </p:txBody>
      </p:sp>
      <p:sp>
        <p:nvSpPr>
          <p:cNvPr id="6" name="Text 4"/>
          <p:cNvSpPr txBox="1"/>
          <p:nvPr/>
        </p:nvSpPr>
        <p:spPr>
          <a:xfrm>
            <a:off x="548640" y="3520440"/>
            <a:ext cx="10515600" cy="548640"/>
          </a:xfrm>
          <a:prstGeom prst="rect">
            <a:avLst/>
          </a:prstGeom>
          <a:noFill/>
          <a:ln/>
        </p:spPr>
        <p:txBody>
          <a:bodyPr wrap="square" lIns="0" tIns="0" rIns="0" bIns="0" rtlCol="0" anchor="ctr"/>
          <a:lstStyle/>
          <a:p>
            <a:pPr indent="0" marL="0">
              <a:buNone/>
            </a:pPr>
            <a:r>
              <a:rPr lang="en-US" sz="2400" dirty="0">
                <a:solidFill>
                  <a:srgbClr val="A9BAB2"/>
                </a:solidFill>
                <a:latin typeface="Calibri" pitchFamily="34" charset="0"/>
                <a:ea typeface="Calibri" pitchFamily="34" charset="-122"/>
                <a:cs typeface="Calibri" pitchFamily="34" charset="-120"/>
              </a:rPr>
              <a:t>FY2027 plan, year-to-date performance and a $27.0m capital decision</a:t>
            </a:r>
            <a:endParaRPr lang="en-US" sz="2400" dirty="0"/>
          </a:p>
        </p:txBody>
      </p:sp>
      <p:sp>
        <p:nvSpPr>
          <p:cNvPr id="7" name="Shape 5"/>
          <p:cNvSpPr/>
          <p:nvPr/>
        </p:nvSpPr>
        <p:spPr>
          <a:xfrm>
            <a:off x="548640" y="4434840"/>
            <a:ext cx="2651760" cy="310896"/>
          </a:xfrm>
          <a:prstGeom prst="roundRect">
            <a:avLst>
              <a:gd name="adj" fmla="val 50000"/>
            </a:avLst>
          </a:prstGeom>
          <a:solidFill>
            <a:srgbClr val="43C99A"/>
          </a:solidFill>
          <a:ln w="12700">
            <a:solidFill>
              <a:srgbClr val="43C99A"/>
            </a:solidFill>
            <a:prstDash val="solid"/>
          </a:ln>
        </p:spPr>
      </p:sp>
      <p:sp>
        <p:nvSpPr>
          <p:cNvPr id="8" name="Text 6"/>
          <p:cNvSpPr txBox="1"/>
          <p:nvPr/>
        </p:nvSpPr>
        <p:spPr>
          <a:xfrm>
            <a:off x="548640" y="4434840"/>
            <a:ext cx="2651760" cy="310896"/>
          </a:xfrm>
          <a:prstGeom prst="rect">
            <a:avLst/>
          </a:prstGeom>
          <a:noFill/>
          <a:ln/>
        </p:spPr>
        <p:txBody>
          <a:bodyPr wrap="square" lIns="0" tIns="0" rIns="0" bIns="0" rtlCol="0" anchor="ctr"/>
          <a:lstStyle/>
          <a:p>
            <a:pPr algn="ctr" indent="0" marL="0">
              <a:buNone/>
            </a:pPr>
            <a:r>
              <a:rPr lang="en-US" sz="1100" b="1" dirty="0">
                <a:solidFill>
                  <a:srgbClr val="0B120F"/>
                </a:solidFill>
                <a:latin typeface="Calibri" pitchFamily="34" charset="0"/>
                <a:ea typeface="Calibri" pitchFamily="34" charset="-122"/>
                <a:cs typeface="Calibri" pitchFamily="34" charset="-120"/>
              </a:rPr>
              <a:t>Excel model · 149/149 checks pass</a:t>
            </a:r>
            <a:endParaRPr lang="en-US" sz="1100" dirty="0"/>
          </a:p>
        </p:txBody>
      </p:sp>
      <p:sp>
        <p:nvSpPr>
          <p:cNvPr id="9" name="Shape 7"/>
          <p:cNvSpPr/>
          <p:nvPr/>
        </p:nvSpPr>
        <p:spPr>
          <a:xfrm>
            <a:off x="3337560" y="4434840"/>
            <a:ext cx="2788920" cy="310896"/>
          </a:xfrm>
          <a:prstGeom prst="roundRect">
            <a:avLst>
              <a:gd name="adj" fmla="val 50000"/>
            </a:avLst>
          </a:prstGeom>
          <a:solidFill>
            <a:srgbClr val="A497FF"/>
          </a:solidFill>
          <a:ln w="12700">
            <a:solidFill>
              <a:srgbClr val="A497FF"/>
            </a:solidFill>
            <a:prstDash val="solid"/>
          </a:ln>
        </p:spPr>
      </p:sp>
      <p:sp>
        <p:nvSpPr>
          <p:cNvPr id="10" name="Text 8"/>
          <p:cNvSpPr txBox="1"/>
          <p:nvPr/>
        </p:nvSpPr>
        <p:spPr>
          <a:xfrm>
            <a:off x="3337560" y="4434840"/>
            <a:ext cx="2788920" cy="310896"/>
          </a:xfrm>
          <a:prstGeom prst="rect">
            <a:avLst/>
          </a:prstGeom>
          <a:noFill/>
          <a:ln/>
        </p:spPr>
        <p:txBody>
          <a:bodyPr wrap="square" lIns="0" tIns="0" rIns="0" bIns="0" rtlCol="0" anchor="ctr"/>
          <a:lstStyle/>
          <a:p>
            <a:pPr algn="ctr" indent="0" marL="0">
              <a:buNone/>
            </a:pPr>
            <a:r>
              <a:rPr lang="en-US" sz="1100" b="1" dirty="0">
                <a:solidFill>
                  <a:srgbClr val="120B2E"/>
                </a:solidFill>
                <a:latin typeface="Calibri" pitchFamily="34" charset="0"/>
                <a:ea typeface="Calibri" pitchFamily="34" charset="-122"/>
                <a:cs typeface="Calibri" pitchFamily="34" charset="-120"/>
              </a:rPr>
              <a:t>Web dashboard · verified vs Excel</a:t>
            </a:r>
            <a:endParaRPr lang="en-US" sz="1100" dirty="0"/>
          </a:p>
        </p:txBody>
      </p:sp>
      <p:sp>
        <p:nvSpPr>
          <p:cNvPr id="11" name="Shape 9"/>
          <p:cNvSpPr/>
          <p:nvPr/>
        </p:nvSpPr>
        <p:spPr>
          <a:xfrm>
            <a:off x="6263640" y="4434840"/>
            <a:ext cx="2331720" cy="310896"/>
          </a:xfrm>
          <a:prstGeom prst="roundRect">
            <a:avLst>
              <a:gd name="adj" fmla="val 50000"/>
            </a:avLst>
          </a:prstGeom>
          <a:solidFill>
            <a:srgbClr val="CDF56E"/>
          </a:solidFill>
          <a:ln w="12700">
            <a:solidFill>
              <a:srgbClr val="CDF56E"/>
            </a:solidFill>
            <a:prstDash val="solid"/>
          </a:ln>
        </p:spPr>
      </p:sp>
      <p:sp>
        <p:nvSpPr>
          <p:cNvPr id="12" name="Text 10"/>
          <p:cNvSpPr txBox="1"/>
          <p:nvPr/>
        </p:nvSpPr>
        <p:spPr>
          <a:xfrm>
            <a:off x="6263640" y="4434840"/>
            <a:ext cx="2331720" cy="310896"/>
          </a:xfrm>
          <a:prstGeom prst="rect">
            <a:avLst/>
          </a:prstGeom>
          <a:noFill/>
          <a:ln/>
        </p:spPr>
        <p:txBody>
          <a:bodyPr wrap="square" lIns="0" tIns="0" rIns="0" bIns="0" rtlCol="0" anchor="ctr"/>
          <a:lstStyle/>
          <a:p>
            <a:pPr algn="ctr" indent="0" marL="0">
              <a:buNone/>
            </a:pPr>
            <a:r>
              <a:rPr lang="en-US" sz="1100" b="1" dirty="0">
                <a:solidFill>
                  <a:srgbClr val="0B120F"/>
                </a:solidFill>
                <a:latin typeface="Calibri" pitchFamily="34" charset="0"/>
                <a:ea typeface="Calibri" pitchFamily="34" charset="-122"/>
                <a:cs typeface="Calibri" pitchFamily="34" charset="-120"/>
              </a:rPr>
              <a:t>Downside · Base · Upside</a:t>
            </a:r>
            <a:endParaRPr lang="en-US" sz="1100" dirty="0"/>
          </a:p>
        </p:txBody>
      </p:sp>
      <p:sp>
        <p:nvSpPr>
          <p:cNvPr id="13" name="Text 11"/>
          <p:cNvSpPr txBox="1"/>
          <p:nvPr/>
        </p:nvSpPr>
        <p:spPr>
          <a:xfrm>
            <a:off x="548640" y="5806440"/>
            <a:ext cx="10789920" cy="548640"/>
          </a:xfrm>
          <a:prstGeom prst="rect">
            <a:avLst/>
          </a:prstGeom>
          <a:noFill/>
          <a:ln/>
        </p:spPr>
        <p:txBody>
          <a:bodyPr wrap="square" lIns="0" tIns="0" rIns="0" bIns="0" rtlCol="0" anchor="ctr"/>
          <a:lstStyle/>
          <a:p>
            <a:pPr indent="0" marL="0">
              <a:buNone/>
            </a:pPr>
            <a:r>
              <a:rPr lang="en-US" sz="1050" dirty="0">
                <a:solidFill>
                  <a:srgbClr val="7C8F86"/>
                </a:solidFill>
                <a:latin typeface="Calibri" pitchFamily="34" charset="0"/>
                <a:ea typeface="Calibri" pitchFamily="34" charset="-122"/>
                <a:cs typeface="Calibri" pitchFamily="34" charset="-120"/>
              </a:rPr>
              <a:t>A fictional division modeled on Microchip Technology Inc. (NASDAQ: MCHP). Historical figures are Microchip's reported SEC data; all division-level data is simulated. Simulated data created for portfolio demonstration. It does not represent nonpublic Microchip Technology information.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200" kern="0" dirty="0">
                <a:solidFill>
                  <a:srgbClr val="43C99A"/>
                </a:solidFill>
                <a:latin typeface="Calibri" pitchFamily="34" charset="0"/>
                <a:ea typeface="Calibri" pitchFamily="34" charset="-122"/>
                <a:cs typeface="Calibri" pitchFamily="34" charset="-120"/>
              </a:rPr>
              <a:t>EXECUTIVE SUMMARY</a:t>
            </a:r>
            <a:endParaRPr lang="en-US" sz="1100" dirty="0"/>
          </a:p>
        </p:txBody>
      </p:sp>
      <p:sp>
        <p:nvSpPr>
          <p:cNvPr id="3" name="Text 1"/>
          <p:cNvSpPr txBox="1"/>
          <p:nvPr/>
        </p:nvSpPr>
        <p:spPr>
          <a:xfrm>
            <a:off x="548640" y="621792"/>
            <a:ext cx="11094415" cy="822960"/>
          </a:xfrm>
          <a:prstGeom prst="rect">
            <a:avLst/>
          </a:prstGeom>
          <a:noFill/>
          <a:ln/>
        </p:spPr>
        <p:txBody>
          <a:bodyPr wrap="square" lIns="0" tIns="0" rIns="0" bIns="0" rtlCol="0" anchor="t"/>
          <a:lstStyle/>
          <a:p>
            <a:pPr indent="0" marL="0">
              <a:buNone/>
            </a:pPr>
            <a:r>
              <a:rPr lang="en-US" sz="3000" b="1" dirty="0">
                <a:solidFill>
                  <a:srgbClr val="EEF5F1"/>
                </a:solidFill>
                <a:latin typeface="Calibri" pitchFamily="34" charset="0"/>
                <a:ea typeface="Calibri" pitchFamily="34" charset="-122"/>
                <a:cs typeface="Calibri" pitchFamily="34" charset="-120"/>
              </a:rPr>
              <a:t>Ahead of plan, with one constraint to fix: FPGA test capacity</a:t>
            </a:r>
            <a:endParaRPr lang="en-US" sz="3000" dirty="0"/>
          </a:p>
        </p:txBody>
      </p:sp>
      <p:sp>
        <p:nvSpPr>
          <p:cNvPr id="4" name="Text 2"/>
          <p:cNvSpPr txBox="1"/>
          <p:nvPr/>
        </p:nvSpPr>
        <p:spPr>
          <a:xfrm>
            <a:off x="548640" y="6446520"/>
            <a:ext cx="9601200" cy="228600"/>
          </a:xfrm>
          <a:prstGeom prst="rect">
            <a:avLst/>
          </a:prstGeom>
          <a:noFill/>
          <a:ln/>
        </p:spPr>
        <p:txBody>
          <a:bodyPr wrap="square" lIns="0" tIns="0" rIns="0" bIns="0" rtlCol="0" anchor="ctr"/>
          <a:lstStyle/>
          <a:p>
            <a:pPr indent="0" marL="0">
              <a:buNone/>
            </a:pPr>
            <a:r>
              <a:rPr lang="en-US" sz="900" dirty="0">
                <a:solidFill>
                  <a:srgbClr val="7C8F86"/>
                </a:solidFill>
                <a:latin typeface="Calibri" pitchFamily="34" charset="0"/>
                <a:ea typeface="Calibri" pitchFamily="34" charset="-122"/>
                <a:cs typeface="Calibri" pitchFamily="34" charset="-120"/>
              </a:rPr>
              <a:t>Simulated data created for portfolio demonstration. It does not represent nonpublic Microchip Technology information.</a:t>
            </a:r>
            <a:endParaRPr lang="en-US" sz="900" dirty="0"/>
          </a:p>
        </p:txBody>
      </p:sp>
      <p:sp>
        <p:nvSpPr>
          <p:cNvPr id="5" name="Text 3"/>
          <p:cNvSpPr txBox="1"/>
          <p:nvPr/>
        </p:nvSpPr>
        <p:spPr>
          <a:xfrm>
            <a:off x="11094415" y="6446520"/>
            <a:ext cx="548640" cy="228600"/>
          </a:xfrm>
          <a:prstGeom prst="rect">
            <a:avLst/>
          </a:prstGeom>
          <a:noFill/>
          <a:ln/>
        </p:spPr>
        <p:txBody>
          <a:bodyPr wrap="square" lIns="0" tIns="0" rIns="0" bIns="0" rtlCol="0" anchor="ctr"/>
          <a:lstStyle/>
          <a:p>
            <a:pPr algn="r" indent="0" marL="0">
              <a:buNone/>
            </a:pPr>
            <a:r>
              <a:rPr lang="en-US" sz="900" dirty="0">
                <a:solidFill>
                  <a:srgbClr val="7C8F86"/>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48640" y="1600200"/>
            <a:ext cx="2567864" cy="1508760"/>
          </a:xfrm>
          <a:prstGeom prst="roundRect">
            <a:avLst>
              <a:gd name="adj" fmla="val 9697"/>
            </a:avLst>
          </a:prstGeom>
          <a:solidFill>
            <a:srgbClr val="1F7A5A"/>
          </a:solidFill>
          <a:ln w="9525">
            <a:solidFill>
              <a:srgbClr val="26332E"/>
            </a:solidFill>
            <a:prstDash val="solid"/>
          </a:ln>
        </p:spPr>
      </p:sp>
      <p:sp>
        <p:nvSpPr>
          <p:cNvPr id="7" name="Text 5"/>
          <p:cNvSpPr txBox="1"/>
          <p:nvPr/>
        </p:nvSpPr>
        <p:spPr>
          <a:xfrm>
            <a:off x="777240" y="1783080"/>
            <a:ext cx="2110664" cy="274320"/>
          </a:xfrm>
          <a:prstGeom prst="rect">
            <a:avLst/>
          </a:prstGeom>
          <a:noFill/>
          <a:ln/>
        </p:spPr>
        <p:txBody>
          <a:bodyPr wrap="square" lIns="0" tIns="0" rIns="0" bIns="0" rtlCol="0" anchor="ctr"/>
          <a:lstStyle/>
          <a:p>
            <a:pPr indent="0" marL="0">
              <a:buNone/>
            </a:pPr>
            <a:r>
              <a:rPr lang="en-US" sz="1200" dirty="0">
                <a:solidFill>
                  <a:srgbClr val="DDF7EC"/>
                </a:solidFill>
                <a:latin typeface="Calibri" pitchFamily="34" charset="0"/>
                <a:ea typeface="Calibri" pitchFamily="34" charset="-122"/>
                <a:cs typeface="Calibri" pitchFamily="34" charset="-120"/>
              </a:rPr>
              <a:t>Revenue FY2027 (Base)</a:t>
            </a:r>
            <a:endParaRPr lang="en-US" sz="1200" dirty="0"/>
          </a:p>
        </p:txBody>
      </p:sp>
      <p:sp>
        <p:nvSpPr>
          <p:cNvPr id="8" name="Text 6"/>
          <p:cNvSpPr txBox="1"/>
          <p:nvPr/>
        </p:nvSpPr>
        <p:spPr>
          <a:xfrm>
            <a:off x="777240" y="2057400"/>
            <a:ext cx="2110664" cy="64008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$1,184.8m</a:t>
            </a:r>
            <a:endParaRPr lang="en-US" sz="3400" dirty="0"/>
          </a:p>
        </p:txBody>
      </p:sp>
      <p:sp>
        <p:nvSpPr>
          <p:cNvPr id="9" name="Text 7"/>
          <p:cNvSpPr txBox="1"/>
          <p:nvPr/>
        </p:nvSpPr>
        <p:spPr>
          <a:xfrm>
            <a:off x="777240" y="2697480"/>
            <a:ext cx="2110664" cy="274320"/>
          </a:xfrm>
          <a:prstGeom prst="rect">
            <a:avLst/>
          </a:prstGeom>
          <a:noFill/>
          <a:ln/>
        </p:spPr>
        <p:txBody>
          <a:bodyPr wrap="square" lIns="0" tIns="0" rIns="0" bIns="0" rtlCol="0" anchor="ctr"/>
          <a:lstStyle/>
          <a:p>
            <a:pPr indent="0" marL="0">
              <a:buNone/>
            </a:pPr>
            <a:r>
              <a:rPr lang="en-US" sz="1150" dirty="0">
                <a:solidFill>
                  <a:srgbClr val="DDF7EC"/>
                </a:solidFill>
                <a:latin typeface="Calibri" pitchFamily="34" charset="0"/>
                <a:ea typeface="Calibri" pitchFamily="34" charset="-122"/>
                <a:cs typeface="Calibri" pitchFamily="34" charset="-120"/>
              </a:rPr>
              <a:t>+18.5% vs FY2026 base year</a:t>
            </a:r>
            <a:endParaRPr lang="en-US" sz="1150" dirty="0"/>
          </a:p>
        </p:txBody>
      </p:sp>
      <p:sp>
        <p:nvSpPr>
          <p:cNvPr id="10" name="Shape 8"/>
          <p:cNvSpPr/>
          <p:nvPr/>
        </p:nvSpPr>
        <p:spPr>
          <a:xfrm>
            <a:off x="3390824" y="1600200"/>
            <a:ext cx="2567864" cy="1508760"/>
          </a:xfrm>
          <a:prstGeom prst="roundRect">
            <a:avLst>
              <a:gd name="adj" fmla="val 9697"/>
            </a:avLst>
          </a:prstGeom>
          <a:solidFill>
            <a:srgbClr val="121A17"/>
          </a:solidFill>
          <a:ln w="9525">
            <a:solidFill>
              <a:srgbClr val="26332E"/>
            </a:solidFill>
            <a:prstDash val="solid"/>
          </a:ln>
        </p:spPr>
      </p:sp>
      <p:sp>
        <p:nvSpPr>
          <p:cNvPr id="11" name="Text 9"/>
          <p:cNvSpPr txBox="1"/>
          <p:nvPr/>
        </p:nvSpPr>
        <p:spPr>
          <a:xfrm>
            <a:off x="3619424" y="1783080"/>
            <a:ext cx="2110664" cy="27432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Operating profit</a:t>
            </a:r>
            <a:endParaRPr lang="en-US" sz="1200" dirty="0"/>
          </a:p>
        </p:txBody>
      </p:sp>
      <p:sp>
        <p:nvSpPr>
          <p:cNvPr id="12" name="Text 10"/>
          <p:cNvSpPr txBox="1"/>
          <p:nvPr/>
        </p:nvSpPr>
        <p:spPr>
          <a:xfrm>
            <a:off x="3619424" y="2057400"/>
            <a:ext cx="2110664" cy="640080"/>
          </a:xfrm>
          <a:prstGeom prst="rect">
            <a:avLst/>
          </a:prstGeom>
          <a:noFill/>
          <a:ln/>
        </p:spPr>
        <p:txBody>
          <a:bodyPr wrap="square" lIns="0" tIns="0" rIns="0" bIns="0" rtlCol="0" anchor="ctr"/>
          <a:lstStyle/>
          <a:p>
            <a:pPr indent="0" marL="0">
              <a:buNone/>
            </a:pPr>
            <a:r>
              <a:rPr lang="en-US" sz="3400" b="1" dirty="0">
                <a:solidFill>
                  <a:srgbClr val="EEF5F1"/>
                </a:solidFill>
                <a:latin typeface="Calibri" pitchFamily="34" charset="0"/>
                <a:ea typeface="Calibri" pitchFamily="34" charset="-122"/>
                <a:cs typeface="Calibri" pitchFamily="34" charset="-120"/>
              </a:rPr>
              <a:t>$406.0m</a:t>
            </a:r>
            <a:endParaRPr lang="en-US" sz="3400" dirty="0"/>
          </a:p>
        </p:txBody>
      </p:sp>
      <p:sp>
        <p:nvSpPr>
          <p:cNvPr id="13" name="Text 11"/>
          <p:cNvSpPr txBox="1"/>
          <p:nvPr/>
        </p:nvSpPr>
        <p:spPr>
          <a:xfrm>
            <a:off x="3619424" y="2697480"/>
            <a:ext cx="2110664" cy="274320"/>
          </a:xfrm>
          <a:prstGeom prst="rect">
            <a:avLst/>
          </a:prstGeom>
          <a:noFill/>
          <a:ln/>
        </p:spPr>
        <p:txBody>
          <a:bodyPr wrap="square" lIns="0" tIns="0" rIns="0" bIns="0" rtlCol="0" anchor="ctr"/>
          <a:lstStyle/>
          <a:p>
            <a:pPr indent="0" marL="0">
              <a:buNone/>
            </a:pPr>
            <a:r>
              <a:rPr lang="en-US" sz="1150" dirty="0">
                <a:solidFill>
                  <a:srgbClr val="7C8F86"/>
                </a:solidFill>
                <a:latin typeface="Calibri" pitchFamily="34" charset="0"/>
                <a:ea typeface="Calibri" pitchFamily="34" charset="-122"/>
                <a:cs typeface="Calibri" pitchFamily="34" charset="-120"/>
              </a:rPr>
              <a:t>34.3% margin</a:t>
            </a:r>
            <a:endParaRPr lang="en-US" sz="1150" dirty="0"/>
          </a:p>
        </p:txBody>
      </p:sp>
      <p:sp>
        <p:nvSpPr>
          <p:cNvPr id="14" name="Shape 12"/>
          <p:cNvSpPr/>
          <p:nvPr/>
        </p:nvSpPr>
        <p:spPr>
          <a:xfrm>
            <a:off x="6233008" y="1600200"/>
            <a:ext cx="2567864" cy="1508760"/>
          </a:xfrm>
          <a:prstGeom prst="roundRect">
            <a:avLst>
              <a:gd name="adj" fmla="val 9697"/>
            </a:avLst>
          </a:prstGeom>
          <a:solidFill>
            <a:srgbClr val="121A17"/>
          </a:solidFill>
          <a:ln w="9525">
            <a:solidFill>
              <a:srgbClr val="26332E"/>
            </a:solidFill>
            <a:prstDash val="solid"/>
          </a:ln>
        </p:spPr>
      </p:sp>
      <p:sp>
        <p:nvSpPr>
          <p:cNvPr id="15" name="Text 13"/>
          <p:cNvSpPr txBox="1"/>
          <p:nvPr/>
        </p:nvSpPr>
        <p:spPr>
          <a:xfrm>
            <a:off x="6461608" y="1783080"/>
            <a:ext cx="2110664" cy="27432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Free cash flow</a:t>
            </a:r>
            <a:endParaRPr lang="en-US" sz="1200" dirty="0"/>
          </a:p>
        </p:txBody>
      </p:sp>
      <p:sp>
        <p:nvSpPr>
          <p:cNvPr id="16" name="Text 14"/>
          <p:cNvSpPr txBox="1"/>
          <p:nvPr/>
        </p:nvSpPr>
        <p:spPr>
          <a:xfrm>
            <a:off x="6461608" y="2057400"/>
            <a:ext cx="2110664" cy="640080"/>
          </a:xfrm>
          <a:prstGeom prst="rect">
            <a:avLst/>
          </a:prstGeom>
          <a:noFill/>
          <a:ln/>
        </p:spPr>
        <p:txBody>
          <a:bodyPr wrap="square" lIns="0" tIns="0" rIns="0" bIns="0" rtlCol="0" anchor="ctr"/>
          <a:lstStyle/>
          <a:p>
            <a:pPr indent="0" marL="0">
              <a:buNone/>
            </a:pPr>
            <a:r>
              <a:rPr lang="en-US" sz="3400" b="1" dirty="0">
                <a:solidFill>
                  <a:srgbClr val="EEF5F1"/>
                </a:solidFill>
                <a:latin typeface="Calibri" pitchFamily="34" charset="0"/>
                <a:ea typeface="Calibri" pitchFamily="34" charset="-122"/>
                <a:cs typeface="Calibri" pitchFamily="34" charset="-120"/>
              </a:rPr>
              <a:t>$325.1m</a:t>
            </a:r>
            <a:endParaRPr lang="en-US" sz="3400" dirty="0"/>
          </a:p>
        </p:txBody>
      </p:sp>
      <p:sp>
        <p:nvSpPr>
          <p:cNvPr id="17" name="Text 15"/>
          <p:cNvSpPr txBox="1"/>
          <p:nvPr/>
        </p:nvSpPr>
        <p:spPr>
          <a:xfrm>
            <a:off x="6461608" y="2697480"/>
            <a:ext cx="2110664" cy="274320"/>
          </a:xfrm>
          <a:prstGeom prst="rect">
            <a:avLst/>
          </a:prstGeom>
          <a:noFill/>
          <a:ln/>
        </p:spPr>
        <p:txBody>
          <a:bodyPr wrap="square" lIns="0" tIns="0" rIns="0" bIns="0" rtlCol="0" anchor="ctr"/>
          <a:lstStyle/>
          <a:p>
            <a:pPr indent="0" marL="0">
              <a:buNone/>
            </a:pPr>
            <a:r>
              <a:rPr lang="en-US" sz="1150" dirty="0">
                <a:solidFill>
                  <a:srgbClr val="7C8F86"/>
                </a:solidFill>
                <a:latin typeface="Calibri" pitchFamily="34" charset="0"/>
                <a:ea typeface="Calibri" pitchFamily="34" charset="-122"/>
                <a:cs typeface="Calibri" pitchFamily="34" charset="-120"/>
              </a:rPr>
              <a:t>27.4% of revenue</a:t>
            </a:r>
            <a:endParaRPr lang="en-US" sz="1150" dirty="0"/>
          </a:p>
        </p:txBody>
      </p:sp>
      <p:sp>
        <p:nvSpPr>
          <p:cNvPr id="18" name="Shape 16"/>
          <p:cNvSpPr/>
          <p:nvPr/>
        </p:nvSpPr>
        <p:spPr>
          <a:xfrm>
            <a:off x="9075191" y="1600200"/>
            <a:ext cx="2567864" cy="1508760"/>
          </a:xfrm>
          <a:prstGeom prst="roundRect">
            <a:avLst>
              <a:gd name="adj" fmla="val 9697"/>
            </a:avLst>
          </a:prstGeom>
          <a:solidFill>
            <a:srgbClr val="121A17"/>
          </a:solidFill>
          <a:ln w="9525">
            <a:solidFill>
              <a:srgbClr val="26332E"/>
            </a:solidFill>
            <a:prstDash val="solid"/>
          </a:ln>
        </p:spPr>
      </p:sp>
      <p:sp>
        <p:nvSpPr>
          <p:cNvPr id="19" name="Text 17"/>
          <p:cNvSpPr txBox="1"/>
          <p:nvPr/>
        </p:nvSpPr>
        <p:spPr>
          <a:xfrm>
            <a:off x="9303791" y="1783080"/>
            <a:ext cx="2110664" cy="27432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YTD op. profit vs budget</a:t>
            </a:r>
            <a:endParaRPr lang="en-US" sz="1200" dirty="0"/>
          </a:p>
        </p:txBody>
      </p:sp>
      <p:sp>
        <p:nvSpPr>
          <p:cNvPr id="20" name="Text 18"/>
          <p:cNvSpPr txBox="1"/>
          <p:nvPr/>
        </p:nvSpPr>
        <p:spPr>
          <a:xfrm>
            <a:off x="9303791" y="2057400"/>
            <a:ext cx="2110664" cy="640080"/>
          </a:xfrm>
          <a:prstGeom prst="rect">
            <a:avLst/>
          </a:prstGeom>
          <a:noFill/>
          <a:ln/>
        </p:spPr>
        <p:txBody>
          <a:bodyPr wrap="square" lIns="0" tIns="0" rIns="0" bIns="0" rtlCol="0" anchor="ctr"/>
          <a:lstStyle/>
          <a:p>
            <a:pPr indent="0" marL="0">
              <a:buNone/>
            </a:pPr>
            <a:r>
              <a:rPr lang="en-US" sz="3400" b="1" dirty="0">
                <a:solidFill>
                  <a:srgbClr val="CDF56E"/>
                </a:solidFill>
                <a:latin typeface="Calibri" pitchFamily="34" charset="0"/>
                <a:ea typeface="Calibri" pitchFamily="34" charset="-122"/>
                <a:cs typeface="Calibri" pitchFamily="34" charset="-120"/>
              </a:rPr>
              <a:t>+$7.8m</a:t>
            </a:r>
            <a:endParaRPr lang="en-US" sz="3400" dirty="0"/>
          </a:p>
        </p:txBody>
      </p:sp>
      <p:sp>
        <p:nvSpPr>
          <p:cNvPr id="21" name="Text 19"/>
          <p:cNvSpPr txBox="1"/>
          <p:nvPr/>
        </p:nvSpPr>
        <p:spPr>
          <a:xfrm>
            <a:off x="9303791" y="2697480"/>
            <a:ext cx="2110664" cy="274320"/>
          </a:xfrm>
          <a:prstGeom prst="rect">
            <a:avLst/>
          </a:prstGeom>
          <a:noFill/>
          <a:ln/>
        </p:spPr>
        <p:txBody>
          <a:bodyPr wrap="square" lIns="0" tIns="0" rIns="0" bIns="0" rtlCol="0" anchor="ctr"/>
          <a:lstStyle/>
          <a:p>
            <a:pPr indent="0" marL="0">
              <a:buNone/>
            </a:pPr>
            <a:r>
              <a:rPr lang="en-US" sz="1150" dirty="0">
                <a:solidFill>
                  <a:srgbClr val="7C8F86"/>
                </a:solidFill>
                <a:latin typeface="Calibri" pitchFamily="34" charset="0"/>
                <a:ea typeface="Calibri" pitchFamily="34" charset="-122"/>
                <a:cs typeface="Calibri" pitchFamily="34" charset="-120"/>
              </a:rPr>
              <a:t>+4.8% · Apr–Aug actuals</a:t>
            </a:r>
            <a:endParaRPr lang="en-US" sz="1150" dirty="0"/>
          </a:p>
        </p:txBody>
      </p:sp>
      <p:sp>
        <p:nvSpPr>
          <p:cNvPr id="22" name="Shape 20"/>
          <p:cNvSpPr/>
          <p:nvPr/>
        </p:nvSpPr>
        <p:spPr>
          <a:xfrm>
            <a:off x="548640" y="3429000"/>
            <a:ext cx="11094415" cy="777240"/>
          </a:xfrm>
          <a:prstGeom prst="roundRect">
            <a:avLst>
              <a:gd name="adj" fmla="val 18824"/>
            </a:avLst>
          </a:prstGeom>
          <a:solidFill>
            <a:srgbClr val="121A17"/>
          </a:solidFill>
          <a:ln w="9525">
            <a:solidFill>
              <a:srgbClr val="26332E"/>
            </a:solidFill>
            <a:prstDash val="solid"/>
          </a:ln>
        </p:spPr>
      </p:sp>
      <p:sp>
        <p:nvSpPr>
          <p:cNvPr id="23" name="Shape 21"/>
          <p:cNvSpPr/>
          <p:nvPr/>
        </p:nvSpPr>
        <p:spPr>
          <a:xfrm>
            <a:off x="822960" y="3739896"/>
            <a:ext cx="164592" cy="164592"/>
          </a:xfrm>
          <a:prstGeom prst="ellipse">
            <a:avLst/>
          </a:prstGeom>
          <a:solidFill>
            <a:srgbClr val="43C99A"/>
          </a:solidFill>
          <a:ln w="12700">
            <a:solidFill>
              <a:srgbClr val="43C99A"/>
            </a:solidFill>
            <a:prstDash val="solid"/>
          </a:ln>
        </p:spPr>
      </p:sp>
      <p:sp>
        <p:nvSpPr>
          <p:cNvPr id="24" name="Text 22"/>
          <p:cNvSpPr txBox="1"/>
          <p:nvPr/>
        </p:nvSpPr>
        <p:spPr>
          <a:xfrm>
            <a:off x="1188720" y="3538728"/>
            <a:ext cx="2651760" cy="548640"/>
          </a:xfrm>
          <a:prstGeom prst="rect">
            <a:avLst/>
          </a:prstGeom>
          <a:noFill/>
          <a:ln/>
        </p:spPr>
        <p:txBody>
          <a:bodyPr wrap="square" lIns="0" tIns="0" rIns="0" bIns="0" rtlCol="0" anchor="ctr"/>
          <a:lstStyle/>
          <a:p>
            <a:pPr indent="0" marL="0">
              <a:buNone/>
            </a:pPr>
            <a:r>
              <a:rPr lang="en-US" sz="1600" b="1" dirty="0">
                <a:solidFill>
                  <a:srgbClr val="EEF5F1"/>
                </a:solidFill>
                <a:latin typeface="Calibri" pitchFamily="34" charset="0"/>
                <a:ea typeface="Calibri" pitchFamily="34" charset="-122"/>
                <a:cs typeface="Calibri" pitchFamily="34" charset="-120"/>
              </a:rPr>
              <a:t>Ahead of budget</a:t>
            </a:r>
            <a:endParaRPr lang="en-US" sz="1600" dirty="0"/>
          </a:p>
        </p:txBody>
      </p:sp>
      <p:sp>
        <p:nvSpPr>
          <p:cNvPr id="25" name="Text 23"/>
          <p:cNvSpPr txBox="1"/>
          <p:nvPr/>
        </p:nvSpPr>
        <p:spPr>
          <a:xfrm>
            <a:off x="3840480" y="3502152"/>
            <a:ext cx="7573975" cy="640080"/>
          </a:xfrm>
          <a:prstGeom prst="rect">
            <a:avLst/>
          </a:prstGeom>
          <a:noFill/>
          <a:ln/>
        </p:spPr>
        <p:txBody>
          <a:bodyPr wrap="square" lIns="0" tIns="0" rIns="0" bIns="0" rtlCol="0" anchor="ctr"/>
          <a:lstStyle/>
          <a:p>
            <a:pPr indent="0" marL="0">
              <a:buNone/>
            </a:pPr>
            <a:r>
              <a:rPr lang="en-US" sz="1350" dirty="0">
                <a:solidFill>
                  <a:srgbClr val="A9BAB2"/>
                </a:solidFill>
                <a:latin typeface="Calibri" pitchFamily="34" charset="0"/>
                <a:ea typeface="Calibri" pitchFamily="34" charset="-122"/>
                <a:cs typeface="Calibri" pitchFamily="34" charset="-120"/>
              </a:rPr>
              <a:t>YTD revenue +$17.0m (+3.5%). Mix toward FPGAs and MCUs more than offsets softer analog volume.</a:t>
            </a:r>
            <a:endParaRPr lang="en-US" sz="1350" dirty="0"/>
          </a:p>
        </p:txBody>
      </p:sp>
      <p:sp>
        <p:nvSpPr>
          <p:cNvPr id="26" name="Shape 24"/>
          <p:cNvSpPr/>
          <p:nvPr/>
        </p:nvSpPr>
        <p:spPr>
          <a:xfrm>
            <a:off x="548640" y="4343400"/>
            <a:ext cx="11094415" cy="777240"/>
          </a:xfrm>
          <a:prstGeom prst="roundRect">
            <a:avLst>
              <a:gd name="adj" fmla="val 18824"/>
            </a:avLst>
          </a:prstGeom>
          <a:solidFill>
            <a:srgbClr val="121A17"/>
          </a:solidFill>
          <a:ln w="9525">
            <a:solidFill>
              <a:srgbClr val="26332E"/>
            </a:solidFill>
            <a:prstDash val="solid"/>
          </a:ln>
        </p:spPr>
      </p:sp>
      <p:sp>
        <p:nvSpPr>
          <p:cNvPr id="27" name="Shape 25"/>
          <p:cNvSpPr/>
          <p:nvPr/>
        </p:nvSpPr>
        <p:spPr>
          <a:xfrm>
            <a:off x="822960" y="4654296"/>
            <a:ext cx="164592" cy="164592"/>
          </a:xfrm>
          <a:prstGeom prst="ellipse">
            <a:avLst/>
          </a:prstGeom>
          <a:solidFill>
            <a:srgbClr val="F2C14E"/>
          </a:solidFill>
          <a:ln w="12700">
            <a:solidFill>
              <a:srgbClr val="F2C14E"/>
            </a:solidFill>
            <a:prstDash val="solid"/>
          </a:ln>
        </p:spPr>
      </p:sp>
      <p:sp>
        <p:nvSpPr>
          <p:cNvPr id="28" name="Text 26"/>
          <p:cNvSpPr txBox="1"/>
          <p:nvPr/>
        </p:nvSpPr>
        <p:spPr>
          <a:xfrm>
            <a:off x="1188720" y="4453128"/>
            <a:ext cx="2651760" cy="548640"/>
          </a:xfrm>
          <a:prstGeom prst="rect">
            <a:avLst/>
          </a:prstGeom>
          <a:noFill/>
          <a:ln/>
        </p:spPr>
        <p:txBody>
          <a:bodyPr wrap="square" lIns="0" tIns="0" rIns="0" bIns="0" rtlCol="0" anchor="ctr"/>
          <a:lstStyle/>
          <a:p>
            <a:pPr indent="0" marL="0">
              <a:buNone/>
            </a:pPr>
            <a:r>
              <a:rPr lang="en-US" sz="1600" b="1" dirty="0">
                <a:solidFill>
                  <a:srgbClr val="EEF5F1"/>
                </a:solidFill>
                <a:latin typeface="Calibri" pitchFamily="34" charset="0"/>
                <a:ea typeface="Calibri" pitchFamily="34" charset="-122"/>
                <a:cs typeface="Calibri" pitchFamily="34" charset="-120"/>
              </a:rPr>
              <a:t>FPGA is the bottleneck</a:t>
            </a:r>
            <a:endParaRPr lang="en-US" sz="1600" dirty="0"/>
          </a:p>
        </p:txBody>
      </p:sp>
      <p:sp>
        <p:nvSpPr>
          <p:cNvPr id="29" name="Text 27"/>
          <p:cNvSpPr txBox="1"/>
          <p:nvPr/>
        </p:nvSpPr>
        <p:spPr>
          <a:xfrm>
            <a:off x="3840480" y="4416552"/>
            <a:ext cx="7573975" cy="640080"/>
          </a:xfrm>
          <a:prstGeom prst="rect">
            <a:avLst/>
          </a:prstGeom>
          <a:noFill/>
          <a:ln/>
        </p:spPr>
        <p:txBody>
          <a:bodyPr wrap="square" lIns="0" tIns="0" rIns="0" bIns="0" rtlCol="0" anchor="ctr"/>
          <a:lstStyle/>
          <a:p>
            <a:pPr indent="0" marL="0">
              <a:buNone/>
            </a:pPr>
            <a:r>
              <a:rPr lang="en-US" sz="1350" dirty="0">
                <a:solidFill>
                  <a:srgbClr val="A9BAB2"/>
                </a:solidFill>
                <a:latin typeface="Calibri" pitchFamily="34" charset="0"/>
                <a:ea typeface="Calibri" pitchFamily="34" charset="-122"/>
                <a:cs typeface="Calibri" pitchFamily="34" charset="-120"/>
              </a:rPr>
              <a:t>FPGA yield 82.0% vs 85.0% plan; testers already at 88% utilization, and demand reaches 0.89× of full-load good output.</a:t>
            </a:r>
            <a:endParaRPr lang="en-US" sz="1350" dirty="0"/>
          </a:p>
        </p:txBody>
      </p:sp>
      <p:sp>
        <p:nvSpPr>
          <p:cNvPr id="30" name="Shape 28"/>
          <p:cNvSpPr/>
          <p:nvPr/>
        </p:nvSpPr>
        <p:spPr>
          <a:xfrm>
            <a:off x="548640" y="5257800"/>
            <a:ext cx="11094415" cy="777240"/>
          </a:xfrm>
          <a:prstGeom prst="roundRect">
            <a:avLst>
              <a:gd name="adj" fmla="val 18824"/>
            </a:avLst>
          </a:prstGeom>
          <a:solidFill>
            <a:srgbClr val="121A17"/>
          </a:solidFill>
          <a:ln w="9525">
            <a:solidFill>
              <a:srgbClr val="26332E"/>
            </a:solidFill>
            <a:prstDash val="solid"/>
          </a:ln>
        </p:spPr>
      </p:sp>
      <p:sp>
        <p:nvSpPr>
          <p:cNvPr id="31" name="Shape 29"/>
          <p:cNvSpPr/>
          <p:nvPr/>
        </p:nvSpPr>
        <p:spPr>
          <a:xfrm>
            <a:off x="822960" y="5568696"/>
            <a:ext cx="164592" cy="164592"/>
          </a:xfrm>
          <a:prstGeom prst="ellipse">
            <a:avLst/>
          </a:prstGeom>
          <a:solidFill>
            <a:srgbClr val="A497FF"/>
          </a:solidFill>
          <a:ln w="12700">
            <a:solidFill>
              <a:srgbClr val="A497FF"/>
            </a:solidFill>
            <a:prstDash val="solid"/>
          </a:ln>
        </p:spPr>
      </p:sp>
      <p:sp>
        <p:nvSpPr>
          <p:cNvPr id="32" name="Text 30"/>
          <p:cNvSpPr txBox="1"/>
          <p:nvPr/>
        </p:nvSpPr>
        <p:spPr>
          <a:xfrm>
            <a:off x="1188720" y="5367528"/>
            <a:ext cx="2651760" cy="548640"/>
          </a:xfrm>
          <a:prstGeom prst="rect">
            <a:avLst/>
          </a:prstGeom>
          <a:noFill/>
          <a:ln/>
        </p:spPr>
        <p:txBody>
          <a:bodyPr wrap="square" lIns="0" tIns="0" rIns="0" bIns="0" rtlCol="0" anchor="ctr"/>
          <a:lstStyle/>
          <a:p>
            <a:pPr indent="0" marL="0">
              <a:buNone/>
            </a:pPr>
            <a:r>
              <a:rPr lang="en-US" sz="1600" b="1" dirty="0">
                <a:solidFill>
                  <a:srgbClr val="EEF5F1"/>
                </a:solidFill>
                <a:latin typeface="Calibri" pitchFamily="34" charset="0"/>
                <a:ea typeface="Calibri" pitchFamily="34" charset="-122"/>
                <a:cs typeface="Calibri" pitchFamily="34" charset="-120"/>
              </a:rPr>
              <a:t>Capital request</a:t>
            </a:r>
            <a:endParaRPr lang="en-US" sz="1600" dirty="0"/>
          </a:p>
        </p:txBody>
      </p:sp>
      <p:sp>
        <p:nvSpPr>
          <p:cNvPr id="33" name="Text 31"/>
          <p:cNvSpPr txBox="1"/>
          <p:nvPr/>
        </p:nvSpPr>
        <p:spPr>
          <a:xfrm>
            <a:off x="3840480" y="5330952"/>
            <a:ext cx="7573975" cy="640080"/>
          </a:xfrm>
          <a:prstGeom prst="rect">
            <a:avLst/>
          </a:prstGeom>
          <a:noFill/>
          <a:ln/>
        </p:spPr>
        <p:txBody>
          <a:bodyPr wrap="square" lIns="0" tIns="0" rIns="0" bIns="0" rtlCol="0" anchor="ctr"/>
          <a:lstStyle/>
          <a:p>
            <a:pPr indent="0" marL="0">
              <a:buNone/>
            </a:pPr>
            <a:r>
              <a:rPr lang="en-US" sz="1350" dirty="0">
                <a:solidFill>
                  <a:srgbClr val="A9BAB2"/>
                </a:solidFill>
                <a:latin typeface="Calibri" pitchFamily="34" charset="0"/>
                <a:ea typeface="Calibri" pitchFamily="34" charset="-122"/>
                <a:cs typeface="Calibri" pitchFamily="34" charset="-120"/>
              </a:rPr>
              <a:t>Approve the $27.0m FPGA test platform with a demand checkpoint: Base NPV $69.9m, IRR 46.5%, payback 3.1 years. It fails in Downside (NPV −$14.1m).</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200" kern="0" dirty="0">
                <a:solidFill>
                  <a:srgbClr val="43C99A"/>
                </a:solidFill>
                <a:latin typeface="Calibri" pitchFamily="34" charset="0"/>
                <a:ea typeface="Calibri" pitchFamily="34" charset="-122"/>
                <a:cs typeface="Calibri" pitchFamily="34" charset="-120"/>
              </a:rPr>
              <a:t>HOW THE MODEL WORKS</a:t>
            </a:r>
            <a:endParaRPr lang="en-US" sz="1100" dirty="0"/>
          </a:p>
        </p:txBody>
      </p:sp>
      <p:sp>
        <p:nvSpPr>
          <p:cNvPr id="3" name="Text 1"/>
          <p:cNvSpPr txBox="1"/>
          <p:nvPr/>
        </p:nvSpPr>
        <p:spPr>
          <a:xfrm>
            <a:off x="548640" y="621792"/>
            <a:ext cx="11094415" cy="822960"/>
          </a:xfrm>
          <a:prstGeom prst="rect">
            <a:avLst/>
          </a:prstGeom>
          <a:noFill/>
          <a:ln/>
        </p:spPr>
        <p:txBody>
          <a:bodyPr wrap="square" lIns="0" tIns="0" rIns="0" bIns="0" rtlCol="0" anchor="t"/>
          <a:lstStyle/>
          <a:p>
            <a:pPr indent="0" marL="0">
              <a:buNone/>
            </a:pPr>
            <a:r>
              <a:rPr lang="en-US" sz="3000" b="1" dirty="0">
                <a:solidFill>
                  <a:srgbClr val="EEF5F1"/>
                </a:solidFill>
                <a:latin typeface="Calibri" pitchFamily="34" charset="0"/>
                <a:ea typeface="Calibri" pitchFamily="34" charset="-122"/>
                <a:cs typeface="Calibri" pitchFamily="34" charset="-120"/>
              </a:rPr>
              <a:t>One linked model: engineering drivers flow to cash and decisions</a:t>
            </a:r>
            <a:endParaRPr lang="en-US" sz="3000" dirty="0"/>
          </a:p>
        </p:txBody>
      </p:sp>
      <p:sp>
        <p:nvSpPr>
          <p:cNvPr id="4" name="Text 2"/>
          <p:cNvSpPr txBox="1"/>
          <p:nvPr/>
        </p:nvSpPr>
        <p:spPr>
          <a:xfrm>
            <a:off x="548640" y="6446520"/>
            <a:ext cx="9601200" cy="228600"/>
          </a:xfrm>
          <a:prstGeom prst="rect">
            <a:avLst/>
          </a:prstGeom>
          <a:noFill/>
          <a:ln/>
        </p:spPr>
        <p:txBody>
          <a:bodyPr wrap="square" lIns="0" tIns="0" rIns="0" bIns="0" rtlCol="0" anchor="ctr"/>
          <a:lstStyle/>
          <a:p>
            <a:pPr indent="0" marL="0">
              <a:buNone/>
            </a:pPr>
            <a:r>
              <a:rPr lang="en-US" sz="900" dirty="0">
                <a:solidFill>
                  <a:srgbClr val="7C8F86"/>
                </a:solidFill>
                <a:latin typeface="Calibri" pitchFamily="34" charset="0"/>
                <a:ea typeface="Calibri" pitchFamily="34" charset="-122"/>
                <a:cs typeface="Calibri" pitchFamily="34" charset="-120"/>
              </a:rPr>
              <a:t>Simulated data created for portfolio demonstration. It does not represent nonpublic Microchip Technology information.</a:t>
            </a:r>
            <a:endParaRPr lang="en-US" sz="900" dirty="0"/>
          </a:p>
        </p:txBody>
      </p:sp>
      <p:sp>
        <p:nvSpPr>
          <p:cNvPr id="5" name="Text 3"/>
          <p:cNvSpPr txBox="1"/>
          <p:nvPr/>
        </p:nvSpPr>
        <p:spPr>
          <a:xfrm>
            <a:off x="11094415" y="6446520"/>
            <a:ext cx="548640" cy="228600"/>
          </a:xfrm>
          <a:prstGeom prst="rect">
            <a:avLst/>
          </a:prstGeom>
          <a:noFill/>
          <a:ln/>
        </p:spPr>
        <p:txBody>
          <a:bodyPr wrap="square" lIns="0" tIns="0" rIns="0" bIns="0" rtlCol="0" anchor="ctr"/>
          <a:lstStyle/>
          <a:p>
            <a:pPr algn="r" indent="0" marL="0">
              <a:buNone/>
            </a:pPr>
            <a:r>
              <a:rPr lang="en-US" sz="900" dirty="0">
                <a:solidFill>
                  <a:srgbClr val="7C8F86"/>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548640" y="1691640"/>
            <a:ext cx="1938528" cy="1828800"/>
          </a:xfrm>
          <a:prstGeom prst="roundRect">
            <a:avLst>
              <a:gd name="adj" fmla="val 8000"/>
            </a:avLst>
          </a:prstGeom>
          <a:solidFill>
            <a:srgbClr val="18231F"/>
          </a:solidFill>
          <a:ln w="9525">
            <a:solidFill>
              <a:srgbClr val="26332E"/>
            </a:solidFill>
            <a:prstDash val="solid"/>
          </a:ln>
        </p:spPr>
      </p:sp>
      <p:sp>
        <p:nvSpPr>
          <p:cNvPr id="7" name="Text 5"/>
          <p:cNvSpPr txBox="1"/>
          <p:nvPr/>
        </p:nvSpPr>
        <p:spPr>
          <a:xfrm>
            <a:off x="749808" y="1874520"/>
            <a:ext cx="731520" cy="274320"/>
          </a:xfrm>
          <a:prstGeom prst="rect">
            <a:avLst/>
          </a:prstGeom>
          <a:noFill/>
          <a:ln/>
        </p:spPr>
        <p:txBody>
          <a:bodyPr wrap="square" lIns="0" tIns="0" rIns="0" bIns="0" rtlCol="0" anchor="ctr"/>
          <a:lstStyle/>
          <a:p>
            <a:pPr indent="0" marL="0">
              <a:buNone/>
            </a:pPr>
            <a:r>
              <a:rPr lang="en-US" sz="1200" b="1" dirty="0">
                <a:solidFill>
                  <a:srgbClr val="43C99A"/>
                </a:solidFill>
                <a:latin typeface="Calibri" pitchFamily="34" charset="0"/>
                <a:ea typeface="Calibri" pitchFamily="34" charset="-122"/>
                <a:cs typeface="Calibri" pitchFamily="34" charset="-120"/>
              </a:rPr>
              <a:t>01</a:t>
            </a:r>
            <a:endParaRPr lang="en-US" sz="1200" dirty="0"/>
          </a:p>
        </p:txBody>
      </p:sp>
      <p:sp>
        <p:nvSpPr>
          <p:cNvPr id="8" name="Text 6"/>
          <p:cNvSpPr txBox="1"/>
          <p:nvPr/>
        </p:nvSpPr>
        <p:spPr>
          <a:xfrm>
            <a:off x="749808" y="2148840"/>
            <a:ext cx="1536192" cy="365760"/>
          </a:xfrm>
          <a:prstGeom prst="rect">
            <a:avLst/>
          </a:prstGeom>
          <a:noFill/>
          <a:ln/>
        </p:spPr>
        <p:txBody>
          <a:bodyPr wrap="square" lIns="0" tIns="0" rIns="0" bIns="0" rtlCol="0" anchor="ctr"/>
          <a:lstStyle/>
          <a:p>
            <a:pPr indent="0" marL="0">
              <a:buNone/>
            </a:pPr>
            <a:r>
              <a:rPr lang="en-US" sz="1700" b="1" dirty="0">
                <a:solidFill>
                  <a:srgbClr val="EEF5F1"/>
                </a:solidFill>
                <a:latin typeface="Calibri" pitchFamily="34" charset="0"/>
                <a:ea typeface="Calibri" pitchFamily="34" charset="-122"/>
                <a:cs typeface="Calibri" pitchFamily="34" charset="-120"/>
              </a:rPr>
              <a:t>Drivers</a:t>
            </a:r>
            <a:endParaRPr lang="en-US" sz="1700" dirty="0"/>
          </a:p>
        </p:txBody>
      </p:sp>
      <p:sp>
        <p:nvSpPr>
          <p:cNvPr id="9" name="Text 7"/>
          <p:cNvSpPr txBox="1"/>
          <p:nvPr/>
        </p:nvSpPr>
        <p:spPr>
          <a:xfrm>
            <a:off x="749808" y="2560320"/>
            <a:ext cx="1536192" cy="868680"/>
          </a:xfrm>
          <a:prstGeom prst="rect">
            <a:avLst/>
          </a:prstGeom>
          <a:noFill/>
          <a:ln/>
        </p:spPr>
        <p:txBody>
          <a:bodyPr wrap="square" lIns="0" tIns="0" rIns="0" bIns="0" rtlCol="0" anchor="t"/>
          <a:lstStyle/>
          <a:p>
            <a:pPr indent="0" marL="0">
              <a:buNone/>
            </a:pPr>
            <a:r>
              <a:rPr lang="en-US" sz="1200" dirty="0">
                <a:solidFill>
                  <a:srgbClr val="A9BAB2"/>
                </a:solidFill>
                <a:latin typeface="Calibri" pitchFamily="34" charset="0"/>
                <a:ea typeface="Calibri" pitchFamily="34" charset="-122"/>
                <a:cs typeface="Calibri" pitchFamily="34" charset="-120"/>
              </a:rPr>
              <a:t>Demand, selling price, yield, utilization, material cost, opex, capex, tax</a:t>
            </a:r>
            <a:endParaRPr lang="en-US" sz="1200" dirty="0"/>
          </a:p>
        </p:txBody>
      </p:sp>
      <p:sp>
        <p:nvSpPr>
          <p:cNvPr id="10" name="Shape 8"/>
          <p:cNvSpPr/>
          <p:nvPr/>
        </p:nvSpPr>
        <p:spPr>
          <a:xfrm>
            <a:off x="2542032" y="2468880"/>
            <a:ext cx="201168" cy="274320"/>
          </a:xfrm>
          <a:prstGeom prst="rightArrow">
            <a:avLst/>
          </a:prstGeom>
          <a:solidFill>
            <a:srgbClr val="43C99A"/>
          </a:solidFill>
          <a:ln w="12700">
            <a:solidFill>
              <a:srgbClr val="43C99A"/>
            </a:solidFill>
            <a:prstDash val="solid"/>
          </a:ln>
        </p:spPr>
      </p:sp>
      <p:sp>
        <p:nvSpPr>
          <p:cNvPr id="11" name="Shape 9"/>
          <p:cNvSpPr/>
          <p:nvPr/>
        </p:nvSpPr>
        <p:spPr>
          <a:xfrm>
            <a:off x="2798064" y="1691640"/>
            <a:ext cx="1938528" cy="1828800"/>
          </a:xfrm>
          <a:prstGeom prst="roundRect">
            <a:avLst>
              <a:gd name="adj" fmla="val 8000"/>
            </a:avLst>
          </a:prstGeom>
          <a:solidFill>
            <a:srgbClr val="121A17"/>
          </a:solidFill>
          <a:ln w="9525">
            <a:solidFill>
              <a:srgbClr val="26332E"/>
            </a:solidFill>
            <a:prstDash val="solid"/>
          </a:ln>
        </p:spPr>
      </p:sp>
      <p:sp>
        <p:nvSpPr>
          <p:cNvPr id="12" name="Text 10"/>
          <p:cNvSpPr txBox="1"/>
          <p:nvPr/>
        </p:nvSpPr>
        <p:spPr>
          <a:xfrm>
            <a:off x="2999232" y="1874520"/>
            <a:ext cx="731520" cy="274320"/>
          </a:xfrm>
          <a:prstGeom prst="rect">
            <a:avLst/>
          </a:prstGeom>
          <a:noFill/>
          <a:ln/>
        </p:spPr>
        <p:txBody>
          <a:bodyPr wrap="square" lIns="0" tIns="0" rIns="0" bIns="0" rtlCol="0" anchor="ctr"/>
          <a:lstStyle/>
          <a:p>
            <a:pPr indent="0" marL="0">
              <a:buNone/>
            </a:pPr>
            <a:r>
              <a:rPr lang="en-US" sz="1200" b="1" dirty="0">
                <a:solidFill>
                  <a:srgbClr val="43C99A"/>
                </a:solidFill>
                <a:latin typeface="Calibri" pitchFamily="34" charset="0"/>
                <a:ea typeface="Calibri" pitchFamily="34" charset="-122"/>
                <a:cs typeface="Calibri" pitchFamily="34" charset="-120"/>
              </a:rPr>
              <a:t>02</a:t>
            </a:r>
            <a:endParaRPr lang="en-US" sz="1200" dirty="0"/>
          </a:p>
        </p:txBody>
      </p:sp>
      <p:sp>
        <p:nvSpPr>
          <p:cNvPr id="13" name="Text 11"/>
          <p:cNvSpPr txBox="1"/>
          <p:nvPr/>
        </p:nvSpPr>
        <p:spPr>
          <a:xfrm>
            <a:off x="2999232" y="2148840"/>
            <a:ext cx="1536192" cy="365760"/>
          </a:xfrm>
          <a:prstGeom prst="rect">
            <a:avLst/>
          </a:prstGeom>
          <a:noFill/>
          <a:ln/>
        </p:spPr>
        <p:txBody>
          <a:bodyPr wrap="square" lIns="0" tIns="0" rIns="0" bIns="0" rtlCol="0" anchor="ctr"/>
          <a:lstStyle/>
          <a:p>
            <a:pPr indent="0" marL="0">
              <a:buNone/>
            </a:pPr>
            <a:r>
              <a:rPr lang="en-US" sz="1700" b="1" dirty="0">
                <a:solidFill>
                  <a:srgbClr val="EEF5F1"/>
                </a:solidFill>
                <a:latin typeface="Calibri" pitchFamily="34" charset="0"/>
                <a:ea typeface="Calibri" pitchFamily="34" charset="-122"/>
                <a:cs typeface="Calibri" pitchFamily="34" charset="-120"/>
              </a:rPr>
              <a:t>Operating model</a:t>
            </a:r>
            <a:endParaRPr lang="en-US" sz="1700" dirty="0"/>
          </a:p>
        </p:txBody>
      </p:sp>
      <p:sp>
        <p:nvSpPr>
          <p:cNvPr id="14" name="Text 12"/>
          <p:cNvSpPr txBox="1"/>
          <p:nvPr/>
        </p:nvSpPr>
        <p:spPr>
          <a:xfrm>
            <a:off x="2999232" y="2560320"/>
            <a:ext cx="1536192" cy="868680"/>
          </a:xfrm>
          <a:prstGeom prst="rect">
            <a:avLst/>
          </a:prstGeom>
          <a:noFill/>
          <a:ln/>
        </p:spPr>
        <p:txBody>
          <a:bodyPr wrap="square" lIns="0" tIns="0" rIns="0" bIns="0" rtlCol="0" anchor="t"/>
          <a:lstStyle/>
          <a:p>
            <a:pPr indent="0" marL="0">
              <a:buNone/>
            </a:pPr>
            <a:r>
              <a:rPr lang="en-US" sz="1200" dirty="0">
                <a:solidFill>
                  <a:srgbClr val="A9BAB2"/>
                </a:solidFill>
                <a:latin typeface="Calibri" pitchFamily="34" charset="0"/>
                <a:ea typeface="Calibri" pitchFamily="34" charset="-122"/>
                <a:cs typeface="Calibri" pitchFamily="34" charset="-120"/>
              </a:rPr>
              <a:t>Units produced → good units → units sold; cost per good unit; inventory</a:t>
            </a:r>
            <a:endParaRPr lang="en-US" sz="1200" dirty="0"/>
          </a:p>
        </p:txBody>
      </p:sp>
      <p:sp>
        <p:nvSpPr>
          <p:cNvPr id="15" name="Shape 13"/>
          <p:cNvSpPr/>
          <p:nvPr/>
        </p:nvSpPr>
        <p:spPr>
          <a:xfrm>
            <a:off x="4791456" y="2468880"/>
            <a:ext cx="201168" cy="274320"/>
          </a:xfrm>
          <a:prstGeom prst="rightArrow">
            <a:avLst/>
          </a:prstGeom>
          <a:solidFill>
            <a:srgbClr val="43C99A"/>
          </a:solidFill>
          <a:ln w="12700">
            <a:solidFill>
              <a:srgbClr val="43C99A"/>
            </a:solidFill>
            <a:prstDash val="solid"/>
          </a:ln>
        </p:spPr>
      </p:sp>
      <p:sp>
        <p:nvSpPr>
          <p:cNvPr id="16" name="Shape 14"/>
          <p:cNvSpPr/>
          <p:nvPr/>
        </p:nvSpPr>
        <p:spPr>
          <a:xfrm>
            <a:off x="5047488" y="1691640"/>
            <a:ext cx="1938528" cy="1828800"/>
          </a:xfrm>
          <a:prstGeom prst="roundRect">
            <a:avLst>
              <a:gd name="adj" fmla="val 8000"/>
            </a:avLst>
          </a:prstGeom>
          <a:solidFill>
            <a:srgbClr val="121A17"/>
          </a:solidFill>
          <a:ln w="9525">
            <a:solidFill>
              <a:srgbClr val="26332E"/>
            </a:solidFill>
            <a:prstDash val="solid"/>
          </a:ln>
        </p:spPr>
      </p:sp>
      <p:sp>
        <p:nvSpPr>
          <p:cNvPr id="17" name="Text 15"/>
          <p:cNvSpPr txBox="1"/>
          <p:nvPr/>
        </p:nvSpPr>
        <p:spPr>
          <a:xfrm>
            <a:off x="5248656" y="1874520"/>
            <a:ext cx="731520" cy="274320"/>
          </a:xfrm>
          <a:prstGeom prst="rect">
            <a:avLst/>
          </a:prstGeom>
          <a:noFill/>
          <a:ln/>
        </p:spPr>
        <p:txBody>
          <a:bodyPr wrap="square" lIns="0" tIns="0" rIns="0" bIns="0" rtlCol="0" anchor="ctr"/>
          <a:lstStyle/>
          <a:p>
            <a:pPr indent="0" marL="0">
              <a:buNone/>
            </a:pPr>
            <a:r>
              <a:rPr lang="en-US" sz="1200" b="1" dirty="0">
                <a:solidFill>
                  <a:srgbClr val="43C99A"/>
                </a:solidFill>
                <a:latin typeface="Calibri" pitchFamily="34" charset="0"/>
                <a:ea typeface="Calibri" pitchFamily="34" charset="-122"/>
                <a:cs typeface="Calibri" pitchFamily="34" charset="-120"/>
              </a:rPr>
              <a:t>03</a:t>
            </a:r>
            <a:endParaRPr lang="en-US" sz="1200" dirty="0"/>
          </a:p>
        </p:txBody>
      </p:sp>
      <p:sp>
        <p:nvSpPr>
          <p:cNvPr id="18" name="Text 16"/>
          <p:cNvSpPr txBox="1"/>
          <p:nvPr/>
        </p:nvSpPr>
        <p:spPr>
          <a:xfrm>
            <a:off x="5248656" y="2148840"/>
            <a:ext cx="1536192" cy="365760"/>
          </a:xfrm>
          <a:prstGeom prst="rect">
            <a:avLst/>
          </a:prstGeom>
          <a:noFill/>
          <a:ln/>
        </p:spPr>
        <p:txBody>
          <a:bodyPr wrap="square" lIns="0" tIns="0" rIns="0" bIns="0" rtlCol="0" anchor="ctr"/>
          <a:lstStyle/>
          <a:p>
            <a:pPr indent="0" marL="0">
              <a:buNone/>
            </a:pPr>
            <a:r>
              <a:rPr lang="en-US" sz="1700" b="1" dirty="0">
                <a:solidFill>
                  <a:srgbClr val="EEF5F1"/>
                </a:solidFill>
                <a:latin typeface="Calibri" pitchFamily="34" charset="0"/>
                <a:ea typeface="Calibri" pitchFamily="34" charset="-122"/>
                <a:cs typeface="Calibri" pitchFamily="34" charset="-120"/>
              </a:rPr>
              <a:t>P&amp;L</a:t>
            </a:r>
            <a:endParaRPr lang="en-US" sz="1700" dirty="0"/>
          </a:p>
        </p:txBody>
      </p:sp>
      <p:sp>
        <p:nvSpPr>
          <p:cNvPr id="19" name="Text 17"/>
          <p:cNvSpPr txBox="1"/>
          <p:nvPr/>
        </p:nvSpPr>
        <p:spPr>
          <a:xfrm>
            <a:off x="5248656" y="2560320"/>
            <a:ext cx="1536192" cy="868680"/>
          </a:xfrm>
          <a:prstGeom prst="rect">
            <a:avLst/>
          </a:prstGeom>
          <a:noFill/>
          <a:ln/>
        </p:spPr>
        <p:txBody>
          <a:bodyPr wrap="square" lIns="0" tIns="0" rIns="0" bIns="0" rtlCol="0" anchor="t"/>
          <a:lstStyle/>
          <a:p>
            <a:pPr indent="0" marL="0">
              <a:buNone/>
            </a:pPr>
            <a:r>
              <a:rPr lang="en-US" sz="1200" dirty="0">
                <a:solidFill>
                  <a:srgbClr val="A9BAB2"/>
                </a:solidFill>
                <a:latin typeface="Calibri" pitchFamily="34" charset="0"/>
                <a:ea typeface="Calibri" pitchFamily="34" charset="-122"/>
                <a:cs typeface="Calibri" pitchFamily="34" charset="-120"/>
              </a:rPr>
              <a:t>Revenue, cost of revenue, gross profit, R&amp;D, SG&amp;A, operating profit</a:t>
            </a:r>
            <a:endParaRPr lang="en-US" sz="1200" dirty="0"/>
          </a:p>
        </p:txBody>
      </p:sp>
      <p:sp>
        <p:nvSpPr>
          <p:cNvPr id="20" name="Shape 18"/>
          <p:cNvSpPr/>
          <p:nvPr/>
        </p:nvSpPr>
        <p:spPr>
          <a:xfrm>
            <a:off x="7040880" y="2468880"/>
            <a:ext cx="201168" cy="274320"/>
          </a:xfrm>
          <a:prstGeom prst="rightArrow">
            <a:avLst/>
          </a:prstGeom>
          <a:solidFill>
            <a:srgbClr val="43C99A"/>
          </a:solidFill>
          <a:ln w="12700">
            <a:solidFill>
              <a:srgbClr val="43C99A"/>
            </a:solidFill>
            <a:prstDash val="solid"/>
          </a:ln>
        </p:spPr>
      </p:sp>
      <p:sp>
        <p:nvSpPr>
          <p:cNvPr id="21" name="Shape 19"/>
          <p:cNvSpPr/>
          <p:nvPr/>
        </p:nvSpPr>
        <p:spPr>
          <a:xfrm>
            <a:off x="7296912" y="1691640"/>
            <a:ext cx="1938528" cy="1828800"/>
          </a:xfrm>
          <a:prstGeom prst="roundRect">
            <a:avLst>
              <a:gd name="adj" fmla="val 8000"/>
            </a:avLst>
          </a:prstGeom>
          <a:solidFill>
            <a:srgbClr val="121A17"/>
          </a:solidFill>
          <a:ln w="9525">
            <a:solidFill>
              <a:srgbClr val="26332E"/>
            </a:solidFill>
            <a:prstDash val="solid"/>
          </a:ln>
        </p:spPr>
      </p:sp>
      <p:sp>
        <p:nvSpPr>
          <p:cNvPr id="22" name="Text 20"/>
          <p:cNvSpPr txBox="1"/>
          <p:nvPr/>
        </p:nvSpPr>
        <p:spPr>
          <a:xfrm>
            <a:off x="7498080" y="1874520"/>
            <a:ext cx="731520" cy="274320"/>
          </a:xfrm>
          <a:prstGeom prst="rect">
            <a:avLst/>
          </a:prstGeom>
          <a:noFill/>
          <a:ln/>
        </p:spPr>
        <p:txBody>
          <a:bodyPr wrap="square" lIns="0" tIns="0" rIns="0" bIns="0" rtlCol="0" anchor="ctr"/>
          <a:lstStyle/>
          <a:p>
            <a:pPr indent="0" marL="0">
              <a:buNone/>
            </a:pPr>
            <a:r>
              <a:rPr lang="en-US" sz="1200" b="1" dirty="0">
                <a:solidFill>
                  <a:srgbClr val="43C99A"/>
                </a:solidFill>
                <a:latin typeface="Calibri" pitchFamily="34" charset="0"/>
                <a:ea typeface="Calibri" pitchFamily="34" charset="-122"/>
                <a:cs typeface="Calibri" pitchFamily="34" charset="-120"/>
              </a:rPr>
              <a:t>04</a:t>
            </a:r>
            <a:endParaRPr lang="en-US" sz="1200" dirty="0"/>
          </a:p>
        </p:txBody>
      </p:sp>
      <p:sp>
        <p:nvSpPr>
          <p:cNvPr id="23" name="Text 21"/>
          <p:cNvSpPr txBox="1"/>
          <p:nvPr/>
        </p:nvSpPr>
        <p:spPr>
          <a:xfrm>
            <a:off x="7498080" y="2148840"/>
            <a:ext cx="1536192" cy="365760"/>
          </a:xfrm>
          <a:prstGeom prst="rect">
            <a:avLst/>
          </a:prstGeom>
          <a:noFill/>
          <a:ln/>
        </p:spPr>
        <p:txBody>
          <a:bodyPr wrap="square" lIns="0" tIns="0" rIns="0" bIns="0" rtlCol="0" anchor="ctr"/>
          <a:lstStyle/>
          <a:p>
            <a:pPr indent="0" marL="0">
              <a:buNone/>
            </a:pPr>
            <a:r>
              <a:rPr lang="en-US" sz="1700" b="1" dirty="0">
                <a:solidFill>
                  <a:srgbClr val="EEF5F1"/>
                </a:solidFill>
                <a:latin typeface="Calibri" pitchFamily="34" charset="0"/>
                <a:ea typeface="Calibri" pitchFamily="34" charset="-122"/>
                <a:cs typeface="Calibri" pitchFamily="34" charset="-120"/>
              </a:rPr>
              <a:t>Cash flow</a:t>
            </a:r>
            <a:endParaRPr lang="en-US" sz="1700" dirty="0"/>
          </a:p>
        </p:txBody>
      </p:sp>
      <p:sp>
        <p:nvSpPr>
          <p:cNvPr id="24" name="Text 22"/>
          <p:cNvSpPr txBox="1"/>
          <p:nvPr/>
        </p:nvSpPr>
        <p:spPr>
          <a:xfrm>
            <a:off x="7498080" y="2560320"/>
            <a:ext cx="1536192" cy="868680"/>
          </a:xfrm>
          <a:prstGeom prst="rect">
            <a:avLst/>
          </a:prstGeom>
          <a:noFill/>
          <a:ln/>
        </p:spPr>
        <p:txBody>
          <a:bodyPr wrap="square" lIns="0" tIns="0" rIns="0" bIns="0" rtlCol="0" anchor="t"/>
          <a:lstStyle/>
          <a:p>
            <a:pPr indent="0" marL="0">
              <a:buNone/>
            </a:pPr>
            <a:r>
              <a:rPr lang="en-US" sz="1200" dirty="0">
                <a:solidFill>
                  <a:srgbClr val="A9BAB2"/>
                </a:solidFill>
                <a:latin typeface="Calibri" pitchFamily="34" charset="0"/>
                <a:ea typeface="Calibri" pitchFamily="34" charset="-122"/>
                <a:cs typeface="Calibri" pitchFamily="34" charset="-120"/>
              </a:rPr>
              <a:t>Depreciation, working capital, capex → free cash flow</a:t>
            </a:r>
            <a:endParaRPr lang="en-US" sz="1200" dirty="0"/>
          </a:p>
        </p:txBody>
      </p:sp>
      <p:sp>
        <p:nvSpPr>
          <p:cNvPr id="25" name="Shape 23"/>
          <p:cNvSpPr/>
          <p:nvPr/>
        </p:nvSpPr>
        <p:spPr>
          <a:xfrm>
            <a:off x="9290304" y="2468880"/>
            <a:ext cx="201168" cy="274320"/>
          </a:xfrm>
          <a:prstGeom prst="rightArrow">
            <a:avLst/>
          </a:prstGeom>
          <a:solidFill>
            <a:srgbClr val="43C99A"/>
          </a:solidFill>
          <a:ln w="12700">
            <a:solidFill>
              <a:srgbClr val="43C99A"/>
            </a:solidFill>
            <a:prstDash val="solid"/>
          </a:ln>
        </p:spPr>
      </p:sp>
      <p:sp>
        <p:nvSpPr>
          <p:cNvPr id="26" name="Shape 24"/>
          <p:cNvSpPr/>
          <p:nvPr/>
        </p:nvSpPr>
        <p:spPr>
          <a:xfrm>
            <a:off x="9546336" y="1691640"/>
            <a:ext cx="1938528" cy="1828800"/>
          </a:xfrm>
          <a:prstGeom prst="roundRect">
            <a:avLst>
              <a:gd name="adj" fmla="val 8000"/>
            </a:avLst>
          </a:prstGeom>
          <a:solidFill>
            <a:srgbClr val="121A17"/>
          </a:solidFill>
          <a:ln w="9525">
            <a:solidFill>
              <a:srgbClr val="26332E"/>
            </a:solidFill>
            <a:prstDash val="solid"/>
          </a:ln>
        </p:spPr>
      </p:sp>
      <p:sp>
        <p:nvSpPr>
          <p:cNvPr id="27" name="Text 25"/>
          <p:cNvSpPr txBox="1"/>
          <p:nvPr/>
        </p:nvSpPr>
        <p:spPr>
          <a:xfrm>
            <a:off x="9747504" y="1874520"/>
            <a:ext cx="731520" cy="274320"/>
          </a:xfrm>
          <a:prstGeom prst="rect">
            <a:avLst/>
          </a:prstGeom>
          <a:noFill/>
          <a:ln/>
        </p:spPr>
        <p:txBody>
          <a:bodyPr wrap="square" lIns="0" tIns="0" rIns="0" bIns="0" rtlCol="0" anchor="ctr"/>
          <a:lstStyle/>
          <a:p>
            <a:pPr indent="0" marL="0">
              <a:buNone/>
            </a:pPr>
            <a:r>
              <a:rPr lang="en-US" sz="1200" b="1" dirty="0">
                <a:solidFill>
                  <a:srgbClr val="43C99A"/>
                </a:solidFill>
                <a:latin typeface="Calibri" pitchFamily="34" charset="0"/>
                <a:ea typeface="Calibri" pitchFamily="34" charset="-122"/>
                <a:cs typeface="Calibri" pitchFamily="34" charset="-120"/>
              </a:rPr>
              <a:t>05</a:t>
            </a:r>
            <a:endParaRPr lang="en-US" sz="1200" dirty="0"/>
          </a:p>
        </p:txBody>
      </p:sp>
      <p:sp>
        <p:nvSpPr>
          <p:cNvPr id="28" name="Text 26"/>
          <p:cNvSpPr txBox="1"/>
          <p:nvPr/>
        </p:nvSpPr>
        <p:spPr>
          <a:xfrm>
            <a:off x="9747504" y="2148840"/>
            <a:ext cx="1536192" cy="365760"/>
          </a:xfrm>
          <a:prstGeom prst="rect">
            <a:avLst/>
          </a:prstGeom>
          <a:noFill/>
          <a:ln/>
        </p:spPr>
        <p:txBody>
          <a:bodyPr wrap="square" lIns="0" tIns="0" rIns="0" bIns="0" rtlCol="0" anchor="ctr"/>
          <a:lstStyle/>
          <a:p>
            <a:pPr indent="0" marL="0">
              <a:buNone/>
            </a:pPr>
            <a:r>
              <a:rPr lang="en-US" sz="1700" b="1" dirty="0">
                <a:solidFill>
                  <a:srgbClr val="EEF5F1"/>
                </a:solidFill>
                <a:latin typeface="Calibri" pitchFamily="34" charset="0"/>
                <a:ea typeface="Calibri" pitchFamily="34" charset="-122"/>
                <a:cs typeface="Calibri" pitchFamily="34" charset="-120"/>
              </a:rPr>
              <a:t>Decisions</a:t>
            </a:r>
            <a:endParaRPr lang="en-US" sz="1700" dirty="0"/>
          </a:p>
        </p:txBody>
      </p:sp>
      <p:sp>
        <p:nvSpPr>
          <p:cNvPr id="29" name="Text 27"/>
          <p:cNvSpPr txBox="1"/>
          <p:nvPr/>
        </p:nvSpPr>
        <p:spPr>
          <a:xfrm>
            <a:off x="9747504" y="2560320"/>
            <a:ext cx="1536192" cy="868680"/>
          </a:xfrm>
          <a:prstGeom prst="rect">
            <a:avLst/>
          </a:prstGeom>
          <a:noFill/>
          <a:ln/>
        </p:spPr>
        <p:txBody>
          <a:bodyPr wrap="square" lIns="0" tIns="0" rIns="0" bIns="0" rtlCol="0" anchor="t"/>
          <a:lstStyle/>
          <a:p>
            <a:pPr indent="0" marL="0">
              <a:buNone/>
            </a:pPr>
            <a:r>
              <a:rPr lang="en-US" sz="1200" dirty="0">
                <a:solidFill>
                  <a:srgbClr val="A9BAB2"/>
                </a:solidFill>
                <a:latin typeface="Calibri" pitchFamily="34" charset="0"/>
                <a:ea typeface="Calibri" pitchFamily="34" charset="-122"/>
                <a:cs typeface="Calibri" pitchFamily="34" charset="-120"/>
              </a:rPr>
              <a:t>Budget variance, scenario range, capex NPV / IRR / payback</a:t>
            </a:r>
            <a:endParaRPr lang="en-US" sz="1200" dirty="0"/>
          </a:p>
        </p:txBody>
      </p:sp>
      <p:sp>
        <p:nvSpPr>
          <p:cNvPr id="30" name="Shape 28"/>
          <p:cNvSpPr/>
          <p:nvPr/>
        </p:nvSpPr>
        <p:spPr>
          <a:xfrm>
            <a:off x="548640" y="3840480"/>
            <a:ext cx="3515258" cy="2240280"/>
          </a:xfrm>
          <a:prstGeom prst="roundRect">
            <a:avLst>
              <a:gd name="adj" fmla="val 6531"/>
            </a:avLst>
          </a:prstGeom>
          <a:solidFill>
            <a:srgbClr val="121A17"/>
          </a:solidFill>
          <a:ln w="9525">
            <a:solidFill>
              <a:srgbClr val="26332E"/>
            </a:solidFill>
            <a:prstDash val="solid"/>
          </a:ln>
        </p:spPr>
      </p:sp>
      <p:sp>
        <p:nvSpPr>
          <p:cNvPr id="31" name="Shape 29"/>
          <p:cNvSpPr/>
          <p:nvPr/>
        </p:nvSpPr>
        <p:spPr>
          <a:xfrm>
            <a:off x="777240" y="4114800"/>
            <a:ext cx="164592" cy="164592"/>
          </a:xfrm>
          <a:prstGeom prst="ellipse">
            <a:avLst/>
          </a:prstGeom>
          <a:solidFill>
            <a:srgbClr val="43C99A"/>
          </a:solidFill>
          <a:ln w="12700">
            <a:solidFill>
              <a:srgbClr val="43C99A"/>
            </a:solidFill>
            <a:prstDash val="solid"/>
          </a:ln>
        </p:spPr>
      </p:sp>
      <p:sp>
        <p:nvSpPr>
          <p:cNvPr id="32" name="Text 30"/>
          <p:cNvSpPr txBox="1"/>
          <p:nvPr/>
        </p:nvSpPr>
        <p:spPr>
          <a:xfrm>
            <a:off x="1051560" y="4023360"/>
            <a:ext cx="2783738" cy="365760"/>
          </a:xfrm>
          <a:prstGeom prst="rect">
            <a:avLst/>
          </a:prstGeom>
          <a:noFill/>
          <a:ln/>
        </p:spPr>
        <p:txBody>
          <a:bodyPr wrap="square" lIns="0" tIns="0" rIns="0" bIns="0" rtlCol="0" anchor="ctr"/>
          <a:lstStyle/>
          <a:p>
            <a:pPr indent="0" marL="0">
              <a:buNone/>
            </a:pPr>
            <a:r>
              <a:rPr lang="en-US" sz="1500" b="1" dirty="0">
                <a:solidFill>
                  <a:srgbClr val="EEF5F1"/>
                </a:solidFill>
                <a:latin typeface="Calibri" pitchFamily="34" charset="0"/>
                <a:ea typeface="Calibri" pitchFamily="34" charset="-122"/>
                <a:cs typeface="Calibri" pitchFamily="34" charset="-120"/>
              </a:rPr>
              <a:t>Reported public data</a:t>
            </a:r>
            <a:endParaRPr lang="en-US" sz="1500" dirty="0"/>
          </a:p>
        </p:txBody>
      </p:sp>
      <p:sp>
        <p:nvSpPr>
          <p:cNvPr id="33" name="Text 31"/>
          <p:cNvSpPr txBox="1"/>
          <p:nvPr/>
        </p:nvSpPr>
        <p:spPr>
          <a:xfrm>
            <a:off x="777240" y="4526280"/>
            <a:ext cx="3058058" cy="1371600"/>
          </a:xfrm>
          <a:prstGeom prst="rect">
            <a:avLst/>
          </a:prstGeom>
          <a:noFill/>
          <a:ln/>
        </p:spPr>
        <p:txBody>
          <a:bodyPr wrap="square" lIns="0" tIns="0" rIns="0" bIns="0" rtlCol="0" anchor="t"/>
          <a:lstStyle/>
          <a:p>
            <a:pPr indent="0" marL="0">
              <a:buNone/>
            </a:pPr>
            <a:r>
              <a:rPr lang="en-US" sz="1300" dirty="0">
                <a:solidFill>
                  <a:srgbClr val="A9BAB2"/>
                </a:solidFill>
                <a:latin typeface="Calibri" pitchFamily="34" charset="0"/>
                <a:ea typeface="Calibri" pitchFamily="34" charset="-122"/>
                <a:cs typeface="Calibri" pitchFamily="34" charset="-120"/>
              </a:rPr>
              <a:t>Microchip Technology 10-K FY2023, FY2024, FY2026 and 10-Q Q1 FY2027: five years of history, each value traced to its SEC filing.</a:t>
            </a:r>
            <a:endParaRPr lang="en-US" sz="1300" dirty="0"/>
          </a:p>
        </p:txBody>
      </p:sp>
      <p:sp>
        <p:nvSpPr>
          <p:cNvPr id="34" name="Shape 32"/>
          <p:cNvSpPr/>
          <p:nvPr/>
        </p:nvSpPr>
        <p:spPr>
          <a:xfrm>
            <a:off x="4338218" y="3840480"/>
            <a:ext cx="3515258" cy="2240280"/>
          </a:xfrm>
          <a:prstGeom prst="roundRect">
            <a:avLst>
              <a:gd name="adj" fmla="val 6531"/>
            </a:avLst>
          </a:prstGeom>
          <a:solidFill>
            <a:srgbClr val="121A17"/>
          </a:solidFill>
          <a:ln w="9525">
            <a:solidFill>
              <a:srgbClr val="26332E"/>
            </a:solidFill>
            <a:prstDash val="solid"/>
          </a:ln>
        </p:spPr>
      </p:sp>
      <p:sp>
        <p:nvSpPr>
          <p:cNvPr id="35" name="Shape 33"/>
          <p:cNvSpPr/>
          <p:nvPr/>
        </p:nvSpPr>
        <p:spPr>
          <a:xfrm>
            <a:off x="4566818" y="4114800"/>
            <a:ext cx="164592" cy="164592"/>
          </a:xfrm>
          <a:prstGeom prst="ellipse">
            <a:avLst/>
          </a:prstGeom>
          <a:solidFill>
            <a:srgbClr val="F2C14E"/>
          </a:solidFill>
          <a:ln w="12700">
            <a:solidFill>
              <a:srgbClr val="F2C14E"/>
            </a:solidFill>
            <a:prstDash val="solid"/>
          </a:ln>
        </p:spPr>
      </p:sp>
      <p:sp>
        <p:nvSpPr>
          <p:cNvPr id="36" name="Text 34"/>
          <p:cNvSpPr txBox="1"/>
          <p:nvPr/>
        </p:nvSpPr>
        <p:spPr>
          <a:xfrm>
            <a:off x="4841138" y="4023360"/>
            <a:ext cx="2783738" cy="365760"/>
          </a:xfrm>
          <a:prstGeom prst="rect">
            <a:avLst/>
          </a:prstGeom>
          <a:noFill/>
          <a:ln/>
        </p:spPr>
        <p:txBody>
          <a:bodyPr wrap="square" lIns="0" tIns="0" rIns="0" bIns="0" rtlCol="0" anchor="ctr"/>
          <a:lstStyle/>
          <a:p>
            <a:pPr indent="0" marL="0">
              <a:buNone/>
            </a:pPr>
            <a:r>
              <a:rPr lang="en-US" sz="1500" b="1" dirty="0">
                <a:solidFill>
                  <a:srgbClr val="EEF5F1"/>
                </a:solidFill>
                <a:latin typeface="Calibri" pitchFamily="34" charset="0"/>
                <a:ea typeface="Calibri" pitchFamily="34" charset="-122"/>
                <a:cs typeface="Calibri" pitchFamily="34" charset="-120"/>
              </a:rPr>
              <a:t>Simulated operational data</a:t>
            </a:r>
            <a:endParaRPr lang="en-US" sz="1500" dirty="0"/>
          </a:p>
        </p:txBody>
      </p:sp>
      <p:sp>
        <p:nvSpPr>
          <p:cNvPr id="37" name="Text 35"/>
          <p:cNvSpPr txBox="1"/>
          <p:nvPr/>
        </p:nvSpPr>
        <p:spPr>
          <a:xfrm>
            <a:off x="4566818" y="4526280"/>
            <a:ext cx="3058058" cy="1371600"/>
          </a:xfrm>
          <a:prstGeom prst="rect">
            <a:avLst/>
          </a:prstGeom>
          <a:noFill/>
          <a:ln/>
        </p:spPr>
        <p:txBody>
          <a:bodyPr wrap="square" lIns="0" tIns="0" rIns="0" bIns="0" rtlCol="0" anchor="t"/>
          <a:lstStyle/>
          <a:p>
            <a:pPr indent="0" marL="0">
              <a:buNone/>
            </a:pPr>
            <a:r>
              <a:rPr lang="en-US" sz="1300" dirty="0">
                <a:solidFill>
                  <a:srgbClr val="A9BAB2"/>
                </a:solidFill>
                <a:latin typeface="Calibri" pitchFamily="34" charset="0"/>
                <a:ea typeface="Calibri" pitchFamily="34" charset="-122"/>
                <a:cs typeface="Calibri" pitchFamily="34" charset="-120"/>
              </a:rPr>
              <a:t>Division demand, capacity, yield, unit costs and the Apr–Aug 2026 actuals. Labeled as simulated on every tab and page.</a:t>
            </a:r>
            <a:endParaRPr lang="en-US" sz="1300" dirty="0"/>
          </a:p>
        </p:txBody>
      </p:sp>
      <p:sp>
        <p:nvSpPr>
          <p:cNvPr id="38" name="Shape 36"/>
          <p:cNvSpPr/>
          <p:nvPr/>
        </p:nvSpPr>
        <p:spPr>
          <a:xfrm>
            <a:off x="8127797" y="3840480"/>
            <a:ext cx="3515258" cy="2240280"/>
          </a:xfrm>
          <a:prstGeom prst="roundRect">
            <a:avLst>
              <a:gd name="adj" fmla="val 6531"/>
            </a:avLst>
          </a:prstGeom>
          <a:solidFill>
            <a:srgbClr val="121A17"/>
          </a:solidFill>
          <a:ln w="9525">
            <a:solidFill>
              <a:srgbClr val="26332E"/>
            </a:solidFill>
            <a:prstDash val="solid"/>
          </a:ln>
        </p:spPr>
      </p:sp>
      <p:sp>
        <p:nvSpPr>
          <p:cNvPr id="39" name="Shape 37"/>
          <p:cNvSpPr/>
          <p:nvPr/>
        </p:nvSpPr>
        <p:spPr>
          <a:xfrm>
            <a:off x="8356397" y="4114800"/>
            <a:ext cx="164592" cy="164592"/>
          </a:xfrm>
          <a:prstGeom prst="ellipse">
            <a:avLst/>
          </a:prstGeom>
          <a:solidFill>
            <a:srgbClr val="A497FF"/>
          </a:solidFill>
          <a:ln w="12700">
            <a:solidFill>
              <a:srgbClr val="A497FF"/>
            </a:solidFill>
            <a:prstDash val="solid"/>
          </a:ln>
        </p:spPr>
      </p:sp>
      <p:sp>
        <p:nvSpPr>
          <p:cNvPr id="40" name="Text 38"/>
          <p:cNvSpPr txBox="1"/>
          <p:nvPr/>
        </p:nvSpPr>
        <p:spPr>
          <a:xfrm>
            <a:off x="8630717" y="4023360"/>
            <a:ext cx="2783738" cy="365760"/>
          </a:xfrm>
          <a:prstGeom prst="rect">
            <a:avLst/>
          </a:prstGeom>
          <a:noFill/>
          <a:ln/>
        </p:spPr>
        <p:txBody>
          <a:bodyPr wrap="square" lIns="0" tIns="0" rIns="0" bIns="0" rtlCol="0" anchor="ctr"/>
          <a:lstStyle/>
          <a:p>
            <a:pPr indent="0" marL="0">
              <a:buNone/>
            </a:pPr>
            <a:r>
              <a:rPr lang="en-US" sz="1500" b="1" dirty="0">
                <a:solidFill>
                  <a:srgbClr val="EEF5F1"/>
                </a:solidFill>
                <a:latin typeface="Calibri" pitchFamily="34" charset="0"/>
                <a:ea typeface="Calibri" pitchFamily="34" charset="-122"/>
                <a:cs typeface="Calibri" pitchFamily="34" charset="-120"/>
              </a:rPr>
              <a:t>Independent validation</a:t>
            </a:r>
            <a:endParaRPr lang="en-US" sz="1500" dirty="0"/>
          </a:p>
        </p:txBody>
      </p:sp>
      <p:sp>
        <p:nvSpPr>
          <p:cNvPr id="41" name="Text 39"/>
          <p:cNvSpPr txBox="1"/>
          <p:nvPr/>
        </p:nvSpPr>
        <p:spPr>
          <a:xfrm>
            <a:off x="8356397" y="4526280"/>
            <a:ext cx="3058058" cy="1371600"/>
          </a:xfrm>
          <a:prstGeom prst="rect">
            <a:avLst/>
          </a:prstGeom>
          <a:noFill/>
          <a:ln/>
        </p:spPr>
        <p:txBody>
          <a:bodyPr wrap="square" lIns="0" tIns="0" rIns="0" bIns="0" rtlCol="0" anchor="t"/>
          <a:lstStyle/>
          <a:p>
            <a:pPr indent="0" marL="0">
              <a:buNone/>
            </a:pPr>
            <a:r>
              <a:rPr lang="en-US" sz="1300" dirty="0">
                <a:solidFill>
                  <a:srgbClr val="A9BAB2"/>
                </a:solidFill>
                <a:latin typeface="Calibri" pitchFamily="34" charset="0"/>
                <a:ea typeface="Calibri" pitchFamily="34" charset="-122"/>
                <a:cs typeface="Calibri" pitchFamily="34" charset="-120"/>
              </a:rPr>
              <a:t>149 Excel checks, a separate Python rebuild of every phase, and a browser test matching 38 dashboard values to Excel.</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200" kern="0" dirty="0">
                <a:solidFill>
                  <a:srgbClr val="43C99A"/>
                </a:solidFill>
                <a:latin typeface="Calibri" pitchFamily="34" charset="0"/>
                <a:ea typeface="Calibri" pitchFamily="34" charset="-122"/>
                <a:cs typeface="Calibri" pitchFamily="34" charset="-120"/>
              </a:rPr>
              <a:t>CONTEXT · MICROCHIP TECHNOLOGY REPORTED RESULTS</a:t>
            </a:r>
            <a:endParaRPr lang="en-US" sz="1100" dirty="0"/>
          </a:p>
        </p:txBody>
      </p:sp>
      <p:sp>
        <p:nvSpPr>
          <p:cNvPr id="3" name="Text 1"/>
          <p:cNvSpPr txBox="1"/>
          <p:nvPr/>
        </p:nvSpPr>
        <p:spPr>
          <a:xfrm>
            <a:off x="548640" y="621792"/>
            <a:ext cx="11094415" cy="822960"/>
          </a:xfrm>
          <a:prstGeom prst="rect">
            <a:avLst/>
          </a:prstGeom>
          <a:noFill/>
          <a:ln/>
        </p:spPr>
        <p:txBody>
          <a:bodyPr wrap="square" lIns="0" tIns="0" rIns="0" bIns="0" rtlCol="0" anchor="t"/>
          <a:lstStyle/>
          <a:p>
            <a:pPr indent="0" marL="0">
              <a:buNone/>
            </a:pPr>
            <a:r>
              <a:rPr lang="en-US" sz="3000" b="1" dirty="0">
                <a:solidFill>
                  <a:srgbClr val="EEF5F1"/>
                </a:solidFill>
                <a:latin typeface="Calibri" pitchFamily="34" charset="0"/>
                <a:ea typeface="Calibri" pitchFamily="34" charset="-122"/>
                <a:cs typeface="Calibri" pitchFamily="34" charset="-120"/>
              </a:rPr>
              <a:t>The cycle bottomed in FY2025 and demand is recovering fast</a:t>
            </a:r>
            <a:endParaRPr lang="en-US" sz="3000" dirty="0"/>
          </a:p>
        </p:txBody>
      </p:sp>
      <p:sp>
        <p:nvSpPr>
          <p:cNvPr id="4" name="Text 2"/>
          <p:cNvSpPr txBox="1"/>
          <p:nvPr/>
        </p:nvSpPr>
        <p:spPr>
          <a:xfrm>
            <a:off x="548640" y="6446520"/>
            <a:ext cx="9601200" cy="228600"/>
          </a:xfrm>
          <a:prstGeom prst="rect">
            <a:avLst/>
          </a:prstGeom>
          <a:noFill/>
          <a:ln/>
        </p:spPr>
        <p:txBody>
          <a:bodyPr wrap="square" lIns="0" tIns="0" rIns="0" bIns="0" rtlCol="0" anchor="ctr"/>
          <a:lstStyle/>
          <a:p>
            <a:pPr indent="0" marL="0">
              <a:buNone/>
            </a:pPr>
            <a:r>
              <a:rPr lang="en-US" sz="900" dirty="0">
                <a:solidFill>
                  <a:srgbClr val="7C8F86"/>
                </a:solidFill>
                <a:latin typeface="Calibri" pitchFamily="34" charset="0"/>
                <a:ea typeface="Calibri" pitchFamily="34" charset="-122"/>
                <a:cs typeface="Calibri" pitchFamily="34" charset="-120"/>
              </a:rPr>
              <a:t>Simulated data created for portfolio demonstration. It does not represent nonpublic Microchip Technology information.</a:t>
            </a:r>
            <a:endParaRPr lang="en-US" sz="900" dirty="0"/>
          </a:p>
        </p:txBody>
      </p:sp>
      <p:sp>
        <p:nvSpPr>
          <p:cNvPr id="5" name="Text 3"/>
          <p:cNvSpPr txBox="1"/>
          <p:nvPr/>
        </p:nvSpPr>
        <p:spPr>
          <a:xfrm>
            <a:off x="11094415" y="6446520"/>
            <a:ext cx="548640" cy="228600"/>
          </a:xfrm>
          <a:prstGeom prst="rect">
            <a:avLst/>
          </a:prstGeom>
          <a:noFill/>
          <a:ln/>
        </p:spPr>
        <p:txBody>
          <a:bodyPr wrap="square" lIns="0" tIns="0" rIns="0" bIns="0" rtlCol="0" anchor="ctr"/>
          <a:lstStyle/>
          <a:p>
            <a:pPr algn="r" indent="0" marL="0">
              <a:buNone/>
            </a:pPr>
            <a:r>
              <a:rPr lang="en-US" sz="900" dirty="0">
                <a:solidFill>
                  <a:srgbClr val="7C8F86"/>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548640" y="1600200"/>
            <a:ext cx="7223760" cy="4526280"/>
          </a:xfrm>
          <a:prstGeom prst="roundRect">
            <a:avLst>
              <a:gd name="adj" fmla="val 3232"/>
            </a:avLst>
          </a:prstGeom>
          <a:solidFill>
            <a:srgbClr val="121A17"/>
          </a:solidFill>
          <a:ln w="9525">
            <a:solidFill>
              <a:srgbClr val="26332E"/>
            </a:solidFill>
            <a:prstDash val="solid"/>
          </a:ln>
        </p:spPr>
      </p:sp>
      <p:graphicFrame>
        <p:nvGraphicFramePr>
          <p:cNvPr id="7" name="Chart 0" descr=""/>
          <p:cNvGraphicFramePr/>
          <p:nvPr/>
        </p:nvGraphicFramePr>
        <p:xfrm>
          <a:off x="731520" y="1737360"/>
          <a:ext cx="6858000" cy="4251960"/>
        </p:xfrm>
        <a:graphic xmlns:a="http://schemas.openxmlformats.org/drawingml/2006/main">
          <a:graphicData uri="http://schemas.openxmlformats.org/drawingml/2006/chart">
            <c:chart xmlns:c="http://schemas.openxmlformats.org/drawingml/2006/chart" r:id="rId2"/>
          </a:graphicData>
        </a:graphic>
      </p:graphicFrame>
      <p:sp>
        <p:nvSpPr>
          <p:cNvPr id="8" name="Shape 5"/>
          <p:cNvSpPr/>
          <p:nvPr/>
        </p:nvSpPr>
        <p:spPr>
          <a:xfrm>
            <a:off x="8046720" y="1600200"/>
            <a:ext cx="3596335" cy="1417320"/>
          </a:xfrm>
          <a:prstGeom prst="roundRect">
            <a:avLst>
              <a:gd name="adj" fmla="val 10323"/>
            </a:avLst>
          </a:prstGeom>
          <a:solidFill>
            <a:srgbClr val="121A17"/>
          </a:solidFill>
          <a:ln w="9525">
            <a:solidFill>
              <a:srgbClr val="26332E"/>
            </a:solidFill>
            <a:prstDash val="solid"/>
          </a:ln>
        </p:spPr>
      </p:sp>
      <p:sp>
        <p:nvSpPr>
          <p:cNvPr id="9" name="Text 6"/>
          <p:cNvSpPr txBox="1"/>
          <p:nvPr/>
        </p:nvSpPr>
        <p:spPr>
          <a:xfrm>
            <a:off x="8275320" y="1783080"/>
            <a:ext cx="3139135" cy="27432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Sales change FY2023 → FY2025</a:t>
            </a:r>
            <a:endParaRPr lang="en-US" sz="1200" dirty="0"/>
          </a:p>
        </p:txBody>
      </p:sp>
      <p:sp>
        <p:nvSpPr>
          <p:cNvPr id="10" name="Text 7"/>
          <p:cNvSpPr txBox="1"/>
          <p:nvPr/>
        </p:nvSpPr>
        <p:spPr>
          <a:xfrm>
            <a:off x="8275320" y="2057400"/>
            <a:ext cx="3139135" cy="640080"/>
          </a:xfrm>
          <a:prstGeom prst="rect">
            <a:avLst/>
          </a:prstGeom>
          <a:noFill/>
          <a:ln/>
        </p:spPr>
        <p:txBody>
          <a:bodyPr wrap="square" lIns="0" tIns="0" rIns="0" bIns="0" rtlCol="0" anchor="ctr"/>
          <a:lstStyle/>
          <a:p>
            <a:pPr indent="0" marL="0">
              <a:buNone/>
            </a:pPr>
            <a:r>
              <a:rPr lang="en-US" sz="3400" b="1" dirty="0">
                <a:solidFill>
                  <a:srgbClr val="F07B6C"/>
                </a:solidFill>
                <a:latin typeface="Calibri" pitchFamily="34" charset="0"/>
                <a:ea typeface="Calibri" pitchFamily="34" charset="-122"/>
                <a:cs typeface="Calibri" pitchFamily="34" charset="-120"/>
              </a:rPr>
              <a:t>−47.8%</a:t>
            </a:r>
            <a:endParaRPr lang="en-US" sz="3400" dirty="0"/>
          </a:p>
        </p:txBody>
      </p:sp>
      <p:sp>
        <p:nvSpPr>
          <p:cNvPr id="11" name="Text 8"/>
          <p:cNvSpPr txBox="1"/>
          <p:nvPr/>
        </p:nvSpPr>
        <p:spPr>
          <a:xfrm>
            <a:off x="8275320" y="2697480"/>
            <a:ext cx="3139135" cy="274320"/>
          </a:xfrm>
          <a:prstGeom prst="rect">
            <a:avLst/>
          </a:prstGeom>
          <a:noFill/>
          <a:ln/>
        </p:spPr>
        <p:txBody>
          <a:bodyPr wrap="square" lIns="0" tIns="0" rIns="0" bIns="0" rtlCol="0" anchor="ctr"/>
          <a:lstStyle/>
          <a:p>
            <a:pPr indent="0" marL="0">
              <a:buNone/>
            </a:pPr>
            <a:r>
              <a:rPr lang="en-US" sz="1150" dirty="0">
                <a:solidFill>
                  <a:srgbClr val="7C8F86"/>
                </a:solidFill>
                <a:latin typeface="Calibri" pitchFamily="34" charset="0"/>
                <a:ea typeface="Calibri" pitchFamily="34" charset="-122"/>
                <a:cs typeface="Calibri" pitchFamily="34" charset="-120"/>
              </a:rPr>
              <a:t>Inventory correction across the channel</a:t>
            </a:r>
            <a:endParaRPr lang="en-US" sz="1150" dirty="0"/>
          </a:p>
        </p:txBody>
      </p:sp>
      <p:sp>
        <p:nvSpPr>
          <p:cNvPr id="12" name="Shape 9"/>
          <p:cNvSpPr/>
          <p:nvPr/>
        </p:nvSpPr>
        <p:spPr>
          <a:xfrm>
            <a:off x="8046720" y="3154680"/>
            <a:ext cx="3596335" cy="1417320"/>
          </a:xfrm>
          <a:prstGeom prst="roundRect">
            <a:avLst>
              <a:gd name="adj" fmla="val 10323"/>
            </a:avLst>
          </a:prstGeom>
          <a:solidFill>
            <a:srgbClr val="121A17"/>
          </a:solidFill>
          <a:ln w="9525">
            <a:solidFill>
              <a:srgbClr val="26332E"/>
            </a:solidFill>
            <a:prstDash val="solid"/>
          </a:ln>
        </p:spPr>
      </p:sp>
      <p:sp>
        <p:nvSpPr>
          <p:cNvPr id="13" name="Text 10"/>
          <p:cNvSpPr txBox="1"/>
          <p:nvPr/>
        </p:nvSpPr>
        <p:spPr>
          <a:xfrm>
            <a:off x="8275320" y="3337560"/>
            <a:ext cx="3139135" cy="27432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Q1 FY2027 sales vs Q1 FY2026</a:t>
            </a:r>
            <a:endParaRPr lang="en-US" sz="1200" dirty="0"/>
          </a:p>
        </p:txBody>
      </p:sp>
      <p:sp>
        <p:nvSpPr>
          <p:cNvPr id="14" name="Text 11"/>
          <p:cNvSpPr txBox="1"/>
          <p:nvPr/>
        </p:nvSpPr>
        <p:spPr>
          <a:xfrm>
            <a:off x="8275320" y="3611880"/>
            <a:ext cx="3139135" cy="640080"/>
          </a:xfrm>
          <a:prstGeom prst="rect">
            <a:avLst/>
          </a:prstGeom>
          <a:noFill/>
          <a:ln/>
        </p:spPr>
        <p:txBody>
          <a:bodyPr wrap="square" lIns="0" tIns="0" rIns="0" bIns="0" rtlCol="0" anchor="ctr"/>
          <a:lstStyle/>
          <a:p>
            <a:pPr indent="0" marL="0">
              <a:buNone/>
            </a:pPr>
            <a:r>
              <a:rPr lang="en-US" sz="3400" b="1" dirty="0">
                <a:solidFill>
                  <a:srgbClr val="CDF56E"/>
                </a:solidFill>
                <a:latin typeface="Calibri" pitchFamily="34" charset="0"/>
                <a:ea typeface="Calibri" pitchFamily="34" charset="-122"/>
                <a:cs typeface="Calibri" pitchFamily="34" charset="-120"/>
              </a:rPr>
              <a:t>+38.0%</a:t>
            </a:r>
            <a:endParaRPr lang="en-US" sz="3400" dirty="0"/>
          </a:p>
        </p:txBody>
      </p:sp>
      <p:sp>
        <p:nvSpPr>
          <p:cNvPr id="15" name="Text 12"/>
          <p:cNvSpPr txBox="1"/>
          <p:nvPr/>
        </p:nvSpPr>
        <p:spPr>
          <a:xfrm>
            <a:off x="8275320" y="4251960"/>
            <a:ext cx="3139135" cy="274320"/>
          </a:xfrm>
          <a:prstGeom prst="rect">
            <a:avLst/>
          </a:prstGeom>
          <a:noFill/>
          <a:ln/>
        </p:spPr>
        <p:txBody>
          <a:bodyPr wrap="square" lIns="0" tIns="0" rIns="0" bIns="0" rtlCol="0" anchor="ctr"/>
          <a:lstStyle/>
          <a:p>
            <a:pPr indent="0" marL="0">
              <a:buNone/>
            </a:pPr>
            <a:r>
              <a:rPr lang="en-US" sz="1150" dirty="0">
                <a:solidFill>
                  <a:srgbClr val="7C8F86"/>
                </a:solidFill>
                <a:latin typeface="Calibri" pitchFamily="34" charset="0"/>
                <a:ea typeface="Calibri" pitchFamily="34" charset="-122"/>
                <a:cs typeface="Calibri" pitchFamily="34" charset="-120"/>
              </a:rPr>
              <a:t>$1,484.7m vs $1,075.5m (10-Q)</a:t>
            </a:r>
            <a:endParaRPr lang="en-US" sz="1150" dirty="0"/>
          </a:p>
        </p:txBody>
      </p:sp>
      <p:sp>
        <p:nvSpPr>
          <p:cNvPr id="16" name="Shape 13"/>
          <p:cNvSpPr/>
          <p:nvPr/>
        </p:nvSpPr>
        <p:spPr>
          <a:xfrm>
            <a:off x="8046720" y="4709160"/>
            <a:ext cx="3596335" cy="1417320"/>
          </a:xfrm>
          <a:prstGeom prst="roundRect">
            <a:avLst>
              <a:gd name="adj" fmla="val 10323"/>
            </a:avLst>
          </a:prstGeom>
          <a:solidFill>
            <a:srgbClr val="121A17"/>
          </a:solidFill>
          <a:ln w="9525">
            <a:solidFill>
              <a:srgbClr val="26332E"/>
            </a:solidFill>
            <a:prstDash val="solid"/>
          </a:ln>
        </p:spPr>
      </p:sp>
      <p:sp>
        <p:nvSpPr>
          <p:cNvPr id="17" name="Text 14"/>
          <p:cNvSpPr txBox="1"/>
          <p:nvPr/>
        </p:nvSpPr>
        <p:spPr>
          <a:xfrm>
            <a:off x="8275320" y="4892040"/>
            <a:ext cx="3139135" cy="27432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Gross margin FY2023 → FY2025 → FY2026</a:t>
            </a:r>
            <a:endParaRPr lang="en-US" sz="1200" dirty="0"/>
          </a:p>
        </p:txBody>
      </p:sp>
      <p:sp>
        <p:nvSpPr>
          <p:cNvPr id="18" name="Text 15"/>
          <p:cNvSpPr txBox="1"/>
          <p:nvPr/>
        </p:nvSpPr>
        <p:spPr>
          <a:xfrm>
            <a:off x="8275320" y="5166360"/>
            <a:ext cx="3139135" cy="640080"/>
          </a:xfrm>
          <a:prstGeom prst="rect">
            <a:avLst/>
          </a:prstGeom>
          <a:noFill/>
          <a:ln/>
        </p:spPr>
        <p:txBody>
          <a:bodyPr wrap="square" lIns="0" tIns="0" rIns="0" bIns="0" rtlCol="0" anchor="ctr"/>
          <a:lstStyle/>
          <a:p>
            <a:pPr indent="0" marL="0">
              <a:buNone/>
            </a:pPr>
            <a:r>
              <a:rPr lang="en-US" sz="3400" b="1" dirty="0">
                <a:solidFill>
                  <a:srgbClr val="EEF5F1"/>
                </a:solidFill>
                <a:latin typeface="Calibri" pitchFamily="34" charset="0"/>
                <a:ea typeface="Calibri" pitchFamily="34" charset="-122"/>
                <a:cs typeface="Calibri" pitchFamily="34" charset="-120"/>
              </a:rPr>
              <a:t>56.1%</a:t>
            </a:r>
            <a:endParaRPr lang="en-US" sz="3400" dirty="0"/>
          </a:p>
        </p:txBody>
      </p:sp>
      <p:sp>
        <p:nvSpPr>
          <p:cNvPr id="19" name="Text 16"/>
          <p:cNvSpPr txBox="1"/>
          <p:nvPr/>
        </p:nvSpPr>
        <p:spPr>
          <a:xfrm>
            <a:off x="8275320" y="5806440"/>
            <a:ext cx="3139135" cy="274320"/>
          </a:xfrm>
          <a:prstGeom prst="rect">
            <a:avLst/>
          </a:prstGeom>
          <a:noFill/>
          <a:ln/>
        </p:spPr>
        <p:txBody>
          <a:bodyPr wrap="square" lIns="0" tIns="0" rIns="0" bIns="0" rtlCol="0" anchor="ctr"/>
          <a:lstStyle/>
          <a:p>
            <a:pPr indent="0" marL="0">
              <a:buNone/>
            </a:pPr>
            <a:r>
              <a:rPr lang="en-US" sz="1150" dirty="0">
                <a:solidFill>
                  <a:srgbClr val="7C8F86"/>
                </a:solidFill>
                <a:latin typeface="Calibri" pitchFamily="34" charset="0"/>
                <a:ea typeface="Calibri" pitchFamily="34" charset="-122"/>
                <a:cs typeface="Calibri" pitchFamily="34" charset="-120"/>
              </a:rPr>
              <a:t>from 67.5% peak; 57.7% in FY2026</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200" kern="0" dirty="0">
                <a:solidFill>
                  <a:srgbClr val="43C99A"/>
                </a:solidFill>
                <a:latin typeface="Calibri" pitchFamily="34" charset="0"/>
                <a:ea typeface="Calibri" pitchFamily="34" charset="-122"/>
                <a:cs typeface="Calibri" pitchFamily="34" charset="-120"/>
              </a:rPr>
              <a:t>FY2027 FORECAST · BASE SCENARIO</a:t>
            </a:r>
            <a:endParaRPr lang="en-US" sz="1100" dirty="0"/>
          </a:p>
        </p:txBody>
      </p:sp>
      <p:sp>
        <p:nvSpPr>
          <p:cNvPr id="3" name="Text 1"/>
          <p:cNvSpPr txBox="1"/>
          <p:nvPr/>
        </p:nvSpPr>
        <p:spPr>
          <a:xfrm>
            <a:off x="548640" y="621792"/>
            <a:ext cx="11094415" cy="822960"/>
          </a:xfrm>
          <a:prstGeom prst="rect">
            <a:avLst/>
          </a:prstGeom>
          <a:noFill/>
          <a:ln/>
        </p:spPr>
        <p:txBody>
          <a:bodyPr wrap="square" lIns="0" tIns="0" rIns="0" bIns="0" rtlCol="0" anchor="t"/>
          <a:lstStyle/>
          <a:p>
            <a:pPr indent="0" marL="0">
              <a:buNone/>
            </a:pPr>
            <a:r>
              <a:rPr lang="en-US" sz="3000" b="1" dirty="0">
                <a:solidFill>
                  <a:srgbClr val="EEF5F1"/>
                </a:solidFill>
                <a:latin typeface="Calibri" pitchFamily="34" charset="0"/>
                <a:ea typeface="Calibri" pitchFamily="34" charset="-122"/>
                <a:cs typeface="Calibri" pitchFamily="34" charset="-120"/>
              </a:rPr>
              <a:t>Revenue grows +18.5% to $1,184.8m; operating margin 34.3%</a:t>
            </a:r>
            <a:endParaRPr lang="en-US" sz="3000" dirty="0"/>
          </a:p>
        </p:txBody>
      </p:sp>
      <p:sp>
        <p:nvSpPr>
          <p:cNvPr id="4" name="Text 2"/>
          <p:cNvSpPr txBox="1"/>
          <p:nvPr/>
        </p:nvSpPr>
        <p:spPr>
          <a:xfrm>
            <a:off x="548640" y="6446520"/>
            <a:ext cx="9601200" cy="228600"/>
          </a:xfrm>
          <a:prstGeom prst="rect">
            <a:avLst/>
          </a:prstGeom>
          <a:noFill/>
          <a:ln/>
        </p:spPr>
        <p:txBody>
          <a:bodyPr wrap="square" lIns="0" tIns="0" rIns="0" bIns="0" rtlCol="0" anchor="ctr"/>
          <a:lstStyle/>
          <a:p>
            <a:pPr indent="0" marL="0">
              <a:buNone/>
            </a:pPr>
            <a:r>
              <a:rPr lang="en-US" sz="900" dirty="0">
                <a:solidFill>
                  <a:srgbClr val="7C8F86"/>
                </a:solidFill>
                <a:latin typeface="Calibri" pitchFamily="34" charset="0"/>
                <a:ea typeface="Calibri" pitchFamily="34" charset="-122"/>
                <a:cs typeface="Calibri" pitchFamily="34" charset="-120"/>
              </a:rPr>
              <a:t>Simulated data created for portfolio demonstration. It does not represent nonpublic Microchip Technology information.</a:t>
            </a:r>
            <a:endParaRPr lang="en-US" sz="900" dirty="0"/>
          </a:p>
        </p:txBody>
      </p:sp>
      <p:sp>
        <p:nvSpPr>
          <p:cNvPr id="5" name="Text 3"/>
          <p:cNvSpPr txBox="1"/>
          <p:nvPr/>
        </p:nvSpPr>
        <p:spPr>
          <a:xfrm>
            <a:off x="11094415" y="6446520"/>
            <a:ext cx="548640" cy="228600"/>
          </a:xfrm>
          <a:prstGeom prst="rect">
            <a:avLst/>
          </a:prstGeom>
          <a:noFill/>
          <a:ln/>
        </p:spPr>
        <p:txBody>
          <a:bodyPr wrap="square" lIns="0" tIns="0" rIns="0" bIns="0" rtlCol="0" anchor="ctr"/>
          <a:lstStyle/>
          <a:p>
            <a:pPr algn="r" indent="0" marL="0">
              <a:buNone/>
            </a:pPr>
            <a:r>
              <a:rPr lang="en-US" sz="900" dirty="0">
                <a:solidFill>
                  <a:srgbClr val="7C8F86"/>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548640" y="1600200"/>
            <a:ext cx="7589520" cy="4526280"/>
          </a:xfrm>
          <a:prstGeom prst="roundRect">
            <a:avLst>
              <a:gd name="adj" fmla="val 3232"/>
            </a:avLst>
          </a:prstGeom>
          <a:solidFill>
            <a:srgbClr val="121A17"/>
          </a:solidFill>
          <a:ln w="9525">
            <a:solidFill>
              <a:srgbClr val="26332E"/>
            </a:solidFill>
            <a:prstDash val="solid"/>
          </a:ln>
        </p:spPr>
      </p:sp>
      <p:graphicFrame>
        <p:nvGraphicFramePr>
          <p:cNvPr id="7" name="Chart 0" descr=""/>
          <p:cNvGraphicFramePr/>
          <p:nvPr/>
        </p:nvGraphicFramePr>
        <p:xfrm>
          <a:off x="731520" y="1737360"/>
          <a:ext cx="7223760" cy="4251960"/>
        </p:xfrm>
        <a:graphic xmlns:a="http://schemas.openxmlformats.org/drawingml/2006/main">
          <a:graphicData uri="http://schemas.openxmlformats.org/drawingml/2006/chart">
            <c:chart xmlns:c="http://schemas.openxmlformats.org/drawingml/2006/chart" r:id="rId2"/>
          </a:graphicData>
        </a:graphic>
      </p:graphicFrame>
      <p:sp>
        <p:nvSpPr>
          <p:cNvPr id="8" name="Shape 5"/>
          <p:cNvSpPr/>
          <p:nvPr/>
        </p:nvSpPr>
        <p:spPr>
          <a:xfrm>
            <a:off x="8412480" y="1600200"/>
            <a:ext cx="3230575" cy="1051560"/>
          </a:xfrm>
          <a:prstGeom prst="roundRect">
            <a:avLst>
              <a:gd name="adj" fmla="val 13913"/>
            </a:avLst>
          </a:prstGeom>
          <a:solidFill>
            <a:srgbClr val="121A17"/>
          </a:solidFill>
          <a:ln w="9525">
            <a:solidFill>
              <a:srgbClr val="26332E"/>
            </a:solidFill>
            <a:prstDash val="solid"/>
          </a:ln>
        </p:spPr>
      </p:sp>
      <p:sp>
        <p:nvSpPr>
          <p:cNvPr id="9" name="Shape 6"/>
          <p:cNvSpPr/>
          <p:nvPr/>
        </p:nvSpPr>
        <p:spPr>
          <a:xfrm>
            <a:off x="8641080" y="1856232"/>
            <a:ext cx="164592" cy="164592"/>
          </a:xfrm>
          <a:prstGeom prst="ellipse">
            <a:avLst/>
          </a:prstGeom>
          <a:solidFill>
            <a:srgbClr val="8676F2"/>
          </a:solidFill>
          <a:ln w="12700">
            <a:solidFill>
              <a:srgbClr val="8676F2"/>
            </a:solidFill>
            <a:prstDash val="solid"/>
          </a:ln>
        </p:spPr>
      </p:sp>
      <p:sp>
        <p:nvSpPr>
          <p:cNvPr id="10" name="Text 7"/>
          <p:cNvSpPr txBox="1"/>
          <p:nvPr/>
        </p:nvSpPr>
        <p:spPr>
          <a:xfrm>
            <a:off x="8915400" y="1755648"/>
            <a:ext cx="2499055" cy="365760"/>
          </a:xfrm>
          <a:prstGeom prst="rect">
            <a:avLst/>
          </a:prstGeom>
          <a:noFill/>
          <a:ln/>
        </p:spPr>
        <p:txBody>
          <a:bodyPr wrap="square" lIns="0" tIns="0" rIns="0" bIns="0" rtlCol="0" anchor="ctr"/>
          <a:lstStyle/>
          <a:p>
            <a:pPr indent="0" marL="0">
              <a:buNone/>
            </a:pPr>
            <a:r>
              <a:rPr lang="en-US" sz="1400" b="1" dirty="0">
                <a:solidFill>
                  <a:srgbClr val="EEF5F1"/>
                </a:solidFill>
                <a:latin typeface="Calibri" pitchFamily="34" charset="0"/>
                <a:ea typeface="Calibri" pitchFamily="34" charset="-122"/>
                <a:cs typeface="Calibri" pitchFamily="34" charset="-120"/>
              </a:rPr>
              <a:t>Mixed-signal MCUs</a:t>
            </a:r>
            <a:endParaRPr lang="en-US" sz="1400" dirty="0"/>
          </a:p>
        </p:txBody>
      </p:sp>
      <p:sp>
        <p:nvSpPr>
          <p:cNvPr id="11" name="Text 8"/>
          <p:cNvSpPr txBox="1"/>
          <p:nvPr/>
        </p:nvSpPr>
        <p:spPr>
          <a:xfrm>
            <a:off x="8641080" y="2148840"/>
            <a:ext cx="2773375" cy="36576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$593.7m  ·  50.1% of revenue  ·  63.6% gross margin</a:t>
            </a:r>
            <a:endParaRPr lang="en-US" sz="1200" dirty="0"/>
          </a:p>
        </p:txBody>
      </p:sp>
      <p:sp>
        <p:nvSpPr>
          <p:cNvPr id="12" name="Shape 9"/>
          <p:cNvSpPr/>
          <p:nvPr/>
        </p:nvSpPr>
        <p:spPr>
          <a:xfrm>
            <a:off x="8412480" y="2788920"/>
            <a:ext cx="3230575" cy="1051560"/>
          </a:xfrm>
          <a:prstGeom prst="roundRect">
            <a:avLst>
              <a:gd name="adj" fmla="val 13913"/>
            </a:avLst>
          </a:prstGeom>
          <a:solidFill>
            <a:srgbClr val="121A17"/>
          </a:solidFill>
          <a:ln w="9525">
            <a:solidFill>
              <a:srgbClr val="26332E"/>
            </a:solidFill>
            <a:prstDash val="solid"/>
          </a:ln>
        </p:spPr>
      </p:sp>
      <p:sp>
        <p:nvSpPr>
          <p:cNvPr id="13" name="Shape 10"/>
          <p:cNvSpPr/>
          <p:nvPr/>
        </p:nvSpPr>
        <p:spPr>
          <a:xfrm>
            <a:off x="8641080" y="3044952"/>
            <a:ext cx="164592" cy="164592"/>
          </a:xfrm>
          <a:prstGeom prst="ellipse">
            <a:avLst/>
          </a:prstGeom>
          <a:solidFill>
            <a:srgbClr val="22A072"/>
          </a:solidFill>
          <a:ln w="12700">
            <a:solidFill>
              <a:srgbClr val="22A072"/>
            </a:solidFill>
            <a:prstDash val="solid"/>
          </a:ln>
        </p:spPr>
      </p:sp>
      <p:sp>
        <p:nvSpPr>
          <p:cNvPr id="14" name="Text 11"/>
          <p:cNvSpPr txBox="1"/>
          <p:nvPr/>
        </p:nvSpPr>
        <p:spPr>
          <a:xfrm>
            <a:off x="8915400" y="2944368"/>
            <a:ext cx="2499055" cy="365760"/>
          </a:xfrm>
          <a:prstGeom prst="rect">
            <a:avLst/>
          </a:prstGeom>
          <a:noFill/>
          <a:ln/>
        </p:spPr>
        <p:txBody>
          <a:bodyPr wrap="square" lIns="0" tIns="0" rIns="0" bIns="0" rtlCol="0" anchor="ctr"/>
          <a:lstStyle/>
          <a:p>
            <a:pPr indent="0" marL="0">
              <a:buNone/>
            </a:pPr>
            <a:r>
              <a:rPr lang="en-US" sz="1400" b="1" dirty="0">
                <a:solidFill>
                  <a:srgbClr val="EEF5F1"/>
                </a:solidFill>
                <a:latin typeface="Calibri" pitchFamily="34" charset="0"/>
                <a:ea typeface="Calibri" pitchFamily="34" charset="-122"/>
                <a:cs typeface="Calibri" pitchFamily="34" charset="-120"/>
              </a:rPr>
              <a:t>Analog &amp; power</a:t>
            </a:r>
            <a:endParaRPr lang="en-US" sz="1400" dirty="0"/>
          </a:p>
        </p:txBody>
      </p:sp>
      <p:sp>
        <p:nvSpPr>
          <p:cNvPr id="15" name="Text 12"/>
          <p:cNvSpPr txBox="1"/>
          <p:nvPr/>
        </p:nvSpPr>
        <p:spPr>
          <a:xfrm>
            <a:off x="8641080" y="3337560"/>
            <a:ext cx="2773375" cy="36576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$321.0m  ·  27.1% of revenue  ·  60.1% gross margin</a:t>
            </a:r>
            <a:endParaRPr lang="en-US" sz="1200" dirty="0"/>
          </a:p>
        </p:txBody>
      </p:sp>
      <p:sp>
        <p:nvSpPr>
          <p:cNvPr id="16" name="Shape 13"/>
          <p:cNvSpPr/>
          <p:nvPr/>
        </p:nvSpPr>
        <p:spPr>
          <a:xfrm>
            <a:off x="8412480" y="3977640"/>
            <a:ext cx="3230575" cy="1051560"/>
          </a:xfrm>
          <a:prstGeom prst="roundRect">
            <a:avLst>
              <a:gd name="adj" fmla="val 13913"/>
            </a:avLst>
          </a:prstGeom>
          <a:solidFill>
            <a:srgbClr val="121A17"/>
          </a:solidFill>
          <a:ln w="9525">
            <a:solidFill>
              <a:srgbClr val="26332E"/>
            </a:solidFill>
            <a:prstDash val="solid"/>
          </a:ln>
        </p:spPr>
      </p:sp>
      <p:sp>
        <p:nvSpPr>
          <p:cNvPr id="17" name="Shape 14"/>
          <p:cNvSpPr/>
          <p:nvPr/>
        </p:nvSpPr>
        <p:spPr>
          <a:xfrm>
            <a:off x="8641080" y="4233672"/>
            <a:ext cx="164592" cy="164592"/>
          </a:xfrm>
          <a:prstGeom prst="ellipse">
            <a:avLst/>
          </a:prstGeom>
          <a:solidFill>
            <a:srgbClr val="B08C19"/>
          </a:solidFill>
          <a:ln w="12700">
            <a:solidFill>
              <a:srgbClr val="B08C19"/>
            </a:solidFill>
            <a:prstDash val="solid"/>
          </a:ln>
        </p:spPr>
      </p:sp>
      <p:sp>
        <p:nvSpPr>
          <p:cNvPr id="18" name="Text 15"/>
          <p:cNvSpPr txBox="1"/>
          <p:nvPr/>
        </p:nvSpPr>
        <p:spPr>
          <a:xfrm>
            <a:off x="8915400" y="4133088"/>
            <a:ext cx="2499055" cy="365760"/>
          </a:xfrm>
          <a:prstGeom prst="rect">
            <a:avLst/>
          </a:prstGeom>
          <a:noFill/>
          <a:ln/>
        </p:spPr>
        <p:txBody>
          <a:bodyPr wrap="square" lIns="0" tIns="0" rIns="0" bIns="0" rtlCol="0" anchor="ctr"/>
          <a:lstStyle/>
          <a:p>
            <a:pPr indent="0" marL="0">
              <a:buNone/>
            </a:pPr>
            <a:r>
              <a:rPr lang="en-US" sz="1400" b="1" dirty="0">
                <a:solidFill>
                  <a:srgbClr val="EEF5F1"/>
                </a:solidFill>
                <a:latin typeface="Calibri" pitchFamily="34" charset="0"/>
                <a:ea typeface="Calibri" pitchFamily="34" charset="-122"/>
                <a:cs typeface="Calibri" pitchFamily="34" charset="-120"/>
              </a:rPr>
              <a:t>FPGAs</a:t>
            </a:r>
            <a:endParaRPr lang="en-US" sz="1400" dirty="0"/>
          </a:p>
        </p:txBody>
      </p:sp>
      <p:sp>
        <p:nvSpPr>
          <p:cNvPr id="19" name="Text 16"/>
          <p:cNvSpPr txBox="1"/>
          <p:nvPr/>
        </p:nvSpPr>
        <p:spPr>
          <a:xfrm>
            <a:off x="8641080" y="4526280"/>
            <a:ext cx="2773375" cy="36576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$270.1m  ·  22.8% of revenue  ·  56.6% gross margin</a:t>
            </a:r>
            <a:endParaRPr lang="en-US" sz="1200" dirty="0"/>
          </a:p>
        </p:txBody>
      </p:sp>
      <p:sp>
        <p:nvSpPr>
          <p:cNvPr id="20" name="Shape 17"/>
          <p:cNvSpPr/>
          <p:nvPr/>
        </p:nvSpPr>
        <p:spPr>
          <a:xfrm>
            <a:off x="8412480" y="5166360"/>
            <a:ext cx="3230575" cy="960120"/>
          </a:xfrm>
          <a:prstGeom prst="roundRect">
            <a:avLst>
              <a:gd name="adj" fmla="val 15238"/>
            </a:avLst>
          </a:prstGeom>
          <a:solidFill>
            <a:srgbClr val="1F7A5A"/>
          </a:solidFill>
          <a:ln w="9525">
            <a:solidFill>
              <a:srgbClr val="26332E"/>
            </a:solidFill>
            <a:prstDash val="solid"/>
          </a:ln>
        </p:spPr>
      </p:sp>
      <p:sp>
        <p:nvSpPr>
          <p:cNvPr id="21" name="Text 18"/>
          <p:cNvSpPr txBox="1"/>
          <p:nvPr/>
        </p:nvSpPr>
        <p:spPr>
          <a:xfrm>
            <a:off x="8641080" y="5230368"/>
            <a:ext cx="2773375" cy="8229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Free cash flow $325.1m (27.4% of revenue); FY outlook +$7.8m vs budget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200" kern="0" dirty="0">
                <a:solidFill>
                  <a:srgbClr val="43C99A"/>
                </a:solidFill>
                <a:latin typeface="Calibri" pitchFamily="34" charset="0"/>
                <a:ea typeface="Calibri" pitchFamily="34" charset="-122"/>
                <a:cs typeface="Calibri" pitchFamily="34" charset="-120"/>
              </a:rPr>
              <a:t>BUDGET VS ACTUAL · YTD APRIL–AUGUST 2026</a:t>
            </a:r>
            <a:endParaRPr lang="en-US" sz="1100" dirty="0"/>
          </a:p>
        </p:txBody>
      </p:sp>
      <p:sp>
        <p:nvSpPr>
          <p:cNvPr id="3" name="Text 1"/>
          <p:cNvSpPr txBox="1"/>
          <p:nvPr/>
        </p:nvSpPr>
        <p:spPr>
          <a:xfrm>
            <a:off x="548640" y="621792"/>
            <a:ext cx="11094415" cy="822960"/>
          </a:xfrm>
          <a:prstGeom prst="rect">
            <a:avLst/>
          </a:prstGeom>
          <a:noFill/>
          <a:ln/>
        </p:spPr>
        <p:txBody>
          <a:bodyPr wrap="square" lIns="0" tIns="0" rIns="0" bIns="0" rtlCol="0" anchor="t"/>
          <a:lstStyle/>
          <a:p>
            <a:pPr indent="0" marL="0">
              <a:buNone/>
            </a:pPr>
            <a:r>
              <a:rPr lang="en-US" sz="3000" b="1" dirty="0">
                <a:solidFill>
                  <a:srgbClr val="EEF5F1"/>
                </a:solidFill>
                <a:latin typeface="Calibri" pitchFamily="34" charset="0"/>
                <a:ea typeface="Calibri" pitchFamily="34" charset="-122"/>
                <a:cs typeface="Calibri" pitchFamily="34" charset="-120"/>
              </a:rPr>
              <a:t>Operating profit is +$7.8m ahead of budget, driven by product mix</a:t>
            </a:r>
            <a:endParaRPr lang="en-US" sz="3000" dirty="0"/>
          </a:p>
        </p:txBody>
      </p:sp>
      <p:sp>
        <p:nvSpPr>
          <p:cNvPr id="4" name="Text 2"/>
          <p:cNvSpPr txBox="1"/>
          <p:nvPr/>
        </p:nvSpPr>
        <p:spPr>
          <a:xfrm>
            <a:off x="548640" y="6446520"/>
            <a:ext cx="9601200" cy="228600"/>
          </a:xfrm>
          <a:prstGeom prst="rect">
            <a:avLst/>
          </a:prstGeom>
          <a:noFill/>
          <a:ln/>
        </p:spPr>
        <p:txBody>
          <a:bodyPr wrap="square" lIns="0" tIns="0" rIns="0" bIns="0" rtlCol="0" anchor="ctr"/>
          <a:lstStyle/>
          <a:p>
            <a:pPr indent="0" marL="0">
              <a:buNone/>
            </a:pPr>
            <a:r>
              <a:rPr lang="en-US" sz="900" dirty="0">
                <a:solidFill>
                  <a:srgbClr val="7C8F86"/>
                </a:solidFill>
                <a:latin typeface="Calibri" pitchFamily="34" charset="0"/>
                <a:ea typeface="Calibri" pitchFamily="34" charset="-122"/>
                <a:cs typeface="Calibri" pitchFamily="34" charset="-120"/>
              </a:rPr>
              <a:t>Simulated data created for portfolio demonstration. It does not represent nonpublic Microchip Technology information.</a:t>
            </a:r>
            <a:endParaRPr lang="en-US" sz="900" dirty="0"/>
          </a:p>
        </p:txBody>
      </p:sp>
      <p:sp>
        <p:nvSpPr>
          <p:cNvPr id="5" name="Text 3"/>
          <p:cNvSpPr txBox="1"/>
          <p:nvPr/>
        </p:nvSpPr>
        <p:spPr>
          <a:xfrm>
            <a:off x="11094415" y="6446520"/>
            <a:ext cx="548640" cy="228600"/>
          </a:xfrm>
          <a:prstGeom prst="rect">
            <a:avLst/>
          </a:prstGeom>
          <a:noFill/>
          <a:ln/>
        </p:spPr>
        <p:txBody>
          <a:bodyPr wrap="square" lIns="0" tIns="0" rIns="0" bIns="0" rtlCol="0" anchor="ctr"/>
          <a:lstStyle/>
          <a:p>
            <a:pPr algn="r" indent="0" marL="0">
              <a:buNone/>
            </a:pPr>
            <a:r>
              <a:rPr lang="en-US" sz="900" dirty="0">
                <a:solidFill>
                  <a:srgbClr val="7C8F86"/>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548640" y="1600200"/>
            <a:ext cx="7589520" cy="4526280"/>
          </a:xfrm>
          <a:prstGeom prst="roundRect">
            <a:avLst>
              <a:gd name="adj" fmla="val 3232"/>
            </a:avLst>
          </a:prstGeom>
          <a:solidFill>
            <a:srgbClr val="121A17"/>
          </a:solidFill>
          <a:ln w="9525">
            <a:solidFill>
              <a:srgbClr val="26332E"/>
            </a:solidFill>
            <a:prstDash val="solid"/>
          </a:ln>
        </p:spPr>
      </p:sp>
      <p:sp>
        <p:nvSpPr>
          <p:cNvPr id="7" name="Text 5"/>
          <p:cNvSpPr txBox="1"/>
          <p:nvPr/>
        </p:nvSpPr>
        <p:spPr>
          <a:xfrm>
            <a:off x="777240" y="1764792"/>
            <a:ext cx="5486400" cy="27432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Operating-profit bridge, $m (favorable = positive)</a:t>
            </a:r>
            <a:endParaRPr lang="en-US" sz="1200" dirty="0"/>
          </a:p>
        </p:txBody>
      </p:sp>
      <p:sp>
        <p:nvSpPr>
          <p:cNvPr id="8" name="Text 6"/>
          <p:cNvSpPr txBox="1"/>
          <p:nvPr/>
        </p:nvSpPr>
        <p:spPr>
          <a:xfrm>
            <a:off x="1051560" y="5824728"/>
            <a:ext cx="2286000" cy="201168"/>
          </a:xfrm>
          <a:prstGeom prst="rect">
            <a:avLst/>
          </a:prstGeom>
          <a:noFill/>
          <a:ln/>
        </p:spPr>
        <p:txBody>
          <a:bodyPr wrap="square" lIns="0" tIns="0" rIns="0" bIns="0" rtlCol="0" anchor="ctr"/>
          <a:lstStyle/>
          <a:p>
            <a:pPr indent="0" marL="0">
              <a:buNone/>
            </a:pPr>
            <a:r>
              <a:rPr lang="en-US" sz="900" i="1" dirty="0">
                <a:solidFill>
                  <a:srgbClr val="7C8F86"/>
                </a:solidFill>
                <a:latin typeface="Calibri" pitchFamily="34" charset="0"/>
                <a:ea typeface="Calibri" pitchFamily="34" charset="-122"/>
                <a:cs typeface="Calibri" pitchFamily="34" charset="-120"/>
              </a:rPr>
              <a:t>axis starts at $140m</a:t>
            </a:r>
            <a:endParaRPr lang="en-US" sz="900" dirty="0"/>
          </a:p>
        </p:txBody>
      </p:sp>
      <p:sp>
        <p:nvSpPr>
          <p:cNvPr id="9" name="Shape 7"/>
          <p:cNvSpPr/>
          <p:nvPr/>
        </p:nvSpPr>
        <p:spPr>
          <a:xfrm>
            <a:off x="1170016" y="3700533"/>
            <a:ext cx="386542" cy="1557267"/>
          </a:xfrm>
          <a:prstGeom prst="roundRect">
            <a:avLst>
              <a:gd name="adj" fmla="val 14194"/>
            </a:avLst>
          </a:prstGeom>
          <a:solidFill>
            <a:srgbClr val="A497FF"/>
          </a:solidFill>
          <a:ln w="12700">
            <a:solidFill>
              <a:srgbClr val="A497FF"/>
            </a:solidFill>
            <a:prstDash val="solid"/>
          </a:ln>
        </p:spPr>
      </p:sp>
      <p:sp>
        <p:nvSpPr>
          <p:cNvPr id="10" name="Text 8"/>
          <p:cNvSpPr txBox="1"/>
          <p:nvPr/>
        </p:nvSpPr>
        <p:spPr>
          <a:xfrm>
            <a:off x="941416" y="3426213"/>
            <a:ext cx="843742" cy="237744"/>
          </a:xfrm>
          <a:prstGeom prst="rect">
            <a:avLst/>
          </a:prstGeom>
          <a:noFill/>
          <a:ln/>
        </p:spPr>
        <p:txBody>
          <a:bodyPr wrap="square" lIns="0" tIns="0" rIns="0" bIns="0" rtlCol="0" anchor="ctr"/>
          <a:lstStyle/>
          <a:p>
            <a:pPr algn="ctr" indent="0" marL="0">
              <a:buNone/>
            </a:pPr>
            <a:r>
              <a:rPr lang="en-US" sz="1050" b="1" dirty="0">
                <a:solidFill>
                  <a:srgbClr val="EEF5F1"/>
                </a:solidFill>
                <a:latin typeface="Calibri" pitchFamily="34" charset="0"/>
                <a:ea typeface="Calibri" pitchFamily="34" charset="-122"/>
                <a:cs typeface="Calibri" pitchFamily="34" charset="-120"/>
              </a:rPr>
              <a:t>$163.6</a:t>
            </a:r>
            <a:endParaRPr lang="en-US" sz="1050" dirty="0"/>
          </a:p>
        </p:txBody>
      </p:sp>
      <p:sp>
        <p:nvSpPr>
          <p:cNvPr id="11" name="Text 9"/>
          <p:cNvSpPr txBox="1"/>
          <p:nvPr/>
        </p:nvSpPr>
        <p:spPr>
          <a:xfrm>
            <a:off x="1032856" y="5330952"/>
            <a:ext cx="660862" cy="274320"/>
          </a:xfrm>
          <a:prstGeom prst="rect">
            <a:avLst/>
          </a:prstGeom>
          <a:noFill/>
          <a:ln/>
        </p:spPr>
        <p:txBody>
          <a:bodyPr wrap="square" lIns="0" tIns="0" rIns="0" bIns="0" rtlCol="0" anchor="t"/>
          <a:lstStyle/>
          <a:p>
            <a:pPr algn="ctr" indent="0" marL="0">
              <a:buNone/>
            </a:pPr>
            <a:r>
              <a:rPr lang="en-US" sz="1050" dirty="0">
                <a:solidFill>
                  <a:srgbClr val="A9BAB2"/>
                </a:solidFill>
                <a:latin typeface="Calibri" pitchFamily="34" charset="0"/>
                <a:ea typeface="Calibri" pitchFamily="34" charset="-122"/>
                <a:cs typeface="Calibri" pitchFamily="34" charset="-120"/>
              </a:rPr>
              <a:t>Budget</a:t>
            </a:r>
            <a:endParaRPr lang="en-US" sz="1050" dirty="0"/>
          </a:p>
        </p:txBody>
      </p:sp>
      <p:sp>
        <p:nvSpPr>
          <p:cNvPr id="12" name="Shape 10"/>
          <p:cNvSpPr/>
          <p:nvPr/>
        </p:nvSpPr>
        <p:spPr>
          <a:xfrm>
            <a:off x="1793471" y="3579916"/>
            <a:ext cx="386542" cy="120617"/>
          </a:xfrm>
          <a:prstGeom prst="roundRect">
            <a:avLst>
              <a:gd name="adj" fmla="val 45486"/>
            </a:avLst>
          </a:prstGeom>
          <a:solidFill>
            <a:srgbClr val="43C99A"/>
          </a:solidFill>
          <a:ln w="12700">
            <a:solidFill>
              <a:srgbClr val="43C99A"/>
            </a:solidFill>
            <a:prstDash val="solid"/>
          </a:ln>
        </p:spPr>
      </p:sp>
      <p:sp>
        <p:nvSpPr>
          <p:cNvPr id="13" name="Text 11"/>
          <p:cNvSpPr txBox="1"/>
          <p:nvPr/>
        </p:nvSpPr>
        <p:spPr>
          <a:xfrm>
            <a:off x="1564871" y="3305596"/>
            <a:ext cx="843742" cy="237744"/>
          </a:xfrm>
          <a:prstGeom prst="rect">
            <a:avLst/>
          </a:prstGeom>
          <a:noFill/>
          <a:ln/>
        </p:spPr>
        <p:txBody>
          <a:bodyPr wrap="square" lIns="0" tIns="0" rIns="0" bIns="0" rtlCol="0" anchor="ctr"/>
          <a:lstStyle/>
          <a:p>
            <a:pPr algn="ctr" indent="0" marL="0">
              <a:buNone/>
            </a:pPr>
            <a:r>
              <a:rPr lang="en-US" sz="1050" dirty="0">
                <a:solidFill>
                  <a:srgbClr val="EEF5F1"/>
                </a:solidFill>
                <a:latin typeface="Calibri" pitchFamily="34" charset="0"/>
                <a:ea typeface="Calibri" pitchFamily="34" charset="-122"/>
                <a:cs typeface="Calibri" pitchFamily="34" charset="-120"/>
              </a:rPr>
              <a:t>+1.8</a:t>
            </a:r>
            <a:endParaRPr lang="en-US" sz="1050" dirty="0"/>
          </a:p>
        </p:txBody>
      </p:sp>
      <p:sp>
        <p:nvSpPr>
          <p:cNvPr id="14" name="Text 12"/>
          <p:cNvSpPr txBox="1"/>
          <p:nvPr/>
        </p:nvSpPr>
        <p:spPr>
          <a:xfrm>
            <a:off x="1656311" y="5330952"/>
            <a:ext cx="660862" cy="274320"/>
          </a:xfrm>
          <a:prstGeom prst="rect">
            <a:avLst/>
          </a:prstGeom>
          <a:noFill/>
          <a:ln/>
        </p:spPr>
        <p:txBody>
          <a:bodyPr wrap="square" lIns="0" tIns="0" rIns="0" bIns="0" rtlCol="0" anchor="t"/>
          <a:lstStyle/>
          <a:p>
            <a:pPr algn="ctr" indent="0" marL="0">
              <a:buNone/>
            </a:pPr>
            <a:r>
              <a:rPr lang="en-US" sz="1050" dirty="0">
                <a:solidFill>
                  <a:srgbClr val="A9BAB2"/>
                </a:solidFill>
                <a:latin typeface="Calibri" pitchFamily="34" charset="0"/>
                <a:ea typeface="Calibri" pitchFamily="34" charset="-122"/>
                <a:cs typeface="Calibri" pitchFamily="34" charset="-120"/>
              </a:rPr>
              <a:t>Price</a:t>
            </a:r>
            <a:endParaRPr lang="en-US" sz="1050" dirty="0"/>
          </a:p>
        </p:txBody>
      </p:sp>
      <p:sp>
        <p:nvSpPr>
          <p:cNvPr id="15" name="Shape 13"/>
          <p:cNvSpPr/>
          <p:nvPr/>
        </p:nvSpPr>
        <p:spPr>
          <a:xfrm>
            <a:off x="2416925" y="3579916"/>
            <a:ext cx="386542" cy="297665"/>
          </a:xfrm>
          <a:prstGeom prst="roundRect">
            <a:avLst>
              <a:gd name="adj" fmla="val 18431"/>
            </a:avLst>
          </a:prstGeom>
          <a:solidFill>
            <a:srgbClr val="EF6B6B"/>
          </a:solidFill>
          <a:ln w="12700">
            <a:solidFill>
              <a:srgbClr val="EF6B6B"/>
            </a:solidFill>
            <a:prstDash val="solid"/>
          </a:ln>
        </p:spPr>
      </p:sp>
      <p:sp>
        <p:nvSpPr>
          <p:cNvPr id="16" name="Text 14"/>
          <p:cNvSpPr txBox="1"/>
          <p:nvPr/>
        </p:nvSpPr>
        <p:spPr>
          <a:xfrm>
            <a:off x="2188325" y="3305596"/>
            <a:ext cx="843742" cy="237744"/>
          </a:xfrm>
          <a:prstGeom prst="rect">
            <a:avLst/>
          </a:prstGeom>
          <a:noFill/>
          <a:ln/>
        </p:spPr>
        <p:txBody>
          <a:bodyPr wrap="square" lIns="0" tIns="0" rIns="0" bIns="0" rtlCol="0" anchor="ctr"/>
          <a:lstStyle/>
          <a:p>
            <a:pPr algn="ctr" indent="0" marL="0">
              <a:buNone/>
            </a:pPr>
            <a:r>
              <a:rPr lang="en-US" sz="1050" dirty="0">
                <a:solidFill>
                  <a:srgbClr val="EEF5F1"/>
                </a:solidFill>
                <a:latin typeface="Calibri" pitchFamily="34" charset="0"/>
                <a:ea typeface="Calibri" pitchFamily="34" charset="-122"/>
                <a:cs typeface="Calibri" pitchFamily="34" charset="-120"/>
              </a:rPr>
              <a:t>−4.5</a:t>
            </a:r>
            <a:endParaRPr lang="en-US" sz="1050" dirty="0"/>
          </a:p>
        </p:txBody>
      </p:sp>
      <p:sp>
        <p:nvSpPr>
          <p:cNvPr id="17" name="Text 15"/>
          <p:cNvSpPr txBox="1"/>
          <p:nvPr/>
        </p:nvSpPr>
        <p:spPr>
          <a:xfrm>
            <a:off x="2279765" y="5330952"/>
            <a:ext cx="660862" cy="274320"/>
          </a:xfrm>
          <a:prstGeom prst="rect">
            <a:avLst/>
          </a:prstGeom>
          <a:noFill/>
          <a:ln/>
        </p:spPr>
        <p:txBody>
          <a:bodyPr wrap="square" lIns="0" tIns="0" rIns="0" bIns="0" rtlCol="0" anchor="t"/>
          <a:lstStyle/>
          <a:p>
            <a:pPr algn="ctr" indent="0" marL="0">
              <a:buNone/>
            </a:pPr>
            <a:r>
              <a:rPr lang="en-US" sz="1050" dirty="0">
                <a:solidFill>
                  <a:srgbClr val="A9BAB2"/>
                </a:solidFill>
                <a:latin typeface="Calibri" pitchFamily="34" charset="0"/>
                <a:ea typeface="Calibri" pitchFamily="34" charset="-122"/>
                <a:cs typeface="Calibri" pitchFamily="34" charset="-120"/>
              </a:rPr>
              <a:t>Volume</a:t>
            </a:r>
            <a:endParaRPr lang="en-US" sz="1050" dirty="0"/>
          </a:p>
        </p:txBody>
      </p:sp>
      <p:sp>
        <p:nvSpPr>
          <p:cNvPr id="18" name="Shape 16"/>
          <p:cNvSpPr/>
          <p:nvPr/>
        </p:nvSpPr>
        <p:spPr>
          <a:xfrm>
            <a:off x="3040380" y="2989272"/>
            <a:ext cx="386542" cy="888309"/>
          </a:xfrm>
          <a:prstGeom prst="roundRect">
            <a:avLst>
              <a:gd name="adj" fmla="val 14194"/>
            </a:avLst>
          </a:prstGeom>
          <a:solidFill>
            <a:srgbClr val="43C99A"/>
          </a:solidFill>
          <a:ln w="12700">
            <a:solidFill>
              <a:srgbClr val="43C99A"/>
            </a:solidFill>
            <a:prstDash val="solid"/>
          </a:ln>
        </p:spPr>
      </p:sp>
      <p:sp>
        <p:nvSpPr>
          <p:cNvPr id="19" name="Text 17"/>
          <p:cNvSpPr txBox="1"/>
          <p:nvPr/>
        </p:nvSpPr>
        <p:spPr>
          <a:xfrm>
            <a:off x="2811780" y="2714952"/>
            <a:ext cx="843742" cy="237744"/>
          </a:xfrm>
          <a:prstGeom prst="rect">
            <a:avLst/>
          </a:prstGeom>
          <a:noFill/>
          <a:ln/>
        </p:spPr>
        <p:txBody>
          <a:bodyPr wrap="square" lIns="0" tIns="0" rIns="0" bIns="0" rtlCol="0" anchor="ctr"/>
          <a:lstStyle/>
          <a:p>
            <a:pPr algn="ctr" indent="0" marL="0">
              <a:buNone/>
            </a:pPr>
            <a:r>
              <a:rPr lang="en-US" sz="1050" dirty="0">
                <a:solidFill>
                  <a:srgbClr val="EEF5F1"/>
                </a:solidFill>
                <a:latin typeface="Calibri" pitchFamily="34" charset="0"/>
                <a:ea typeface="Calibri" pitchFamily="34" charset="-122"/>
                <a:cs typeface="Calibri" pitchFamily="34" charset="-120"/>
              </a:rPr>
              <a:t>+13.5</a:t>
            </a:r>
            <a:endParaRPr lang="en-US" sz="1050" dirty="0"/>
          </a:p>
        </p:txBody>
      </p:sp>
      <p:sp>
        <p:nvSpPr>
          <p:cNvPr id="20" name="Text 18"/>
          <p:cNvSpPr txBox="1"/>
          <p:nvPr/>
        </p:nvSpPr>
        <p:spPr>
          <a:xfrm>
            <a:off x="2903220" y="5330952"/>
            <a:ext cx="660862" cy="274320"/>
          </a:xfrm>
          <a:prstGeom prst="rect">
            <a:avLst/>
          </a:prstGeom>
          <a:noFill/>
          <a:ln/>
        </p:spPr>
        <p:txBody>
          <a:bodyPr wrap="square" lIns="0" tIns="0" rIns="0" bIns="0" rtlCol="0" anchor="t"/>
          <a:lstStyle/>
          <a:p>
            <a:pPr algn="ctr" indent="0" marL="0">
              <a:buNone/>
            </a:pPr>
            <a:r>
              <a:rPr lang="en-US" sz="1050" dirty="0">
                <a:solidFill>
                  <a:srgbClr val="A9BAB2"/>
                </a:solidFill>
                <a:latin typeface="Calibri" pitchFamily="34" charset="0"/>
                <a:ea typeface="Calibri" pitchFamily="34" charset="-122"/>
                <a:cs typeface="Calibri" pitchFamily="34" charset="-120"/>
              </a:rPr>
              <a:t>Mix</a:t>
            </a:r>
            <a:endParaRPr lang="en-US" sz="1050" dirty="0"/>
          </a:p>
        </p:txBody>
      </p:sp>
      <p:sp>
        <p:nvSpPr>
          <p:cNvPr id="21" name="Shape 19"/>
          <p:cNvSpPr/>
          <p:nvPr/>
        </p:nvSpPr>
        <p:spPr>
          <a:xfrm>
            <a:off x="3663835" y="2989272"/>
            <a:ext cx="386542" cy="114645"/>
          </a:xfrm>
          <a:prstGeom prst="roundRect">
            <a:avLst>
              <a:gd name="adj" fmla="val 47856"/>
            </a:avLst>
          </a:prstGeom>
          <a:solidFill>
            <a:srgbClr val="EF6B6B"/>
          </a:solidFill>
          <a:ln w="12700">
            <a:solidFill>
              <a:srgbClr val="EF6B6B"/>
            </a:solidFill>
            <a:prstDash val="solid"/>
          </a:ln>
        </p:spPr>
      </p:sp>
      <p:sp>
        <p:nvSpPr>
          <p:cNvPr id="22" name="Text 20"/>
          <p:cNvSpPr txBox="1"/>
          <p:nvPr/>
        </p:nvSpPr>
        <p:spPr>
          <a:xfrm>
            <a:off x="3435235" y="2714952"/>
            <a:ext cx="843742" cy="237744"/>
          </a:xfrm>
          <a:prstGeom prst="rect">
            <a:avLst/>
          </a:prstGeom>
          <a:noFill/>
          <a:ln/>
        </p:spPr>
        <p:txBody>
          <a:bodyPr wrap="square" lIns="0" tIns="0" rIns="0" bIns="0" rtlCol="0" anchor="ctr"/>
          <a:lstStyle/>
          <a:p>
            <a:pPr algn="ctr" indent="0" marL="0">
              <a:buNone/>
            </a:pPr>
            <a:r>
              <a:rPr lang="en-US" sz="1050" dirty="0">
                <a:solidFill>
                  <a:srgbClr val="EEF5F1"/>
                </a:solidFill>
                <a:latin typeface="Calibri" pitchFamily="34" charset="0"/>
                <a:ea typeface="Calibri" pitchFamily="34" charset="-122"/>
                <a:cs typeface="Calibri" pitchFamily="34" charset="-120"/>
              </a:rPr>
              <a:t>−1.7</a:t>
            </a:r>
            <a:endParaRPr lang="en-US" sz="1050" dirty="0"/>
          </a:p>
        </p:txBody>
      </p:sp>
      <p:sp>
        <p:nvSpPr>
          <p:cNvPr id="23" name="Text 21"/>
          <p:cNvSpPr txBox="1"/>
          <p:nvPr/>
        </p:nvSpPr>
        <p:spPr>
          <a:xfrm>
            <a:off x="3526675" y="5330952"/>
            <a:ext cx="660862" cy="274320"/>
          </a:xfrm>
          <a:prstGeom prst="rect">
            <a:avLst/>
          </a:prstGeom>
          <a:noFill/>
          <a:ln/>
        </p:spPr>
        <p:txBody>
          <a:bodyPr wrap="square" lIns="0" tIns="0" rIns="0" bIns="0" rtlCol="0" anchor="t"/>
          <a:lstStyle/>
          <a:p>
            <a:pPr algn="ctr" indent="0" marL="0">
              <a:buNone/>
            </a:pPr>
            <a:r>
              <a:rPr lang="en-US" sz="1050" dirty="0">
                <a:solidFill>
                  <a:srgbClr val="A9BAB2"/>
                </a:solidFill>
                <a:latin typeface="Calibri" pitchFamily="34" charset="0"/>
                <a:ea typeface="Calibri" pitchFamily="34" charset="-122"/>
                <a:cs typeface="Calibri" pitchFamily="34" charset="-120"/>
              </a:rPr>
              <a:t>Material</a:t>
            </a:r>
            <a:endParaRPr lang="en-US" sz="1050" dirty="0"/>
          </a:p>
        </p:txBody>
      </p:sp>
      <p:sp>
        <p:nvSpPr>
          <p:cNvPr id="24" name="Shape 22"/>
          <p:cNvSpPr/>
          <p:nvPr/>
        </p:nvSpPr>
        <p:spPr>
          <a:xfrm>
            <a:off x="4287289" y="3103917"/>
            <a:ext cx="386542" cy="57583"/>
          </a:xfrm>
          <a:prstGeom prst="roundRect">
            <a:avLst>
              <a:gd name="adj" fmla="val 50000"/>
            </a:avLst>
          </a:prstGeom>
          <a:solidFill>
            <a:srgbClr val="EF6B6B"/>
          </a:solidFill>
          <a:ln w="12700">
            <a:solidFill>
              <a:srgbClr val="EF6B6B"/>
            </a:solidFill>
            <a:prstDash val="solid"/>
          </a:ln>
        </p:spPr>
      </p:sp>
      <p:sp>
        <p:nvSpPr>
          <p:cNvPr id="25" name="Text 23"/>
          <p:cNvSpPr txBox="1"/>
          <p:nvPr/>
        </p:nvSpPr>
        <p:spPr>
          <a:xfrm>
            <a:off x="4058689" y="2829597"/>
            <a:ext cx="843742" cy="237744"/>
          </a:xfrm>
          <a:prstGeom prst="rect">
            <a:avLst/>
          </a:prstGeom>
          <a:noFill/>
          <a:ln/>
        </p:spPr>
        <p:txBody>
          <a:bodyPr wrap="square" lIns="0" tIns="0" rIns="0" bIns="0" rtlCol="0" anchor="ctr"/>
          <a:lstStyle/>
          <a:p>
            <a:pPr algn="ctr" indent="0" marL="0">
              <a:buNone/>
            </a:pPr>
            <a:r>
              <a:rPr lang="en-US" sz="1050" dirty="0">
                <a:solidFill>
                  <a:srgbClr val="EEF5F1"/>
                </a:solidFill>
                <a:latin typeface="Calibri" pitchFamily="34" charset="0"/>
                <a:ea typeface="Calibri" pitchFamily="34" charset="-122"/>
                <a:cs typeface="Calibri" pitchFamily="34" charset="-120"/>
              </a:rPr>
              <a:t>−0.9</a:t>
            </a:r>
            <a:endParaRPr lang="en-US" sz="1050" dirty="0"/>
          </a:p>
        </p:txBody>
      </p:sp>
      <p:sp>
        <p:nvSpPr>
          <p:cNvPr id="26" name="Text 24"/>
          <p:cNvSpPr txBox="1"/>
          <p:nvPr/>
        </p:nvSpPr>
        <p:spPr>
          <a:xfrm>
            <a:off x="4150129" y="5330952"/>
            <a:ext cx="660862" cy="274320"/>
          </a:xfrm>
          <a:prstGeom prst="rect">
            <a:avLst/>
          </a:prstGeom>
          <a:noFill/>
          <a:ln/>
        </p:spPr>
        <p:txBody>
          <a:bodyPr wrap="square" lIns="0" tIns="0" rIns="0" bIns="0" rtlCol="0" anchor="t"/>
          <a:lstStyle/>
          <a:p>
            <a:pPr algn="ctr" indent="0" marL="0">
              <a:buNone/>
            </a:pPr>
            <a:r>
              <a:rPr lang="en-US" sz="1050" dirty="0">
                <a:solidFill>
                  <a:srgbClr val="A9BAB2"/>
                </a:solidFill>
                <a:latin typeface="Calibri" pitchFamily="34" charset="0"/>
                <a:ea typeface="Calibri" pitchFamily="34" charset="-122"/>
                <a:cs typeface="Calibri" pitchFamily="34" charset="-120"/>
              </a:rPr>
              <a:t>Yield</a:t>
            </a:r>
            <a:endParaRPr lang="en-US" sz="1050" dirty="0"/>
          </a:p>
        </p:txBody>
      </p:sp>
      <p:sp>
        <p:nvSpPr>
          <p:cNvPr id="27" name="Shape 25"/>
          <p:cNvSpPr/>
          <p:nvPr/>
        </p:nvSpPr>
        <p:spPr>
          <a:xfrm>
            <a:off x="4910744" y="3161500"/>
            <a:ext cx="386542" cy="62753"/>
          </a:xfrm>
          <a:prstGeom prst="roundRect">
            <a:avLst>
              <a:gd name="adj" fmla="val 50000"/>
            </a:avLst>
          </a:prstGeom>
          <a:solidFill>
            <a:srgbClr val="EF6B6B"/>
          </a:solidFill>
          <a:ln w="12700">
            <a:solidFill>
              <a:srgbClr val="EF6B6B"/>
            </a:solidFill>
            <a:prstDash val="solid"/>
          </a:ln>
        </p:spPr>
      </p:sp>
      <p:sp>
        <p:nvSpPr>
          <p:cNvPr id="28" name="Text 26"/>
          <p:cNvSpPr txBox="1"/>
          <p:nvPr/>
        </p:nvSpPr>
        <p:spPr>
          <a:xfrm>
            <a:off x="4682144" y="2887180"/>
            <a:ext cx="843742" cy="237744"/>
          </a:xfrm>
          <a:prstGeom prst="rect">
            <a:avLst/>
          </a:prstGeom>
          <a:noFill/>
          <a:ln/>
        </p:spPr>
        <p:txBody>
          <a:bodyPr wrap="square" lIns="0" tIns="0" rIns="0" bIns="0" rtlCol="0" anchor="ctr"/>
          <a:lstStyle/>
          <a:p>
            <a:pPr algn="ctr" indent="0" marL="0">
              <a:buNone/>
            </a:pPr>
            <a:r>
              <a:rPr lang="en-US" sz="1050" dirty="0">
                <a:solidFill>
                  <a:srgbClr val="EEF5F1"/>
                </a:solidFill>
                <a:latin typeface="Calibri" pitchFamily="34" charset="0"/>
                <a:ea typeface="Calibri" pitchFamily="34" charset="-122"/>
                <a:cs typeface="Calibri" pitchFamily="34" charset="-120"/>
              </a:rPr>
              <a:t>−1.0</a:t>
            </a:r>
            <a:endParaRPr lang="en-US" sz="1050" dirty="0"/>
          </a:p>
        </p:txBody>
      </p:sp>
      <p:sp>
        <p:nvSpPr>
          <p:cNvPr id="29" name="Text 27"/>
          <p:cNvSpPr txBox="1"/>
          <p:nvPr/>
        </p:nvSpPr>
        <p:spPr>
          <a:xfrm>
            <a:off x="4773584" y="5330952"/>
            <a:ext cx="660862" cy="274320"/>
          </a:xfrm>
          <a:prstGeom prst="rect">
            <a:avLst/>
          </a:prstGeom>
          <a:noFill/>
          <a:ln/>
        </p:spPr>
        <p:txBody>
          <a:bodyPr wrap="square" lIns="0" tIns="0" rIns="0" bIns="0" rtlCol="0" anchor="t"/>
          <a:lstStyle/>
          <a:p>
            <a:pPr algn="ctr" indent="0" marL="0">
              <a:buNone/>
            </a:pPr>
            <a:r>
              <a:rPr lang="en-US" sz="1050" dirty="0">
                <a:solidFill>
                  <a:srgbClr val="A9BAB2"/>
                </a:solidFill>
                <a:latin typeface="Calibri" pitchFamily="34" charset="0"/>
                <a:ea typeface="Calibri" pitchFamily="34" charset="-122"/>
                <a:cs typeface="Calibri" pitchFamily="34" charset="-120"/>
              </a:rPr>
              <a:t>Fixed mfg</a:t>
            </a:r>
            <a:endParaRPr lang="en-US" sz="1050" dirty="0"/>
          </a:p>
        </p:txBody>
      </p:sp>
      <p:sp>
        <p:nvSpPr>
          <p:cNvPr id="30" name="Shape 28"/>
          <p:cNvSpPr/>
          <p:nvPr/>
        </p:nvSpPr>
        <p:spPr>
          <a:xfrm>
            <a:off x="5534198" y="3107311"/>
            <a:ext cx="386542" cy="116942"/>
          </a:xfrm>
          <a:prstGeom prst="roundRect">
            <a:avLst>
              <a:gd name="adj" fmla="val 46916"/>
            </a:avLst>
          </a:prstGeom>
          <a:solidFill>
            <a:srgbClr val="43C99A"/>
          </a:solidFill>
          <a:ln w="12700">
            <a:solidFill>
              <a:srgbClr val="43C99A"/>
            </a:solidFill>
            <a:prstDash val="solid"/>
          </a:ln>
        </p:spPr>
      </p:sp>
      <p:sp>
        <p:nvSpPr>
          <p:cNvPr id="31" name="Text 29"/>
          <p:cNvSpPr txBox="1"/>
          <p:nvPr/>
        </p:nvSpPr>
        <p:spPr>
          <a:xfrm>
            <a:off x="5305598" y="2832991"/>
            <a:ext cx="843742" cy="237744"/>
          </a:xfrm>
          <a:prstGeom prst="rect">
            <a:avLst/>
          </a:prstGeom>
          <a:noFill/>
          <a:ln/>
        </p:spPr>
        <p:txBody>
          <a:bodyPr wrap="square" lIns="0" tIns="0" rIns="0" bIns="0" rtlCol="0" anchor="ctr"/>
          <a:lstStyle/>
          <a:p>
            <a:pPr algn="ctr" indent="0" marL="0">
              <a:buNone/>
            </a:pPr>
            <a:r>
              <a:rPr lang="en-US" sz="1050" dirty="0">
                <a:solidFill>
                  <a:srgbClr val="EEF5F1"/>
                </a:solidFill>
                <a:latin typeface="Calibri" pitchFamily="34" charset="0"/>
                <a:ea typeface="Calibri" pitchFamily="34" charset="-122"/>
                <a:cs typeface="Calibri" pitchFamily="34" charset="-120"/>
              </a:rPr>
              <a:t>+1.8</a:t>
            </a:r>
            <a:endParaRPr lang="en-US" sz="1050" dirty="0"/>
          </a:p>
        </p:txBody>
      </p:sp>
      <p:sp>
        <p:nvSpPr>
          <p:cNvPr id="32" name="Text 30"/>
          <p:cNvSpPr txBox="1"/>
          <p:nvPr/>
        </p:nvSpPr>
        <p:spPr>
          <a:xfrm>
            <a:off x="5397038" y="5330952"/>
            <a:ext cx="660862" cy="274320"/>
          </a:xfrm>
          <a:prstGeom prst="rect">
            <a:avLst/>
          </a:prstGeom>
          <a:noFill/>
          <a:ln/>
        </p:spPr>
        <p:txBody>
          <a:bodyPr wrap="square" lIns="0" tIns="0" rIns="0" bIns="0" rtlCol="0" anchor="t"/>
          <a:lstStyle/>
          <a:p>
            <a:pPr algn="ctr" indent="0" marL="0">
              <a:buNone/>
            </a:pPr>
            <a:r>
              <a:rPr lang="en-US" sz="1050" dirty="0">
                <a:solidFill>
                  <a:srgbClr val="A9BAB2"/>
                </a:solidFill>
                <a:latin typeface="Calibri" pitchFamily="34" charset="0"/>
                <a:ea typeface="Calibri" pitchFamily="34" charset="-122"/>
                <a:cs typeface="Calibri" pitchFamily="34" charset="-120"/>
              </a:rPr>
              <a:t>Vol. &amp; inv.</a:t>
            </a:r>
            <a:endParaRPr lang="en-US" sz="1050" dirty="0"/>
          </a:p>
        </p:txBody>
      </p:sp>
      <p:sp>
        <p:nvSpPr>
          <p:cNvPr id="33" name="Shape 31"/>
          <p:cNvSpPr/>
          <p:nvPr/>
        </p:nvSpPr>
        <p:spPr>
          <a:xfrm>
            <a:off x="6157653" y="3107311"/>
            <a:ext cx="386542" cy="165100"/>
          </a:xfrm>
          <a:prstGeom prst="roundRect">
            <a:avLst>
              <a:gd name="adj" fmla="val 33231"/>
            </a:avLst>
          </a:prstGeom>
          <a:solidFill>
            <a:srgbClr val="EF6B6B"/>
          </a:solidFill>
          <a:ln w="12700">
            <a:solidFill>
              <a:srgbClr val="EF6B6B"/>
            </a:solidFill>
            <a:prstDash val="solid"/>
          </a:ln>
        </p:spPr>
      </p:sp>
      <p:sp>
        <p:nvSpPr>
          <p:cNvPr id="34" name="Text 32"/>
          <p:cNvSpPr txBox="1"/>
          <p:nvPr/>
        </p:nvSpPr>
        <p:spPr>
          <a:xfrm>
            <a:off x="5929053" y="2832991"/>
            <a:ext cx="843742" cy="237744"/>
          </a:xfrm>
          <a:prstGeom prst="rect">
            <a:avLst/>
          </a:prstGeom>
          <a:noFill/>
          <a:ln/>
        </p:spPr>
        <p:txBody>
          <a:bodyPr wrap="square" lIns="0" tIns="0" rIns="0" bIns="0" rtlCol="0" anchor="ctr"/>
          <a:lstStyle/>
          <a:p>
            <a:pPr algn="ctr" indent="0" marL="0">
              <a:buNone/>
            </a:pPr>
            <a:r>
              <a:rPr lang="en-US" sz="1050" dirty="0">
                <a:solidFill>
                  <a:srgbClr val="EEF5F1"/>
                </a:solidFill>
                <a:latin typeface="Calibri" pitchFamily="34" charset="0"/>
                <a:ea typeface="Calibri" pitchFamily="34" charset="-122"/>
                <a:cs typeface="Calibri" pitchFamily="34" charset="-120"/>
              </a:rPr>
              <a:t>−2.5</a:t>
            </a:r>
            <a:endParaRPr lang="en-US" sz="1050" dirty="0"/>
          </a:p>
        </p:txBody>
      </p:sp>
      <p:sp>
        <p:nvSpPr>
          <p:cNvPr id="35" name="Text 33"/>
          <p:cNvSpPr txBox="1"/>
          <p:nvPr/>
        </p:nvSpPr>
        <p:spPr>
          <a:xfrm>
            <a:off x="6020493" y="5330952"/>
            <a:ext cx="660862" cy="274320"/>
          </a:xfrm>
          <a:prstGeom prst="rect">
            <a:avLst/>
          </a:prstGeom>
          <a:noFill/>
          <a:ln/>
        </p:spPr>
        <p:txBody>
          <a:bodyPr wrap="square" lIns="0" tIns="0" rIns="0" bIns="0" rtlCol="0" anchor="t"/>
          <a:lstStyle/>
          <a:p>
            <a:pPr algn="ctr" indent="0" marL="0">
              <a:buNone/>
            </a:pPr>
            <a:r>
              <a:rPr lang="en-US" sz="1050" dirty="0">
                <a:solidFill>
                  <a:srgbClr val="A9BAB2"/>
                </a:solidFill>
                <a:latin typeface="Calibri" pitchFamily="34" charset="0"/>
                <a:ea typeface="Calibri" pitchFamily="34" charset="-122"/>
                <a:cs typeface="Calibri" pitchFamily="34" charset="-120"/>
              </a:rPr>
              <a:t>R&amp;D</a:t>
            </a:r>
            <a:endParaRPr lang="en-US" sz="1050" dirty="0"/>
          </a:p>
        </p:txBody>
      </p:sp>
      <p:sp>
        <p:nvSpPr>
          <p:cNvPr id="36" name="Shape 34"/>
          <p:cNvSpPr/>
          <p:nvPr/>
        </p:nvSpPr>
        <p:spPr>
          <a:xfrm>
            <a:off x="6781107" y="3184358"/>
            <a:ext cx="386542" cy="88053"/>
          </a:xfrm>
          <a:prstGeom prst="roundRect">
            <a:avLst>
              <a:gd name="adj" fmla="val 50000"/>
            </a:avLst>
          </a:prstGeom>
          <a:solidFill>
            <a:srgbClr val="43C99A"/>
          </a:solidFill>
          <a:ln w="12700">
            <a:solidFill>
              <a:srgbClr val="43C99A"/>
            </a:solidFill>
            <a:prstDash val="solid"/>
          </a:ln>
        </p:spPr>
      </p:sp>
      <p:sp>
        <p:nvSpPr>
          <p:cNvPr id="37" name="Text 35"/>
          <p:cNvSpPr txBox="1"/>
          <p:nvPr/>
        </p:nvSpPr>
        <p:spPr>
          <a:xfrm>
            <a:off x="6552507" y="2910038"/>
            <a:ext cx="843742" cy="237744"/>
          </a:xfrm>
          <a:prstGeom prst="rect">
            <a:avLst/>
          </a:prstGeom>
          <a:noFill/>
          <a:ln/>
        </p:spPr>
        <p:txBody>
          <a:bodyPr wrap="square" lIns="0" tIns="0" rIns="0" bIns="0" rtlCol="0" anchor="ctr"/>
          <a:lstStyle/>
          <a:p>
            <a:pPr algn="ctr" indent="0" marL="0">
              <a:buNone/>
            </a:pPr>
            <a:r>
              <a:rPr lang="en-US" sz="1050" dirty="0">
                <a:solidFill>
                  <a:srgbClr val="EEF5F1"/>
                </a:solidFill>
                <a:latin typeface="Calibri" pitchFamily="34" charset="0"/>
                <a:ea typeface="Calibri" pitchFamily="34" charset="-122"/>
                <a:cs typeface="Calibri" pitchFamily="34" charset="-120"/>
              </a:rPr>
              <a:t>+1.3</a:t>
            </a:r>
            <a:endParaRPr lang="en-US" sz="1050" dirty="0"/>
          </a:p>
        </p:txBody>
      </p:sp>
      <p:sp>
        <p:nvSpPr>
          <p:cNvPr id="38" name="Text 36"/>
          <p:cNvSpPr txBox="1"/>
          <p:nvPr/>
        </p:nvSpPr>
        <p:spPr>
          <a:xfrm>
            <a:off x="6643947" y="5330952"/>
            <a:ext cx="660862" cy="274320"/>
          </a:xfrm>
          <a:prstGeom prst="rect">
            <a:avLst/>
          </a:prstGeom>
          <a:noFill/>
          <a:ln/>
        </p:spPr>
        <p:txBody>
          <a:bodyPr wrap="square" lIns="0" tIns="0" rIns="0" bIns="0" rtlCol="0" anchor="t"/>
          <a:lstStyle/>
          <a:p>
            <a:pPr algn="ctr" indent="0" marL="0">
              <a:buNone/>
            </a:pPr>
            <a:r>
              <a:rPr lang="en-US" sz="1050" dirty="0">
                <a:solidFill>
                  <a:srgbClr val="A9BAB2"/>
                </a:solidFill>
                <a:latin typeface="Calibri" pitchFamily="34" charset="0"/>
                <a:ea typeface="Calibri" pitchFamily="34" charset="-122"/>
                <a:cs typeface="Calibri" pitchFamily="34" charset="-120"/>
              </a:rPr>
              <a:t>SG&amp;A</a:t>
            </a:r>
            <a:endParaRPr lang="en-US" sz="1050" dirty="0"/>
          </a:p>
        </p:txBody>
      </p:sp>
      <p:sp>
        <p:nvSpPr>
          <p:cNvPr id="39" name="Shape 37"/>
          <p:cNvSpPr/>
          <p:nvPr/>
        </p:nvSpPr>
        <p:spPr>
          <a:xfrm>
            <a:off x="7404562" y="3184358"/>
            <a:ext cx="386542" cy="2073442"/>
          </a:xfrm>
          <a:prstGeom prst="roundRect">
            <a:avLst>
              <a:gd name="adj" fmla="val 14194"/>
            </a:avLst>
          </a:prstGeom>
          <a:solidFill>
            <a:srgbClr val="A497FF"/>
          </a:solidFill>
          <a:ln w="12700">
            <a:solidFill>
              <a:srgbClr val="A497FF"/>
            </a:solidFill>
            <a:prstDash val="solid"/>
          </a:ln>
        </p:spPr>
      </p:sp>
      <p:sp>
        <p:nvSpPr>
          <p:cNvPr id="40" name="Text 38"/>
          <p:cNvSpPr txBox="1"/>
          <p:nvPr/>
        </p:nvSpPr>
        <p:spPr>
          <a:xfrm>
            <a:off x="7175962" y="2910038"/>
            <a:ext cx="843742" cy="237744"/>
          </a:xfrm>
          <a:prstGeom prst="rect">
            <a:avLst/>
          </a:prstGeom>
          <a:noFill/>
          <a:ln/>
        </p:spPr>
        <p:txBody>
          <a:bodyPr wrap="square" lIns="0" tIns="0" rIns="0" bIns="0" rtlCol="0" anchor="ctr"/>
          <a:lstStyle/>
          <a:p>
            <a:pPr algn="ctr" indent="0" marL="0">
              <a:buNone/>
            </a:pPr>
            <a:r>
              <a:rPr lang="en-US" sz="1050" b="1" dirty="0">
                <a:solidFill>
                  <a:srgbClr val="EEF5F1"/>
                </a:solidFill>
                <a:latin typeface="Calibri" pitchFamily="34" charset="0"/>
                <a:ea typeface="Calibri" pitchFamily="34" charset="-122"/>
                <a:cs typeface="Calibri" pitchFamily="34" charset="-120"/>
              </a:rPr>
              <a:t>$171.4</a:t>
            </a:r>
            <a:endParaRPr lang="en-US" sz="1050" dirty="0"/>
          </a:p>
        </p:txBody>
      </p:sp>
      <p:sp>
        <p:nvSpPr>
          <p:cNvPr id="41" name="Text 39"/>
          <p:cNvSpPr txBox="1"/>
          <p:nvPr/>
        </p:nvSpPr>
        <p:spPr>
          <a:xfrm>
            <a:off x="7267402" y="5330952"/>
            <a:ext cx="660862" cy="274320"/>
          </a:xfrm>
          <a:prstGeom prst="rect">
            <a:avLst/>
          </a:prstGeom>
          <a:noFill/>
          <a:ln/>
        </p:spPr>
        <p:txBody>
          <a:bodyPr wrap="square" lIns="0" tIns="0" rIns="0" bIns="0" rtlCol="0" anchor="t"/>
          <a:lstStyle/>
          <a:p>
            <a:pPr algn="ctr" indent="0" marL="0">
              <a:buNone/>
            </a:pPr>
            <a:r>
              <a:rPr lang="en-US" sz="1050" dirty="0">
                <a:solidFill>
                  <a:srgbClr val="A9BAB2"/>
                </a:solidFill>
                <a:latin typeface="Calibri" pitchFamily="34" charset="0"/>
                <a:ea typeface="Calibri" pitchFamily="34" charset="-122"/>
                <a:cs typeface="Calibri" pitchFamily="34" charset="-120"/>
              </a:rPr>
              <a:t>Actual</a:t>
            </a:r>
            <a:endParaRPr lang="en-US" sz="1050" dirty="0"/>
          </a:p>
        </p:txBody>
      </p:sp>
      <p:sp>
        <p:nvSpPr>
          <p:cNvPr id="42" name="Shape 40"/>
          <p:cNvSpPr/>
          <p:nvPr/>
        </p:nvSpPr>
        <p:spPr>
          <a:xfrm>
            <a:off x="8412480" y="1600200"/>
            <a:ext cx="3230575" cy="4526280"/>
          </a:xfrm>
          <a:prstGeom prst="roundRect">
            <a:avLst>
              <a:gd name="adj" fmla="val 4529"/>
            </a:avLst>
          </a:prstGeom>
          <a:solidFill>
            <a:srgbClr val="121A17"/>
          </a:solidFill>
          <a:ln w="9525">
            <a:solidFill>
              <a:srgbClr val="26332E"/>
            </a:solidFill>
            <a:prstDash val="solid"/>
          </a:ln>
        </p:spPr>
      </p:sp>
      <p:sp>
        <p:nvSpPr>
          <p:cNvPr id="43" name="Text 41"/>
          <p:cNvSpPr txBox="1"/>
          <p:nvPr/>
        </p:nvSpPr>
        <p:spPr>
          <a:xfrm>
            <a:off x="8641080" y="1764792"/>
            <a:ext cx="2773375" cy="27432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Required variances (division, $m)</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595360" y="2148840"/>
          <a:ext cx="2864815" cy="914400"/>
        </p:xfrm>
        <a:graphic>
          <a:graphicData uri="http://schemas.openxmlformats.org/drawingml/2006/table">
            <a:tbl>
              <a:tblPr/>
              <a:tblGrid>
                <a:gridCol w="1767535"/>
                <a:gridCol w="1097280"/>
              </a:tblGrid>
              <a:tr h="329184">
                <a:tc>
                  <a:txBody>
                    <a:bodyPr/>
                    <a:lstStyle/>
                    <a:p>
                      <a:pPr indent="0" marL="0">
                        <a:buNone/>
                      </a:pPr>
                      <a:r>
                        <a:rPr lang="en-US" sz="1200" b="1" dirty="0">
                          <a:solidFill>
                            <a:srgbClr val="EEF5F1"/>
                          </a:solidFill>
                          <a:latin typeface="Calibri" pitchFamily="34" charset="0"/>
                          <a:ea typeface="Calibri" pitchFamily="34" charset="-122"/>
                          <a:cs typeface="Calibri" pitchFamily="34" charset="-120"/>
                        </a:rPr>
                        <a:t>Total revenue variance</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200" b="1" dirty="0">
                          <a:solidFill>
                            <a:srgbClr val="43C99A"/>
                          </a:solidFill>
                          <a:latin typeface="Calibri" pitchFamily="34" charset="0"/>
                          <a:ea typeface="Calibri" pitchFamily="34" charset="-122"/>
                          <a:cs typeface="Calibri" pitchFamily="34" charset="-120"/>
                        </a:rPr>
                        <a:t>+$17.0</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329184">
                <a:tc>
                  <a:txBody>
                    <a:bodyPr/>
                    <a:lstStyle/>
                    <a:p>
                      <a:pPr indent="0" marL="0">
                        <a:buNone/>
                      </a:pPr>
                      <a:r>
                        <a:rPr lang="en-US" sz="1200" dirty="0">
                          <a:solidFill>
                            <a:srgbClr val="EEF5F1"/>
                          </a:solidFill>
                          <a:latin typeface="Calibri" pitchFamily="34" charset="0"/>
                          <a:ea typeface="Calibri" pitchFamily="34" charset="-122"/>
                          <a:cs typeface="Calibri" pitchFamily="34" charset="-120"/>
                        </a:rPr>
                        <a:t>Price variance</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200" b="1" dirty="0">
                          <a:solidFill>
                            <a:srgbClr val="43C99A"/>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329184">
                <a:tc>
                  <a:txBody>
                    <a:bodyPr/>
                    <a:lstStyle/>
                    <a:p>
                      <a:pPr indent="0" marL="0">
                        <a:buNone/>
                      </a:pPr>
                      <a:r>
                        <a:rPr lang="en-US" sz="1200" dirty="0">
                          <a:solidFill>
                            <a:srgbClr val="EEF5F1"/>
                          </a:solidFill>
                          <a:latin typeface="Calibri" pitchFamily="34" charset="0"/>
                          <a:ea typeface="Calibri" pitchFamily="34" charset="-122"/>
                          <a:cs typeface="Calibri" pitchFamily="34" charset="-120"/>
                        </a:rPr>
                        <a:t>Volume variance</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200" b="1" dirty="0">
                          <a:solidFill>
                            <a:srgbClr val="EF6B6B"/>
                          </a:solidFill>
                          <a:latin typeface="Calibri" pitchFamily="34" charset="0"/>
                          <a:ea typeface="Calibri" pitchFamily="34" charset="-122"/>
                          <a:cs typeface="Calibri" pitchFamily="34" charset="-120"/>
                        </a:rPr>
                        <a:t>−$7.4</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329184">
                <a:tc>
                  <a:txBody>
                    <a:bodyPr/>
                    <a:lstStyle/>
                    <a:p>
                      <a:pPr indent="0" marL="0">
                        <a:buNone/>
                      </a:pPr>
                      <a:r>
                        <a:rPr lang="en-US" sz="1200" dirty="0">
                          <a:solidFill>
                            <a:srgbClr val="EEF5F1"/>
                          </a:solidFill>
                          <a:latin typeface="Calibri" pitchFamily="34" charset="0"/>
                          <a:ea typeface="Calibri" pitchFamily="34" charset="-122"/>
                          <a:cs typeface="Calibri" pitchFamily="34" charset="-120"/>
                        </a:rPr>
                        <a:t>Product-mix variance</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200" b="1" dirty="0">
                          <a:solidFill>
                            <a:srgbClr val="43C99A"/>
                          </a:solidFill>
                          <a:latin typeface="Calibri" pitchFamily="34" charset="0"/>
                          <a:ea typeface="Calibri" pitchFamily="34" charset="-122"/>
                          <a:cs typeface="Calibri" pitchFamily="34" charset="-120"/>
                        </a:rPr>
                        <a:t>+$22.6</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329184">
                <a:tc>
                  <a:txBody>
                    <a:bodyPr/>
                    <a:lstStyle/>
                    <a:p>
                      <a:pPr indent="0" marL="0">
                        <a:buNone/>
                      </a:pPr>
                      <a:r>
                        <a:rPr lang="en-US" sz="1200" dirty="0">
                          <a:solidFill>
                            <a:srgbClr val="EEF5F1"/>
                          </a:solidFill>
                          <a:latin typeface="Calibri" pitchFamily="34" charset="0"/>
                          <a:ea typeface="Calibri" pitchFamily="34" charset="-122"/>
                          <a:cs typeface="Calibri" pitchFamily="34" charset="-120"/>
                        </a:rPr>
                        <a:t>Material-cost variance</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200" b="1" dirty="0">
                          <a:solidFill>
                            <a:srgbClr val="EF6B6B"/>
                          </a:solidFill>
                          <a:latin typeface="Calibri" pitchFamily="34" charset="0"/>
                          <a:ea typeface="Calibri" pitchFamily="34" charset="-122"/>
                          <a:cs typeface="Calibri" pitchFamily="34" charset="-120"/>
                        </a:rPr>
                        <a:t>−$1.7</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329184">
                <a:tc>
                  <a:txBody>
                    <a:bodyPr/>
                    <a:lstStyle/>
                    <a:p>
                      <a:pPr indent="0" marL="0">
                        <a:buNone/>
                      </a:pPr>
                      <a:r>
                        <a:rPr lang="en-US" sz="1200" dirty="0">
                          <a:solidFill>
                            <a:srgbClr val="EEF5F1"/>
                          </a:solidFill>
                          <a:latin typeface="Calibri" pitchFamily="34" charset="0"/>
                          <a:ea typeface="Calibri" pitchFamily="34" charset="-122"/>
                          <a:cs typeface="Calibri" pitchFamily="34" charset="-120"/>
                        </a:rPr>
                        <a:t>Manufacturing-yield variance</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200" b="1" dirty="0">
                          <a:solidFill>
                            <a:srgbClr val="EF6B6B"/>
                          </a:solidFill>
                          <a:latin typeface="Calibri" pitchFamily="34" charset="0"/>
                          <a:ea typeface="Calibri" pitchFamily="34" charset="-122"/>
                          <a:cs typeface="Calibri" pitchFamily="34" charset="-120"/>
                        </a:rPr>
                        <a:t>−$0.9</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329184">
                <a:tc>
                  <a:txBody>
                    <a:bodyPr/>
                    <a:lstStyle/>
                    <a:p>
                      <a:pPr indent="0" marL="0">
                        <a:buNone/>
                      </a:pPr>
                      <a:r>
                        <a:rPr lang="en-US" sz="1200" dirty="0">
                          <a:solidFill>
                            <a:srgbClr val="EEF5F1"/>
                          </a:solidFill>
                          <a:latin typeface="Calibri" pitchFamily="34" charset="0"/>
                          <a:ea typeface="Calibri" pitchFamily="34" charset="-122"/>
                          <a:cs typeface="Calibri" pitchFamily="34" charset="-120"/>
                        </a:rPr>
                        <a:t>Operating-expense variance</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200" b="1" dirty="0">
                          <a:solidFill>
                            <a:srgbClr val="EF6B6B"/>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329184">
                <a:tc>
                  <a:txBody>
                    <a:bodyPr/>
                    <a:lstStyle/>
                    <a:p>
                      <a:pPr indent="0" marL="0">
                        <a:buNone/>
                      </a:pPr>
                      <a:r>
                        <a:rPr lang="en-US" sz="1200" b="1" dirty="0">
                          <a:solidFill>
                            <a:srgbClr val="EEF5F1"/>
                          </a:solidFill>
                          <a:latin typeface="Calibri" pitchFamily="34" charset="0"/>
                          <a:ea typeface="Calibri" pitchFamily="34" charset="-122"/>
                          <a:cs typeface="Calibri" pitchFamily="34" charset="-120"/>
                        </a:rPr>
                        <a:t>Operating-profit variance</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200" b="1" dirty="0">
                          <a:solidFill>
                            <a:srgbClr val="43C99A"/>
                          </a:solidFill>
                          <a:latin typeface="Calibri" pitchFamily="34" charset="0"/>
                          <a:ea typeface="Calibri" pitchFamily="34" charset="-122"/>
                          <a:cs typeface="Calibri" pitchFamily="34" charset="-120"/>
                        </a:rPr>
                        <a:t>+$7.8</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bl>
          </a:graphicData>
        </a:graphic>
      </p:graphicFrame>
      <p:sp>
        <p:nvSpPr>
          <p:cNvPr id="45" name="Text 42"/>
          <p:cNvSpPr txBox="1"/>
          <p:nvPr/>
        </p:nvSpPr>
        <p:spPr>
          <a:xfrm>
            <a:off x="8641080" y="5486400"/>
            <a:ext cx="2773375" cy="457200"/>
          </a:xfrm>
          <a:prstGeom prst="rect">
            <a:avLst/>
          </a:prstGeom>
          <a:noFill/>
          <a:ln/>
        </p:spPr>
        <p:txBody>
          <a:bodyPr wrap="square" lIns="0" tIns="0" rIns="0" bIns="0" rtlCol="0" anchor="ctr"/>
          <a:lstStyle/>
          <a:p>
            <a:pPr indent="0" marL="0">
              <a:buNone/>
            </a:pPr>
            <a:r>
              <a:rPr lang="en-US" sz="1100" b="1" dirty="0">
                <a:solidFill>
                  <a:srgbClr val="43C99A"/>
                </a:solidFill>
                <a:latin typeface="Calibri" pitchFamily="34" charset="0"/>
                <a:ea typeface="Calibri" pitchFamily="34" charset="-122"/>
                <a:cs typeface="Calibri" pitchFamily="34" charset="-120"/>
              </a:rPr>
              <a:t>Revenue decomposition: Reconciled  ·  Profit bridge: Reconciled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200" kern="0" dirty="0">
                <a:solidFill>
                  <a:srgbClr val="43C99A"/>
                </a:solidFill>
                <a:latin typeface="Calibri" pitchFamily="34" charset="0"/>
                <a:ea typeface="Calibri" pitchFamily="34" charset="-122"/>
                <a:cs typeface="Calibri" pitchFamily="34" charset="-120"/>
              </a:rPr>
              <a:t>SEMICONDUCTOR OPERATIONS · FINAL TEST</a:t>
            </a:r>
            <a:endParaRPr lang="en-US" sz="1100" dirty="0"/>
          </a:p>
        </p:txBody>
      </p:sp>
      <p:sp>
        <p:nvSpPr>
          <p:cNvPr id="3" name="Text 1"/>
          <p:cNvSpPr txBox="1"/>
          <p:nvPr/>
        </p:nvSpPr>
        <p:spPr>
          <a:xfrm>
            <a:off x="548640" y="621792"/>
            <a:ext cx="11094415" cy="822960"/>
          </a:xfrm>
          <a:prstGeom prst="rect">
            <a:avLst/>
          </a:prstGeom>
          <a:noFill/>
          <a:ln/>
        </p:spPr>
        <p:txBody>
          <a:bodyPr wrap="square" lIns="0" tIns="0" rIns="0" bIns="0" rtlCol="0" anchor="t"/>
          <a:lstStyle/>
          <a:p>
            <a:pPr indent="0" marL="0">
              <a:buNone/>
            </a:pPr>
            <a:r>
              <a:rPr lang="en-US" sz="3000" b="1" dirty="0">
                <a:solidFill>
                  <a:srgbClr val="EEF5F1"/>
                </a:solidFill>
                <a:latin typeface="Calibri" pitchFamily="34" charset="0"/>
                <a:ea typeface="Calibri" pitchFamily="34" charset="-122"/>
                <a:cs typeface="Calibri" pitchFamily="34" charset="-120"/>
              </a:rPr>
              <a:t>FPGA runs closest to its test-capacity limit, peaking at 0.89</a:t>
            </a:r>
            <a:endParaRPr lang="en-US" sz="3000" dirty="0"/>
          </a:p>
        </p:txBody>
      </p:sp>
      <p:sp>
        <p:nvSpPr>
          <p:cNvPr id="4" name="Text 2"/>
          <p:cNvSpPr txBox="1"/>
          <p:nvPr/>
        </p:nvSpPr>
        <p:spPr>
          <a:xfrm>
            <a:off x="548640" y="6446520"/>
            <a:ext cx="9601200" cy="228600"/>
          </a:xfrm>
          <a:prstGeom prst="rect">
            <a:avLst/>
          </a:prstGeom>
          <a:noFill/>
          <a:ln/>
        </p:spPr>
        <p:txBody>
          <a:bodyPr wrap="square" lIns="0" tIns="0" rIns="0" bIns="0" rtlCol="0" anchor="ctr"/>
          <a:lstStyle/>
          <a:p>
            <a:pPr indent="0" marL="0">
              <a:buNone/>
            </a:pPr>
            <a:r>
              <a:rPr lang="en-US" sz="900" dirty="0">
                <a:solidFill>
                  <a:srgbClr val="7C8F86"/>
                </a:solidFill>
                <a:latin typeface="Calibri" pitchFamily="34" charset="0"/>
                <a:ea typeface="Calibri" pitchFamily="34" charset="-122"/>
                <a:cs typeface="Calibri" pitchFamily="34" charset="-120"/>
              </a:rPr>
              <a:t>Simulated data created for portfolio demonstration. It does not represent nonpublic Microchip Technology information.</a:t>
            </a:r>
            <a:endParaRPr lang="en-US" sz="900" dirty="0"/>
          </a:p>
        </p:txBody>
      </p:sp>
      <p:sp>
        <p:nvSpPr>
          <p:cNvPr id="5" name="Text 3"/>
          <p:cNvSpPr txBox="1"/>
          <p:nvPr/>
        </p:nvSpPr>
        <p:spPr>
          <a:xfrm>
            <a:off x="11094415" y="6446520"/>
            <a:ext cx="548640" cy="228600"/>
          </a:xfrm>
          <a:prstGeom prst="rect">
            <a:avLst/>
          </a:prstGeom>
          <a:noFill/>
          <a:ln/>
        </p:spPr>
        <p:txBody>
          <a:bodyPr wrap="square" lIns="0" tIns="0" rIns="0" bIns="0" rtlCol="0" anchor="ctr"/>
          <a:lstStyle/>
          <a:p>
            <a:pPr algn="r" indent="0" marL="0">
              <a:buNone/>
            </a:pPr>
            <a:r>
              <a:rPr lang="en-US" sz="900" dirty="0">
                <a:solidFill>
                  <a:srgbClr val="7C8F86"/>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548640" y="1600200"/>
            <a:ext cx="11094415" cy="2606040"/>
          </a:xfrm>
          <a:prstGeom prst="roundRect">
            <a:avLst>
              <a:gd name="adj" fmla="val 5614"/>
            </a:avLst>
          </a:prstGeom>
          <a:solidFill>
            <a:srgbClr val="121A17"/>
          </a:solidFill>
          <a:ln w="9525">
            <a:solidFill>
              <a:srgbClr val="26332E"/>
            </a:solidFill>
            <a:prstDash val="solid"/>
          </a:ln>
        </p:spPr>
      </p:sp>
      <p:sp>
        <p:nvSpPr>
          <p:cNvPr id="7" name="Text 5"/>
          <p:cNvSpPr txBox="1"/>
          <p:nvPr/>
        </p:nvSpPr>
        <p:spPr>
          <a:xfrm>
            <a:off x="777240" y="1737360"/>
            <a:ext cx="9144000" cy="27432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Demand ÷ good-unit capacity at full load, Base scenario (TIGHT ≥ 0.85, SHORT ≥ 1.00)</a:t>
            </a:r>
            <a:endParaRPr lang="en-US" sz="1200" dirty="0"/>
          </a:p>
        </p:txBody>
      </p:sp>
      <p:sp>
        <p:nvSpPr>
          <p:cNvPr id="8" name="Text 6"/>
          <p:cNvSpPr txBox="1"/>
          <p:nvPr/>
        </p:nvSpPr>
        <p:spPr>
          <a:xfrm>
            <a:off x="2514600" y="2057400"/>
            <a:ext cx="741655" cy="228600"/>
          </a:xfrm>
          <a:prstGeom prst="rect">
            <a:avLst/>
          </a:prstGeom>
          <a:noFill/>
          <a:ln/>
        </p:spPr>
        <p:txBody>
          <a:bodyPr wrap="square" lIns="0" tIns="0" rIns="0" bIns="0" rtlCol="0" anchor="ctr"/>
          <a:lstStyle/>
          <a:p>
            <a:pPr algn="ctr" indent="0" marL="0">
              <a:buNone/>
            </a:pPr>
            <a:r>
              <a:rPr lang="en-US" sz="1000" dirty="0">
                <a:solidFill>
                  <a:srgbClr val="7C8F86"/>
                </a:solidFill>
                <a:latin typeface="Calibri" pitchFamily="34" charset="0"/>
                <a:ea typeface="Calibri" pitchFamily="34" charset="-122"/>
                <a:cs typeface="Calibri" pitchFamily="34" charset="-120"/>
              </a:rPr>
              <a:t>Apr</a:t>
            </a:r>
            <a:endParaRPr lang="en-US" sz="1000" dirty="0"/>
          </a:p>
        </p:txBody>
      </p:sp>
      <p:sp>
        <p:nvSpPr>
          <p:cNvPr id="9" name="Text 7"/>
          <p:cNvSpPr txBox="1"/>
          <p:nvPr/>
        </p:nvSpPr>
        <p:spPr>
          <a:xfrm>
            <a:off x="3256255" y="2057400"/>
            <a:ext cx="741655" cy="228600"/>
          </a:xfrm>
          <a:prstGeom prst="rect">
            <a:avLst/>
          </a:prstGeom>
          <a:noFill/>
          <a:ln/>
        </p:spPr>
        <p:txBody>
          <a:bodyPr wrap="square" lIns="0" tIns="0" rIns="0" bIns="0" rtlCol="0" anchor="ctr"/>
          <a:lstStyle/>
          <a:p>
            <a:pPr algn="ctr" indent="0" marL="0">
              <a:buNone/>
            </a:pPr>
            <a:r>
              <a:rPr lang="en-US" sz="1000" dirty="0">
                <a:solidFill>
                  <a:srgbClr val="7C8F86"/>
                </a:solidFill>
                <a:latin typeface="Calibri" pitchFamily="34" charset="0"/>
                <a:ea typeface="Calibri" pitchFamily="34" charset="-122"/>
                <a:cs typeface="Calibri" pitchFamily="34" charset="-120"/>
              </a:rPr>
              <a:t>May</a:t>
            </a:r>
            <a:endParaRPr lang="en-US" sz="1000" dirty="0"/>
          </a:p>
        </p:txBody>
      </p:sp>
      <p:sp>
        <p:nvSpPr>
          <p:cNvPr id="10" name="Text 8"/>
          <p:cNvSpPr txBox="1"/>
          <p:nvPr/>
        </p:nvSpPr>
        <p:spPr>
          <a:xfrm>
            <a:off x="3997909" y="2057400"/>
            <a:ext cx="741655" cy="228600"/>
          </a:xfrm>
          <a:prstGeom prst="rect">
            <a:avLst/>
          </a:prstGeom>
          <a:noFill/>
          <a:ln/>
        </p:spPr>
        <p:txBody>
          <a:bodyPr wrap="square" lIns="0" tIns="0" rIns="0" bIns="0" rtlCol="0" anchor="ctr"/>
          <a:lstStyle/>
          <a:p>
            <a:pPr algn="ctr" indent="0" marL="0">
              <a:buNone/>
            </a:pPr>
            <a:r>
              <a:rPr lang="en-US" sz="1000" dirty="0">
                <a:solidFill>
                  <a:srgbClr val="7C8F86"/>
                </a:solidFill>
                <a:latin typeface="Calibri" pitchFamily="34" charset="0"/>
                <a:ea typeface="Calibri" pitchFamily="34" charset="-122"/>
                <a:cs typeface="Calibri" pitchFamily="34" charset="-120"/>
              </a:rPr>
              <a:t>Jun</a:t>
            </a:r>
            <a:endParaRPr lang="en-US" sz="1000" dirty="0"/>
          </a:p>
        </p:txBody>
      </p:sp>
      <p:sp>
        <p:nvSpPr>
          <p:cNvPr id="11" name="Text 9"/>
          <p:cNvSpPr txBox="1"/>
          <p:nvPr/>
        </p:nvSpPr>
        <p:spPr>
          <a:xfrm>
            <a:off x="4739564" y="2057400"/>
            <a:ext cx="741655" cy="228600"/>
          </a:xfrm>
          <a:prstGeom prst="rect">
            <a:avLst/>
          </a:prstGeom>
          <a:noFill/>
          <a:ln/>
        </p:spPr>
        <p:txBody>
          <a:bodyPr wrap="square" lIns="0" tIns="0" rIns="0" bIns="0" rtlCol="0" anchor="ctr"/>
          <a:lstStyle/>
          <a:p>
            <a:pPr algn="ctr" indent="0" marL="0">
              <a:buNone/>
            </a:pPr>
            <a:r>
              <a:rPr lang="en-US" sz="1000" dirty="0">
                <a:solidFill>
                  <a:srgbClr val="7C8F86"/>
                </a:solidFill>
                <a:latin typeface="Calibri" pitchFamily="34" charset="0"/>
                <a:ea typeface="Calibri" pitchFamily="34" charset="-122"/>
                <a:cs typeface="Calibri" pitchFamily="34" charset="-120"/>
              </a:rPr>
              <a:t>Jul</a:t>
            </a:r>
            <a:endParaRPr lang="en-US" sz="1000" dirty="0"/>
          </a:p>
        </p:txBody>
      </p:sp>
      <p:sp>
        <p:nvSpPr>
          <p:cNvPr id="12" name="Text 10"/>
          <p:cNvSpPr txBox="1"/>
          <p:nvPr/>
        </p:nvSpPr>
        <p:spPr>
          <a:xfrm>
            <a:off x="5481218" y="2057400"/>
            <a:ext cx="741655" cy="228600"/>
          </a:xfrm>
          <a:prstGeom prst="rect">
            <a:avLst/>
          </a:prstGeom>
          <a:noFill/>
          <a:ln/>
        </p:spPr>
        <p:txBody>
          <a:bodyPr wrap="square" lIns="0" tIns="0" rIns="0" bIns="0" rtlCol="0" anchor="ctr"/>
          <a:lstStyle/>
          <a:p>
            <a:pPr algn="ctr" indent="0" marL="0">
              <a:buNone/>
            </a:pPr>
            <a:r>
              <a:rPr lang="en-US" sz="1000" dirty="0">
                <a:solidFill>
                  <a:srgbClr val="7C8F86"/>
                </a:solidFill>
                <a:latin typeface="Calibri" pitchFamily="34" charset="0"/>
                <a:ea typeface="Calibri" pitchFamily="34" charset="-122"/>
                <a:cs typeface="Calibri" pitchFamily="34" charset="-120"/>
              </a:rPr>
              <a:t>Aug</a:t>
            </a:r>
            <a:endParaRPr lang="en-US" sz="1000" dirty="0"/>
          </a:p>
        </p:txBody>
      </p:sp>
      <p:sp>
        <p:nvSpPr>
          <p:cNvPr id="13" name="Text 11"/>
          <p:cNvSpPr txBox="1"/>
          <p:nvPr/>
        </p:nvSpPr>
        <p:spPr>
          <a:xfrm>
            <a:off x="6222873" y="2057400"/>
            <a:ext cx="741655" cy="228600"/>
          </a:xfrm>
          <a:prstGeom prst="rect">
            <a:avLst/>
          </a:prstGeom>
          <a:noFill/>
          <a:ln/>
        </p:spPr>
        <p:txBody>
          <a:bodyPr wrap="square" lIns="0" tIns="0" rIns="0" bIns="0" rtlCol="0" anchor="ctr"/>
          <a:lstStyle/>
          <a:p>
            <a:pPr algn="ctr" indent="0" marL="0">
              <a:buNone/>
            </a:pPr>
            <a:r>
              <a:rPr lang="en-US" sz="1000" dirty="0">
                <a:solidFill>
                  <a:srgbClr val="7C8F86"/>
                </a:solidFill>
                <a:latin typeface="Calibri" pitchFamily="34" charset="0"/>
                <a:ea typeface="Calibri" pitchFamily="34" charset="-122"/>
                <a:cs typeface="Calibri" pitchFamily="34" charset="-120"/>
              </a:rPr>
              <a:t>Sep</a:t>
            </a:r>
            <a:endParaRPr lang="en-US" sz="1000" dirty="0"/>
          </a:p>
        </p:txBody>
      </p:sp>
      <p:sp>
        <p:nvSpPr>
          <p:cNvPr id="14" name="Text 12"/>
          <p:cNvSpPr txBox="1"/>
          <p:nvPr/>
        </p:nvSpPr>
        <p:spPr>
          <a:xfrm>
            <a:off x="6964528" y="2057400"/>
            <a:ext cx="741655" cy="228600"/>
          </a:xfrm>
          <a:prstGeom prst="rect">
            <a:avLst/>
          </a:prstGeom>
          <a:noFill/>
          <a:ln/>
        </p:spPr>
        <p:txBody>
          <a:bodyPr wrap="square" lIns="0" tIns="0" rIns="0" bIns="0" rtlCol="0" anchor="ctr"/>
          <a:lstStyle/>
          <a:p>
            <a:pPr algn="ctr" indent="0" marL="0">
              <a:buNone/>
            </a:pPr>
            <a:r>
              <a:rPr lang="en-US" sz="1000" dirty="0">
                <a:solidFill>
                  <a:srgbClr val="7C8F86"/>
                </a:solidFill>
                <a:latin typeface="Calibri" pitchFamily="34" charset="0"/>
                <a:ea typeface="Calibri" pitchFamily="34" charset="-122"/>
                <a:cs typeface="Calibri" pitchFamily="34" charset="-120"/>
              </a:rPr>
              <a:t>Oct</a:t>
            </a:r>
            <a:endParaRPr lang="en-US" sz="1000" dirty="0"/>
          </a:p>
        </p:txBody>
      </p:sp>
      <p:sp>
        <p:nvSpPr>
          <p:cNvPr id="15" name="Text 13"/>
          <p:cNvSpPr txBox="1"/>
          <p:nvPr/>
        </p:nvSpPr>
        <p:spPr>
          <a:xfrm>
            <a:off x="7706182" y="2057400"/>
            <a:ext cx="741655" cy="228600"/>
          </a:xfrm>
          <a:prstGeom prst="rect">
            <a:avLst/>
          </a:prstGeom>
          <a:noFill/>
          <a:ln/>
        </p:spPr>
        <p:txBody>
          <a:bodyPr wrap="square" lIns="0" tIns="0" rIns="0" bIns="0" rtlCol="0" anchor="ctr"/>
          <a:lstStyle/>
          <a:p>
            <a:pPr algn="ctr" indent="0" marL="0">
              <a:buNone/>
            </a:pPr>
            <a:r>
              <a:rPr lang="en-US" sz="1000" dirty="0">
                <a:solidFill>
                  <a:srgbClr val="7C8F86"/>
                </a:solidFill>
                <a:latin typeface="Calibri" pitchFamily="34" charset="0"/>
                <a:ea typeface="Calibri" pitchFamily="34" charset="-122"/>
                <a:cs typeface="Calibri" pitchFamily="34" charset="-120"/>
              </a:rPr>
              <a:t>Nov</a:t>
            </a:r>
            <a:endParaRPr lang="en-US" sz="1000" dirty="0"/>
          </a:p>
        </p:txBody>
      </p:sp>
      <p:sp>
        <p:nvSpPr>
          <p:cNvPr id="16" name="Text 14"/>
          <p:cNvSpPr txBox="1"/>
          <p:nvPr/>
        </p:nvSpPr>
        <p:spPr>
          <a:xfrm>
            <a:off x="8447837" y="2057400"/>
            <a:ext cx="741655" cy="228600"/>
          </a:xfrm>
          <a:prstGeom prst="rect">
            <a:avLst/>
          </a:prstGeom>
          <a:noFill/>
          <a:ln/>
        </p:spPr>
        <p:txBody>
          <a:bodyPr wrap="square" lIns="0" tIns="0" rIns="0" bIns="0" rtlCol="0" anchor="ctr"/>
          <a:lstStyle/>
          <a:p>
            <a:pPr algn="ctr" indent="0" marL="0">
              <a:buNone/>
            </a:pPr>
            <a:r>
              <a:rPr lang="en-US" sz="1000" dirty="0">
                <a:solidFill>
                  <a:srgbClr val="7C8F86"/>
                </a:solidFill>
                <a:latin typeface="Calibri" pitchFamily="34" charset="0"/>
                <a:ea typeface="Calibri" pitchFamily="34" charset="-122"/>
                <a:cs typeface="Calibri" pitchFamily="34" charset="-120"/>
              </a:rPr>
              <a:t>Dec</a:t>
            </a:r>
            <a:endParaRPr lang="en-US" sz="1000" dirty="0"/>
          </a:p>
        </p:txBody>
      </p:sp>
      <p:sp>
        <p:nvSpPr>
          <p:cNvPr id="17" name="Text 15"/>
          <p:cNvSpPr txBox="1"/>
          <p:nvPr/>
        </p:nvSpPr>
        <p:spPr>
          <a:xfrm>
            <a:off x="9189491" y="2057400"/>
            <a:ext cx="741655" cy="228600"/>
          </a:xfrm>
          <a:prstGeom prst="rect">
            <a:avLst/>
          </a:prstGeom>
          <a:noFill/>
          <a:ln/>
        </p:spPr>
        <p:txBody>
          <a:bodyPr wrap="square" lIns="0" tIns="0" rIns="0" bIns="0" rtlCol="0" anchor="ctr"/>
          <a:lstStyle/>
          <a:p>
            <a:pPr algn="ctr" indent="0" marL="0">
              <a:buNone/>
            </a:pPr>
            <a:r>
              <a:rPr lang="en-US" sz="1000" dirty="0">
                <a:solidFill>
                  <a:srgbClr val="7C8F86"/>
                </a:solidFill>
                <a:latin typeface="Calibri" pitchFamily="34" charset="0"/>
                <a:ea typeface="Calibri" pitchFamily="34" charset="-122"/>
                <a:cs typeface="Calibri" pitchFamily="34" charset="-120"/>
              </a:rPr>
              <a:t>Jan</a:t>
            </a:r>
            <a:endParaRPr lang="en-US" sz="1000" dirty="0"/>
          </a:p>
        </p:txBody>
      </p:sp>
      <p:sp>
        <p:nvSpPr>
          <p:cNvPr id="18" name="Text 16"/>
          <p:cNvSpPr txBox="1"/>
          <p:nvPr/>
        </p:nvSpPr>
        <p:spPr>
          <a:xfrm>
            <a:off x="9931146" y="2057400"/>
            <a:ext cx="741655" cy="228600"/>
          </a:xfrm>
          <a:prstGeom prst="rect">
            <a:avLst/>
          </a:prstGeom>
          <a:noFill/>
          <a:ln/>
        </p:spPr>
        <p:txBody>
          <a:bodyPr wrap="square" lIns="0" tIns="0" rIns="0" bIns="0" rtlCol="0" anchor="ctr"/>
          <a:lstStyle/>
          <a:p>
            <a:pPr algn="ctr" indent="0" marL="0">
              <a:buNone/>
            </a:pPr>
            <a:r>
              <a:rPr lang="en-US" sz="1000" dirty="0">
                <a:solidFill>
                  <a:srgbClr val="7C8F86"/>
                </a:solidFill>
                <a:latin typeface="Calibri" pitchFamily="34" charset="0"/>
                <a:ea typeface="Calibri" pitchFamily="34" charset="-122"/>
                <a:cs typeface="Calibri" pitchFamily="34" charset="-120"/>
              </a:rPr>
              <a:t>Feb</a:t>
            </a:r>
            <a:endParaRPr lang="en-US" sz="1000" dirty="0"/>
          </a:p>
        </p:txBody>
      </p:sp>
      <p:sp>
        <p:nvSpPr>
          <p:cNvPr id="19" name="Text 17"/>
          <p:cNvSpPr txBox="1"/>
          <p:nvPr/>
        </p:nvSpPr>
        <p:spPr>
          <a:xfrm>
            <a:off x="10672801" y="2057400"/>
            <a:ext cx="741655" cy="228600"/>
          </a:xfrm>
          <a:prstGeom prst="rect">
            <a:avLst/>
          </a:prstGeom>
          <a:noFill/>
          <a:ln/>
        </p:spPr>
        <p:txBody>
          <a:bodyPr wrap="square" lIns="0" tIns="0" rIns="0" bIns="0" rtlCol="0" anchor="ctr"/>
          <a:lstStyle/>
          <a:p>
            <a:pPr algn="ctr" indent="0" marL="0">
              <a:buNone/>
            </a:pPr>
            <a:r>
              <a:rPr lang="en-US" sz="1000" dirty="0">
                <a:solidFill>
                  <a:srgbClr val="7C8F86"/>
                </a:solidFill>
                <a:latin typeface="Calibri" pitchFamily="34" charset="0"/>
                <a:ea typeface="Calibri" pitchFamily="34" charset="-122"/>
                <a:cs typeface="Calibri" pitchFamily="34" charset="-120"/>
              </a:rPr>
              <a:t>Mar</a:t>
            </a:r>
            <a:endParaRPr lang="en-US" sz="1000" dirty="0"/>
          </a:p>
        </p:txBody>
      </p:sp>
      <p:sp>
        <p:nvSpPr>
          <p:cNvPr id="20" name="Shape 18"/>
          <p:cNvSpPr/>
          <p:nvPr/>
        </p:nvSpPr>
        <p:spPr>
          <a:xfrm>
            <a:off x="777240" y="2532888"/>
            <a:ext cx="137160" cy="137160"/>
          </a:xfrm>
          <a:prstGeom prst="ellipse">
            <a:avLst/>
          </a:prstGeom>
          <a:solidFill>
            <a:srgbClr val="8676F2"/>
          </a:solidFill>
          <a:ln w="12700">
            <a:solidFill>
              <a:srgbClr val="8676F2"/>
            </a:solidFill>
            <a:prstDash val="solid"/>
          </a:ln>
        </p:spPr>
      </p:sp>
      <p:sp>
        <p:nvSpPr>
          <p:cNvPr id="21" name="Text 19"/>
          <p:cNvSpPr txBox="1"/>
          <p:nvPr/>
        </p:nvSpPr>
        <p:spPr>
          <a:xfrm>
            <a:off x="1005840" y="2350008"/>
            <a:ext cx="1463040" cy="512064"/>
          </a:xfrm>
          <a:prstGeom prst="rect">
            <a:avLst/>
          </a:prstGeom>
          <a:noFill/>
          <a:ln/>
        </p:spPr>
        <p:txBody>
          <a:bodyPr wrap="square" lIns="0" tIns="0" rIns="0" bIns="0" rtlCol="0" anchor="ctr"/>
          <a:lstStyle/>
          <a:p>
            <a:pPr indent="0" marL="0">
              <a:buNone/>
            </a:pPr>
            <a:r>
              <a:rPr lang="en-US" sz="1250" b="1" dirty="0">
                <a:solidFill>
                  <a:srgbClr val="EEF5F1"/>
                </a:solidFill>
                <a:latin typeface="Calibri" pitchFamily="34" charset="0"/>
                <a:ea typeface="Calibri" pitchFamily="34" charset="-122"/>
                <a:cs typeface="Calibri" pitchFamily="34" charset="-120"/>
              </a:rPr>
              <a:t>Mixed-signal MCUs</a:t>
            </a:r>
            <a:endParaRPr lang="en-US" sz="1250" dirty="0"/>
          </a:p>
        </p:txBody>
      </p:sp>
      <p:sp>
        <p:nvSpPr>
          <p:cNvPr id="22" name="Shape 20"/>
          <p:cNvSpPr/>
          <p:nvPr/>
        </p:nvSpPr>
        <p:spPr>
          <a:xfrm>
            <a:off x="2542032" y="2350008"/>
            <a:ext cx="686791" cy="512064"/>
          </a:xfrm>
          <a:prstGeom prst="roundRect">
            <a:avLst>
              <a:gd name="adj" fmla="val 14286"/>
            </a:avLst>
          </a:prstGeom>
          <a:solidFill>
            <a:srgbClr val="1F6A4D"/>
          </a:solidFill>
          <a:ln w="12700">
            <a:solidFill>
              <a:srgbClr val="1F6A4D"/>
            </a:solidFill>
            <a:prstDash val="solid"/>
          </a:ln>
        </p:spPr>
      </p:sp>
      <p:sp>
        <p:nvSpPr>
          <p:cNvPr id="23" name="Text 21"/>
          <p:cNvSpPr txBox="1"/>
          <p:nvPr/>
        </p:nvSpPr>
        <p:spPr>
          <a:xfrm>
            <a:off x="2514600" y="2350008"/>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0.74</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24" name="Shape 22"/>
          <p:cNvSpPr/>
          <p:nvPr/>
        </p:nvSpPr>
        <p:spPr>
          <a:xfrm>
            <a:off x="3283687" y="2350008"/>
            <a:ext cx="686791" cy="512064"/>
          </a:xfrm>
          <a:prstGeom prst="roundRect">
            <a:avLst>
              <a:gd name="adj" fmla="val 14286"/>
            </a:avLst>
          </a:prstGeom>
          <a:solidFill>
            <a:srgbClr val="1F6A4D"/>
          </a:solidFill>
          <a:ln w="12700">
            <a:solidFill>
              <a:srgbClr val="1F6A4D"/>
            </a:solidFill>
            <a:prstDash val="solid"/>
          </a:ln>
        </p:spPr>
      </p:sp>
      <p:sp>
        <p:nvSpPr>
          <p:cNvPr id="25" name="Text 23"/>
          <p:cNvSpPr txBox="1"/>
          <p:nvPr/>
        </p:nvSpPr>
        <p:spPr>
          <a:xfrm>
            <a:off x="3256255" y="2350008"/>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0.76</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26" name="Shape 24"/>
          <p:cNvSpPr/>
          <p:nvPr/>
        </p:nvSpPr>
        <p:spPr>
          <a:xfrm>
            <a:off x="4025341" y="2350008"/>
            <a:ext cx="686791" cy="512064"/>
          </a:xfrm>
          <a:prstGeom prst="roundRect">
            <a:avLst>
              <a:gd name="adj" fmla="val 14286"/>
            </a:avLst>
          </a:prstGeom>
          <a:solidFill>
            <a:srgbClr val="1F6A4D"/>
          </a:solidFill>
          <a:ln w="12700">
            <a:solidFill>
              <a:srgbClr val="1F6A4D"/>
            </a:solidFill>
            <a:prstDash val="solid"/>
          </a:ln>
        </p:spPr>
      </p:sp>
      <p:sp>
        <p:nvSpPr>
          <p:cNvPr id="27" name="Text 25"/>
          <p:cNvSpPr txBox="1"/>
          <p:nvPr/>
        </p:nvSpPr>
        <p:spPr>
          <a:xfrm>
            <a:off x="3997909" y="2350008"/>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0.79</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28" name="Shape 26"/>
          <p:cNvSpPr/>
          <p:nvPr/>
        </p:nvSpPr>
        <p:spPr>
          <a:xfrm>
            <a:off x="4766996" y="2350008"/>
            <a:ext cx="686791" cy="512064"/>
          </a:xfrm>
          <a:prstGeom prst="roundRect">
            <a:avLst>
              <a:gd name="adj" fmla="val 14286"/>
            </a:avLst>
          </a:prstGeom>
          <a:solidFill>
            <a:srgbClr val="1F6A4D"/>
          </a:solidFill>
          <a:ln w="12700">
            <a:solidFill>
              <a:srgbClr val="1F6A4D"/>
            </a:solidFill>
            <a:prstDash val="solid"/>
          </a:ln>
        </p:spPr>
      </p:sp>
      <p:sp>
        <p:nvSpPr>
          <p:cNvPr id="29" name="Text 27"/>
          <p:cNvSpPr txBox="1"/>
          <p:nvPr/>
        </p:nvSpPr>
        <p:spPr>
          <a:xfrm>
            <a:off x="4739564" y="2350008"/>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0.75</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30" name="Shape 28"/>
          <p:cNvSpPr/>
          <p:nvPr/>
        </p:nvSpPr>
        <p:spPr>
          <a:xfrm>
            <a:off x="5508650" y="2350008"/>
            <a:ext cx="686791" cy="512064"/>
          </a:xfrm>
          <a:prstGeom prst="roundRect">
            <a:avLst>
              <a:gd name="adj" fmla="val 14286"/>
            </a:avLst>
          </a:prstGeom>
          <a:solidFill>
            <a:srgbClr val="1F6A4D"/>
          </a:solidFill>
          <a:ln w="12700">
            <a:solidFill>
              <a:srgbClr val="1F6A4D"/>
            </a:solidFill>
            <a:prstDash val="solid"/>
          </a:ln>
        </p:spPr>
      </p:sp>
      <p:sp>
        <p:nvSpPr>
          <p:cNvPr id="31" name="Text 29"/>
          <p:cNvSpPr txBox="1"/>
          <p:nvPr/>
        </p:nvSpPr>
        <p:spPr>
          <a:xfrm>
            <a:off x="5481218" y="2350008"/>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0.77</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32" name="Shape 30"/>
          <p:cNvSpPr/>
          <p:nvPr/>
        </p:nvSpPr>
        <p:spPr>
          <a:xfrm>
            <a:off x="6250305" y="2350008"/>
            <a:ext cx="686791" cy="512064"/>
          </a:xfrm>
          <a:prstGeom prst="roundRect">
            <a:avLst>
              <a:gd name="adj" fmla="val 14286"/>
            </a:avLst>
          </a:prstGeom>
          <a:solidFill>
            <a:srgbClr val="2F9D72"/>
          </a:solidFill>
          <a:ln w="12700">
            <a:solidFill>
              <a:srgbClr val="2F9D72"/>
            </a:solidFill>
            <a:prstDash val="solid"/>
          </a:ln>
        </p:spPr>
      </p:sp>
      <p:sp>
        <p:nvSpPr>
          <p:cNvPr id="33" name="Text 31"/>
          <p:cNvSpPr txBox="1"/>
          <p:nvPr/>
        </p:nvSpPr>
        <p:spPr>
          <a:xfrm>
            <a:off x="6222873" y="2350008"/>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0.81</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34" name="Shape 32"/>
          <p:cNvSpPr/>
          <p:nvPr/>
        </p:nvSpPr>
        <p:spPr>
          <a:xfrm>
            <a:off x="6991960" y="2350008"/>
            <a:ext cx="686791" cy="512064"/>
          </a:xfrm>
          <a:prstGeom prst="roundRect">
            <a:avLst>
              <a:gd name="adj" fmla="val 14286"/>
            </a:avLst>
          </a:prstGeom>
          <a:solidFill>
            <a:srgbClr val="1F6A4D"/>
          </a:solidFill>
          <a:ln w="12700">
            <a:solidFill>
              <a:srgbClr val="1F6A4D"/>
            </a:solidFill>
            <a:prstDash val="solid"/>
          </a:ln>
        </p:spPr>
      </p:sp>
      <p:sp>
        <p:nvSpPr>
          <p:cNvPr id="35" name="Text 33"/>
          <p:cNvSpPr txBox="1"/>
          <p:nvPr/>
        </p:nvSpPr>
        <p:spPr>
          <a:xfrm>
            <a:off x="6964528" y="2350008"/>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0.80</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36" name="Shape 34"/>
          <p:cNvSpPr/>
          <p:nvPr/>
        </p:nvSpPr>
        <p:spPr>
          <a:xfrm>
            <a:off x="7733614" y="2350008"/>
            <a:ext cx="686791" cy="512064"/>
          </a:xfrm>
          <a:prstGeom prst="roundRect">
            <a:avLst>
              <a:gd name="adj" fmla="val 14286"/>
            </a:avLst>
          </a:prstGeom>
          <a:solidFill>
            <a:srgbClr val="1F6A4D"/>
          </a:solidFill>
          <a:ln w="12700">
            <a:solidFill>
              <a:srgbClr val="1F6A4D"/>
            </a:solidFill>
            <a:prstDash val="solid"/>
          </a:ln>
        </p:spPr>
      </p:sp>
      <p:sp>
        <p:nvSpPr>
          <p:cNvPr id="37" name="Text 35"/>
          <p:cNvSpPr txBox="1"/>
          <p:nvPr/>
        </p:nvSpPr>
        <p:spPr>
          <a:xfrm>
            <a:off x="7706182" y="2350008"/>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0.78</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38" name="Shape 36"/>
          <p:cNvSpPr/>
          <p:nvPr/>
        </p:nvSpPr>
        <p:spPr>
          <a:xfrm>
            <a:off x="8475269" y="2350008"/>
            <a:ext cx="686791" cy="512064"/>
          </a:xfrm>
          <a:prstGeom prst="roundRect">
            <a:avLst>
              <a:gd name="adj" fmla="val 14286"/>
            </a:avLst>
          </a:prstGeom>
          <a:solidFill>
            <a:srgbClr val="1F6A4D"/>
          </a:solidFill>
          <a:ln w="12700">
            <a:solidFill>
              <a:srgbClr val="1F6A4D"/>
            </a:solidFill>
            <a:prstDash val="solid"/>
          </a:ln>
        </p:spPr>
      </p:sp>
      <p:sp>
        <p:nvSpPr>
          <p:cNvPr id="39" name="Text 37"/>
          <p:cNvSpPr txBox="1"/>
          <p:nvPr/>
        </p:nvSpPr>
        <p:spPr>
          <a:xfrm>
            <a:off x="8447837" y="2350008"/>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0.74</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40" name="Shape 38"/>
          <p:cNvSpPr/>
          <p:nvPr/>
        </p:nvSpPr>
        <p:spPr>
          <a:xfrm>
            <a:off x="9216923" y="2350008"/>
            <a:ext cx="686791" cy="512064"/>
          </a:xfrm>
          <a:prstGeom prst="roundRect">
            <a:avLst>
              <a:gd name="adj" fmla="val 14286"/>
            </a:avLst>
          </a:prstGeom>
          <a:solidFill>
            <a:srgbClr val="1F6A4D"/>
          </a:solidFill>
          <a:ln w="12700">
            <a:solidFill>
              <a:srgbClr val="1F6A4D"/>
            </a:solidFill>
            <a:prstDash val="solid"/>
          </a:ln>
        </p:spPr>
      </p:sp>
      <p:sp>
        <p:nvSpPr>
          <p:cNvPr id="41" name="Text 39"/>
          <p:cNvSpPr txBox="1"/>
          <p:nvPr/>
        </p:nvSpPr>
        <p:spPr>
          <a:xfrm>
            <a:off x="9189491" y="2350008"/>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0.75</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42" name="Shape 40"/>
          <p:cNvSpPr/>
          <p:nvPr/>
        </p:nvSpPr>
        <p:spPr>
          <a:xfrm>
            <a:off x="9958578" y="2350008"/>
            <a:ext cx="686791" cy="512064"/>
          </a:xfrm>
          <a:prstGeom prst="roundRect">
            <a:avLst>
              <a:gd name="adj" fmla="val 14286"/>
            </a:avLst>
          </a:prstGeom>
          <a:solidFill>
            <a:srgbClr val="1F6A4D"/>
          </a:solidFill>
          <a:ln w="12700">
            <a:solidFill>
              <a:srgbClr val="1F6A4D"/>
            </a:solidFill>
            <a:prstDash val="solid"/>
          </a:ln>
        </p:spPr>
      </p:sp>
      <p:sp>
        <p:nvSpPr>
          <p:cNvPr id="43" name="Text 41"/>
          <p:cNvSpPr txBox="1"/>
          <p:nvPr/>
        </p:nvSpPr>
        <p:spPr>
          <a:xfrm>
            <a:off x="9931146" y="2350008"/>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0.78</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44" name="Shape 42"/>
          <p:cNvSpPr/>
          <p:nvPr/>
        </p:nvSpPr>
        <p:spPr>
          <a:xfrm>
            <a:off x="10700233" y="2350008"/>
            <a:ext cx="686791" cy="512064"/>
          </a:xfrm>
          <a:prstGeom prst="roundRect">
            <a:avLst>
              <a:gd name="adj" fmla="val 14286"/>
            </a:avLst>
          </a:prstGeom>
          <a:solidFill>
            <a:srgbClr val="2F9D72"/>
          </a:solidFill>
          <a:ln w="12700">
            <a:solidFill>
              <a:srgbClr val="2F9D72"/>
            </a:solidFill>
            <a:prstDash val="solid"/>
          </a:ln>
        </p:spPr>
      </p:sp>
      <p:sp>
        <p:nvSpPr>
          <p:cNvPr id="45" name="Text 43"/>
          <p:cNvSpPr txBox="1"/>
          <p:nvPr/>
        </p:nvSpPr>
        <p:spPr>
          <a:xfrm>
            <a:off x="10672801" y="2350008"/>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0.84</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46" name="Shape 44"/>
          <p:cNvSpPr/>
          <p:nvPr/>
        </p:nvSpPr>
        <p:spPr>
          <a:xfrm>
            <a:off x="777240" y="3136392"/>
            <a:ext cx="137160" cy="137160"/>
          </a:xfrm>
          <a:prstGeom prst="ellipse">
            <a:avLst/>
          </a:prstGeom>
          <a:solidFill>
            <a:srgbClr val="22A072"/>
          </a:solidFill>
          <a:ln w="12700">
            <a:solidFill>
              <a:srgbClr val="22A072"/>
            </a:solidFill>
            <a:prstDash val="solid"/>
          </a:ln>
        </p:spPr>
      </p:sp>
      <p:sp>
        <p:nvSpPr>
          <p:cNvPr id="47" name="Text 45"/>
          <p:cNvSpPr txBox="1"/>
          <p:nvPr/>
        </p:nvSpPr>
        <p:spPr>
          <a:xfrm>
            <a:off x="1005840" y="2953512"/>
            <a:ext cx="1463040" cy="512064"/>
          </a:xfrm>
          <a:prstGeom prst="rect">
            <a:avLst/>
          </a:prstGeom>
          <a:noFill/>
          <a:ln/>
        </p:spPr>
        <p:txBody>
          <a:bodyPr wrap="square" lIns="0" tIns="0" rIns="0" bIns="0" rtlCol="0" anchor="ctr"/>
          <a:lstStyle/>
          <a:p>
            <a:pPr indent="0" marL="0">
              <a:buNone/>
            </a:pPr>
            <a:r>
              <a:rPr lang="en-US" sz="1250" b="1" dirty="0">
                <a:solidFill>
                  <a:srgbClr val="EEF5F1"/>
                </a:solidFill>
                <a:latin typeface="Calibri" pitchFamily="34" charset="0"/>
                <a:ea typeface="Calibri" pitchFamily="34" charset="-122"/>
                <a:cs typeface="Calibri" pitchFamily="34" charset="-120"/>
              </a:rPr>
              <a:t>Analog &amp; power</a:t>
            </a:r>
            <a:endParaRPr lang="en-US" sz="1250" dirty="0"/>
          </a:p>
        </p:txBody>
      </p:sp>
      <p:sp>
        <p:nvSpPr>
          <p:cNvPr id="48" name="Shape 46"/>
          <p:cNvSpPr/>
          <p:nvPr/>
        </p:nvSpPr>
        <p:spPr>
          <a:xfrm>
            <a:off x="2542032" y="2953512"/>
            <a:ext cx="686791" cy="512064"/>
          </a:xfrm>
          <a:prstGeom prst="roundRect">
            <a:avLst>
              <a:gd name="adj" fmla="val 14286"/>
            </a:avLst>
          </a:prstGeom>
          <a:solidFill>
            <a:srgbClr val="1F6A4D"/>
          </a:solidFill>
          <a:ln w="12700">
            <a:solidFill>
              <a:srgbClr val="1F6A4D"/>
            </a:solidFill>
            <a:prstDash val="solid"/>
          </a:ln>
        </p:spPr>
      </p:sp>
      <p:sp>
        <p:nvSpPr>
          <p:cNvPr id="49" name="Text 47"/>
          <p:cNvSpPr txBox="1"/>
          <p:nvPr/>
        </p:nvSpPr>
        <p:spPr>
          <a:xfrm>
            <a:off x="2514600" y="2953512"/>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0.75</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50" name="Shape 48"/>
          <p:cNvSpPr/>
          <p:nvPr/>
        </p:nvSpPr>
        <p:spPr>
          <a:xfrm>
            <a:off x="3283687" y="2953512"/>
            <a:ext cx="686791" cy="512064"/>
          </a:xfrm>
          <a:prstGeom prst="roundRect">
            <a:avLst>
              <a:gd name="adj" fmla="val 14286"/>
            </a:avLst>
          </a:prstGeom>
          <a:solidFill>
            <a:srgbClr val="1F6A4D"/>
          </a:solidFill>
          <a:ln w="12700">
            <a:solidFill>
              <a:srgbClr val="1F6A4D"/>
            </a:solidFill>
            <a:prstDash val="solid"/>
          </a:ln>
        </p:spPr>
      </p:sp>
      <p:sp>
        <p:nvSpPr>
          <p:cNvPr id="51" name="Text 49"/>
          <p:cNvSpPr txBox="1"/>
          <p:nvPr/>
        </p:nvSpPr>
        <p:spPr>
          <a:xfrm>
            <a:off x="3256255" y="2953512"/>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0.77</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52" name="Shape 50"/>
          <p:cNvSpPr/>
          <p:nvPr/>
        </p:nvSpPr>
        <p:spPr>
          <a:xfrm>
            <a:off x="4025341" y="2953512"/>
            <a:ext cx="686791" cy="512064"/>
          </a:xfrm>
          <a:prstGeom prst="roundRect">
            <a:avLst>
              <a:gd name="adj" fmla="val 14286"/>
            </a:avLst>
          </a:prstGeom>
          <a:solidFill>
            <a:srgbClr val="1F6A4D"/>
          </a:solidFill>
          <a:ln w="12700">
            <a:solidFill>
              <a:srgbClr val="1F6A4D"/>
            </a:solidFill>
            <a:prstDash val="solid"/>
          </a:ln>
        </p:spPr>
      </p:sp>
      <p:sp>
        <p:nvSpPr>
          <p:cNvPr id="53" name="Text 51"/>
          <p:cNvSpPr txBox="1"/>
          <p:nvPr/>
        </p:nvSpPr>
        <p:spPr>
          <a:xfrm>
            <a:off x="3997909" y="2953512"/>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0.80</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54" name="Shape 52"/>
          <p:cNvSpPr/>
          <p:nvPr/>
        </p:nvSpPr>
        <p:spPr>
          <a:xfrm>
            <a:off x="4766996" y="2953512"/>
            <a:ext cx="686791" cy="512064"/>
          </a:xfrm>
          <a:prstGeom prst="roundRect">
            <a:avLst>
              <a:gd name="adj" fmla="val 14286"/>
            </a:avLst>
          </a:prstGeom>
          <a:solidFill>
            <a:srgbClr val="1F6A4D"/>
          </a:solidFill>
          <a:ln w="12700">
            <a:solidFill>
              <a:srgbClr val="1F6A4D"/>
            </a:solidFill>
            <a:prstDash val="solid"/>
          </a:ln>
        </p:spPr>
      </p:sp>
      <p:sp>
        <p:nvSpPr>
          <p:cNvPr id="55" name="Text 53"/>
          <p:cNvSpPr txBox="1"/>
          <p:nvPr/>
        </p:nvSpPr>
        <p:spPr>
          <a:xfrm>
            <a:off x="4739564" y="2953512"/>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0.76</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56" name="Shape 54"/>
          <p:cNvSpPr/>
          <p:nvPr/>
        </p:nvSpPr>
        <p:spPr>
          <a:xfrm>
            <a:off x="5508650" y="2953512"/>
            <a:ext cx="686791" cy="512064"/>
          </a:xfrm>
          <a:prstGeom prst="roundRect">
            <a:avLst>
              <a:gd name="adj" fmla="val 14286"/>
            </a:avLst>
          </a:prstGeom>
          <a:solidFill>
            <a:srgbClr val="1F6A4D"/>
          </a:solidFill>
          <a:ln w="12700">
            <a:solidFill>
              <a:srgbClr val="1F6A4D"/>
            </a:solidFill>
            <a:prstDash val="solid"/>
          </a:ln>
        </p:spPr>
      </p:sp>
      <p:sp>
        <p:nvSpPr>
          <p:cNvPr id="57" name="Text 55"/>
          <p:cNvSpPr txBox="1"/>
          <p:nvPr/>
        </p:nvSpPr>
        <p:spPr>
          <a:xfrm>
            <a:off x="5481218" y="2953512"/>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0.77</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58" name="Shape 56"/>
          <p:cNvSpPr/>
          <p:nvPr/>
        </p:nvSpPr>
        <p:spPr>
          <a:xfrm>
            <a:off x="6250305" y="2953512"/>
            <a:ext cx="686791" cy="512064"/>
          </a:xfrm>
          <a:prstGeom prst="roundRect">
            <a:avLst>
              <a:gd name="adj" fmla="val 14286"/>
            </a:avLst>
          </a:prstGeom>
          <a:solidFill>
            <a:srgbClr val="2F9D72"/>
          </a:solidFill>
          <a:ln w="12700">
            <a:solidFill>
              <a:srgbClr val="2F9D72"/>
            </a:solidFill>
            <a:prstDash val="solid"/>
          </a:ln>
        </p:spPr>
      </p:sp>
      <p:sp>
        <p:nvSpPr>
          <p:cNvPr id="59" name="Text 57"/>
          <p:cNvSpPr txBox="1"/>
          <p:nvPr/>
        </p:nvSpPr>
        <p:spPr>
          <a:xfrm>
            <a:off x="6222873" y="2953512"/>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0.81</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60" name="Shape 58"/>
          <p:cNvSpPr/>
          <p:nvPr/>
        </p:nvSpPr>
        <p:spPr>
          <a:xfrm>
            <a:off x="6991960" y="2953512"/>
            <a:ext cx="686791" cy="512064"/>
          </a:xfrm>
          <a:prstGeom prst="roundRect">
            <a:avLst>
              <a:gd name="adj" fmla="val 14286"/>
            </a:avLst>
          </a:prstGeom>
          <a:solidFill>
            <a:srgbClr val="2F9D72"/>
          </a:solidFill>
          <a:ln w="12700">
            <a:solidFill>
              <a:srgbClr val="2F9D72"/>
            </a:solidFill>
            <a:prstDash val="solid"/>
          </a:ln>
        </p:spPr>
      </p:sp>
      <p:sp>
        <p:nvSpPr>
          <p:cNvPr id="61" name="Text 59"/>
          <p:cNvSpPr txBox="1"/>
          <p:nvPr/>
        </p:nvSpPr>
        <p:spPr>
          <a:xfrm>
            <a:off x="6964528" y="2953512"/>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0.80</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62" name="Shape 60"/>
          <p:cNvSpPr/>
          <p:nvPr/>
        </p:nvSpPr>
        <p:spPr>
          <a:xfrm>
            <a:off x="7733614" y="2953512"/>
            <a:ext cx="686791" cy="512064"/>
          </a:xfrm>
          <a:prstGeom prst="roundRect">
            <a:avLst>
              <a:gd name="adj" fmla="val 14286"/>
            </a:avLst>
          </a:prstGeom>
          <a:solidFill>
            <a:srgbClr val="1F6A4D"/>
          </a:solidFill>
          <a:ln w="12700">
            <a:solidFill>
              <a:srgbClr val="1F6A4D"/>
            </a:solidFill>
            <a:prstDash val="solid"/>
          </a:ln>
        </p:spPr>
      </p:sp>
      <p:sp>
        <p:nvSpPr>
          <p:cNvPr id="63" name="Text 61"/>
          <p:cNvSpPr txBox="1"/>
          <p:nvPr/>
        </p:nvSpPr>
        <p:spPr>
          <a:xfrm>
            <a:off x="7706182" y="2953512"/>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0.79</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64" name="Shape 62"/>
          <p:cNvSpPr/>
          <p:nvPr/>
        </p:nvSpPr>
        <p:spPr>
          <a:xfrm>
            <a:off x="8475269" y="2953512"/>
            <a:ext cx="686791" cy="512064"/>
          </a:xfrm>
          <a:prstGeom prst="roundRect">
            <a:avLst>
              <a:gd name="adj" fmla="val 14286"/>
            </a:avLst>
          </a:prstGeom>
          <a:solidFill>
            <a:srgbClr val="1F6A4D"/>
          </a:solidFill>
          <a:ln w="12700">
            <a:solidFill>
              <a:srgbClr val="1F6A4D"/>
            </a:solidFill>
            <a:prstDash val="solid"/>
          </a:ln>
        </p:spPr>
      </p:sp>
      <p:sp>
        <p:nvSpPr>
          <p:cNvPr id="65" name="Text 63"/>
          <p:cNvSpPr txBox="1"/>
          <p:nvPr/>
        </p:nvSpPr>
        <p:spPr>
          <a:xfrm>
            <a:off x="8447837" y="2953512"/>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0.74</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66" name="Shape 64"/>
          <p:cNvSpPr/>
          <p:nvPr/>
        </p:nvSpPr>
        <p:spPr>
          <a:xfrm>
            <a:off x="9216923" y="2953512"/>
            <a:ext cx="686791" cy="512064"/>
          </a:xfrm>
          <a:prstGeom prst="roundRect">
            <a:avLst>
              <a:gd name="adj" fmla="val 14286"/>
            </a:avLst>
          </a:prstGeom>
          <a:solidFill>
            <a:srgbClr val="1F6A4D"/>
          </a:solidFill>
          <a:ln w="12700">
            <a:solidFill>
              <a:srgbClr val="1F6A4D"/>
            </a:solidFill>
            <a:prstDash val="solid"/>
          </a:ln>
        </p:spPr>
      </p:sp>
      <p:sp>
        <p:nvSpPr>
          <p:cNvPr id="67" name="Text 65"/>
          <p:cNvSpPr txBox="1"/>
          <p:nvPr/>
        </p:nvSpPr>
        <p:spPr>
          <a:xfrm>
            <a:off x="9189491" y="2953512"/>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0.76</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68" name="Shape 66"/>
          <p:cNvSpPr/>
          <p:nvPr/>
        </p:nvSpPr>
        <p:spPr>
          <a:xfrm>
            <a:off x="9958578" y="2953512"/>
            <a:ext cx="686791" cy="512064"/>
          </a:xfrm>
          <a:prstGeom prst="roundRect">
            <a:avLst>
              <a:gd name="adj" fmla="val 14286"/>
            </a:avLst>
          </a:prstGeom>
          <a:solidFill>
            <a:srgbClr val="1F6A4D"/>
          </a:solidFill>
          <a:ln w="12700">
            <a:solidFill>
              <a:srgbClr val="1F6A4D"/>
            </a:solidFill>
            <a:prstDash val="solid"/>
          </a:ln>
        </p:spPr>
      </p:sp>
      <p:sp>
        <p:nvSpPr>
          <p:cNvPr id="69" name="Text 67"/>
          <p:cNvSpPr txBox="1"/>
          <p:nvPr/>
        </p:nvSpPr>
        <p:spPr>
          <a:xfrm>
            <a:off x="9931146" y="2953512"/>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0.78</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70" name="Shape 68"/>
          <p:cNvSpPr/>
          <p:nvPr/>
        </p:nvSpPr>
        <p:spPr>
          <a:xfrm>
            <a:off x="10700233" y="2953512"/>
            <a:ext cx="686791" cy="512064"/>
          </a:xfrm>
          <a:prstGeom prst="roundRect">
            <a:avLst>
              <a:gd name="adj" fmla="val 14286"/>
            </a:avLst>
          </a:prstGeom>
          <a:solidFill>
            <a:srgbClr val="2F9D72"/>
          </a:solidFill>
          <a:ln w="12700">
            <a:solidFill>
              <a:srgbClr val="2F9D72"/>
            </a:solidFill>
            <a:prstDash val="solid"/>
          </a:ln>
        </p:spPr>
      </p:sp>
      <p:sp>
        <p:nvSpPr>
          <p:cNvPr id="71" name="Text 69"/>
          <p:cNvSpPr txBox="1"/>
          <p:nvPr/>
        </p:nvSpPr>
        <p:spPr>
          <a:xfrm>
            <a:off x="10672801" y="2953512"/>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0.84</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72" name="Shape 70"/>
          <p:cNvSpPr/>
          <p:nvPr/>
        </p:nvSpPr>
        <p:spPr>
          <a:xfrm>
            <a:off x="777240" y="3739896"/>
            <a:ext cx="137160" cy="137160"/>
          </a:xfrm>
          <a:prstGeom prst="ellipse">
            <a:avLst/>
          </a:prstGeom>
          <a:solidFill>
            <a:srgbClr val="B08C19"/>
          </a:solidFill>
          <a:ln w="12700">
            <a:solidFill>
              <a:srgbClr val="B08C19"/>
            </a:solidFill>
            <a:prstDash val="solid"/>
          </a:ln>
        </p:spPr>
      </p:sp>
      <p:sp>
        <p:nvSpPr>
          <p:cNvPr id="73" name="Text 71"/>
          <p:cNvSpPr txBox="1"/>
          <p:nvPr/>
        </p:nvSpPr>
        <p:spPr>
          <a:xfrm>
            <a:off x="1005840" y="3557016"/>
            <a:ext cx="1463040" cy="512064"/>
          </a:xfrm>
          <a:prstGeom prst="rect">
            <a:avLst/>
          </a:prstGeom>
          <a:noFill/>
          <a:ln/>
        </p:spPr>
        <p:txBody>
          <a:bodyPr wrap="square" lIns="0" tIns="0" rIns="0" bIns="0" rtlCol="0" anchor="ctr"/>
          <a:lstStyle/>
          <a:p>
            <a:pPr indent="0" marL="0">
              <a:buNone/>
            </a:pPr>
            <a:r>
              <a:rPr lang="en-US" sz="1250" b="1" dirty="0">
                <a:solidFill>
                  <a:srgbClr val="EEF5F1"/>
                </a:solidFill>
                <a:latin typeface="Calibri" pitchFamily="34" charset="0"/>
                <a:ea typeface="Calibri" pitchFamily="34" charset="-122"/>
                <a:cs typeface="Calibri" pitchFamily="34" charset="-120"/>
              </a:rPr>
              <a:t>FPGAs</a:t>
            </a:r>
            <a:endParaRPr lang="en-US" sz="1250" dirty="0"/>
          </a:p>
        </p:txBody>
      </p:sp>
      <p:sp>
        <p:nvSpPr>
          <p:cNvPr id="74" name="Shape 72"/>
          <p:cNvSpPr/>
          <p:nvPr/>
        </p:nvSpPr>
        <p:spPr>
          <a:xfrm>
            <a:off x="2542032" y="3557016"/>
            <a:ext cx="686791" cy="512064"/>
          </a:xfrm>
          <a:prstGeom prst="roundRect">
            <a:avLst>
              <a:gd name="adj" fmla="val 14286"/>
            </a:avLst>
          </a:prstGeom>
          <a:solidFill>
            <a:srgbClr val="1F6A4D"/>
          </a:solidFill>
          <a:ln w="12700">
            <a:solidFill>
              <a:srgbClr val="1F6A4D"/>
            </a:solidFill>
            <a:prstDash val="solid"/>
          </a:ln>
        </p:spPr>
      </p:sp>
      <p:sp>
        <p:nvSpPr>
          <p:cNvPr id="75" name="Text 73"/>
          <p:cNvSpPr txBox="1"/>
          <p:nvPr/>
        </p:nvSpPr>
        <p:spPr>
          <a:xfrm>
            <a:off x="2514600" y="3557016"/>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0.79</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76" name="Shape 74"/>
          <p:cNvSpPr/>
          <p:nvPr/>
        </p:nvSpPr>
        <p:spPr>
          <a:xfrm>
            <a:off x="3283687" y="3557016"/>
            <a:ext cx="686791" cy="512064"/>
          </a:xfrm>
          <a:prstGeom prst="roundRect">
            <a:avLst>
              <a:gd name="adj" fmla="val 14286"/>
            </a:avLst>
          </a:prstGeom>
          <a:solidFill>
            <a:srgbClr val="2F9D72"/>
          </a:solidFill>
          <a:ln w="12700">
            <a:solidFill>
              <a:srgbClr val="2F9D72"/>
            </a:solidFill>
            <a:prstDash val="solid"/>
          </a:ln>
        </p:spPr>
      </p:sp>
      <p:sp>
        <p:nvSpPr>
          <p:cNvPr id="77" name="Text 75"/>
          <p:cNvSpPr txBox="1"/>
          <p:nvPr/>
        </p:nvSpPr>
        <p:spPr>
          <a:xfrm>
            <a:off x="3256255" y="3557016"/>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0.81</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78" name="Shape 76"/>
          <p:cNvSpPr/>
          <p:nvPr/>
        </p:nvSpPr>
        <p:spPr>
          <a:xfrm>
            <a:off x="4025341" y="3557016"/>
            <a:ext cx="686791" cy="512064"/>
          </a:xfrm>
          <a:prstGeom prst="roundRect">
            <a:avLst>
              <a:gd name="adj" fmla="val 14286"/>
            </a:avLst>
          </a:prstGeom>
          <a:solidFill>
            <a:srgbClr val="2F9D72"/>
          </a:solidFill>
          <a:ln w="12700">
            <a:solidFill>
              <a:srgbClr val="2F9D72"/>
            </a:solidFill>
            <a:prstDash val="solid"/>
          </a:ln>
        </p:spPr>
      </p:sp>
      <p:sp>
        <p:nvSpPr>
          <p:cNvPr id="79" name="Text 77"/>
          <p:cNvSpPr txBox="1"/>
          <p:nvPr/>
        </p:nvSpPr>
        <p:spPr>
          <a:xfrm>
            <a:off x="3997909" y="3557016"/>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0.84</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80" name="Shape 78"/>
          <p:cNvSpPr/>
          <p:nvPr/>
        </p:nvSpPr>
        <p:spPr>
          <a:xfrm>
            <a:off x="4766996" y="3557016"/>
            <a:ext cx="686791" cy="512064"/>
          </a:xfrm>
          <a:prstGeom prst="roundRect">
            <a:avLst>
              <a:gd name="adj" fmla="val 14286"/>
            </a:avLst>
          </a:prstGeom>
          <a:solidFill>
            <a:srgbClr val="1F6A4D"/>
          </a:solidFill>
          <a:ln w="12700">
            <a:solidFill>
              <a:srgbClr val="1F6A4D"/>
            </a:solidFill>
            <a:prstDash val="solid"/>
          </a:ln>
        </p:spPr>
      </p:sp>
      <p:sp>
        <p:nvSpPr>
          <p:cNvPr id="81" name="Text 79"/>
          <p:cNvSpPr txBox="1"/>
          <p:nvPr/>
        </p:nvSpPr>
        <p:spPr>
          <a:xfrm>
            <a:off x="4739564" y="3557016"/>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0.80</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82" name="Shape 80"/>
          <p:cNvSpPr/>
          <p:nvPr/>
        </p:nvSpPr>
        <p:spPr>
          <a:xfrm>
            <a:off x="5508650" y="3557016"/>
            <a:ext cx="686791" cy="512064"/>
          </a:xfrm>
          <a:prstGeom prst="roundRect">
            <a:avLst>
              <a:gd name="adj" fmla="val 14286"/>
            </a:avLst>
          </a:prstGeom>
          <a:solidFill>
            <a:srgbClr val="2F9D72"/>
          </a:solidFill>
          <a:ln w="12700">
            <a:solidFill>
              <a:srgbClr val="2F9D72"/>
            </a:solidFill>
            <a:prstDash val="solid"/>
          </a:ln>
        </p:spPr>
      </p:sp>
      <p:sp>
        <p:nvSpPr>
          <p:cNvPr id="83" name="Text 81"/>
          <p:cNvSpPr txBox="1"/>
          <p:nvPr/>
        </p:nvSpPr>
        <p:spPr>
          <a:xfrm>
            <a:off x="5481218" y="3557016"/>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0.81</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84" name="Shape 82"/>
          <p:cNvSpPr/>
          <p:nvPr/>
        </p:nvSpPr>
        <p:spPr>
          <a:xfrm>
            <a:off x="6250305" y="3557016"/>
            <a:ext cx="686791" cy="512064"/>
          </a:xfrm>
          <a:prstGeom prst="roundRect">
            <a:avLst>
              <a:gd name="adj" fmla="val 14286"/>
            </a:avLst>
          </a:prstGeom>
          <a:solidFill>
            <a:srgbClr val="2F9D72"/>
          </a:solidFill>
          <a:ln w="15875">
            <a:solidFill>
              <a:srgbClr val="F2C14E"/>
            </a:solidFill>
            <a:prstDash val="solid"/>
          </a:ln>
        </p:spPr>
      </p:sp>
      <p:sp>
        <p:nvSpPr>
          <p:cNvPr id="85" name="Text 83"/>
          <p:cNvSpPr txBox="1"/>
          <p:nvPr/>
        </p:nvSpPr>
        <p:spPr>
          <a:xfrm>
            <a:off x="6222873" y="3557016"/>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0.86</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TIGHT</a:t>
            </a:r>
            <a:endParaRPr lang="en-US" sz="1100" dirty="0"/>
          </a:p>
        </p:txBody>
      </p:sp>
      <p:sp>
        <p:nvSpPr>
          <p:cNvPr id="86" name="Shape 84"/>
          <p:cNvSpPr/>
          <p:nvPr/>
        </p:nvSpPr>
        <p:spPr>
          <a:xfrm>
            <a:off x="6991960" y="3557016"/>
            <a:ext cx="686791" cy="512064"/>
          </a:xfrm>
          <a:prstGeom prst="roundRect">
            <a:avLst>
              <a:gd name="adj" fmla="val 14286"/>
            </a:avLst>
          </a:prstGeom>
          <a:solidFill>
            <a:srgbClr val="2F9D72"/>
          </a:solidFill>
          <a:ln w="12700">
            <a:solidFill>
              <a:srgbClr val="2F9D72"/>
            </a:solidFill>
            <a:prstDash val="solid"/>
          </a:ln>
        </p:spPr>
      </p:sp>
      <p:sp>
        <p:nvSpPr>
          <p:cNvPr id="87" name="Text 85"/>
          <p:cNvSpPr txBox="1"/>
          <p:nvPr/>
        </p:nvSpPr>
        <p:spPr>
          <a:xfrm>
            <a:off x="6964528" y="3557016"/>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0.85</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88" name="Shape 86"/>
          <p:cNvSpPr/>
          <p:nvPr/>
        </p:nvSpPr>
        <p:spPr>
          <a:xfrm>
            <a:off x="7733614" y="3557016"/>
            <a:ext cx="686791" cy="512064"/>
          </a:xfrm>
          <a:prstGeom prst="roundRect">
            <a:avLst>
              <a:gd name="adj" fmla="val 14286"/>
            </a:avLst>
          </a:prstGeom>
          <a:solidFill>
            <a:srgbClr val="2F9D72"/>
          </a:solidFill>
          <a:ln w="12700">
            <a:solidFill>
              <a:srgbClr val="2F9D72"/>
            </a:solidFill>
            <a:prstDash val="solid"/>
          </a:ln>
        </p:spPr>
      </p:sp>
      <p:sp>
        <p:nvSpPr>
          <p:cNvPr id="89" name="Text 87"/>
          <p:cNvSpPr txBox="1"/>
          <p:nvPr/>
        </p:nvSpPr>
        <p:spPr>
          <a:xfrm>
            <a:off x="7706182" y="3557016"/>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0.83</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90" name="Shape 88"/>
          <p:cNvSpPr/>
          <p:nvPr/>
        </p:nvSpPr>
        <p:spPr>
          <a:xfrm>
            <a:off x="8475269" y="3557016"/>
            <a:ext cx="686791" cy="512064"/>
          </a:xfrm>
          <a:prstGeom prst="roundRect">
            <a:avLst>
              <a:gd name="adj" fmla="val 14286"/>
            </a:avLst>
          </a:prstGeom>
          <a:solidFill>
            <a:srgbClr val="1F6A4D"/>
          </a:solidFill>
          <a:ln w="12700">
            <a:solidFill>
              <a:srgbClr val="1F6A4D"/>
            </a:solidFill>
            <a:prstDash val="solid"/>
          </a:ln>
        </p:spPr>
      </p:sp>
      <p:sp>
        <p:nvSpPr>
          <p:cNvPr id="91" name="Text 89"/>
          <p:cNvSpPr txBox="1"/>
          <p:nvPr/>
        </p:nvSpPr>
        <p:spPr>
          <a:xfrm>
            <a:off x="8447837" y="3557016"/>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0.78</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92" name="Shape 90"/>
          <p:cNvSpPr/>
          <p:nvPr/>
        </p:nvSpPr>
        <p:spPr>
          <a:xfrm>
            <a:off x="9216923" y="3557016"/>
            <a:ext cx="686791" cy="512064"/>
          </a:xfrm>
          <a:prstGeom prst="roundRect">
            <a:avLst>
              <a:gd name="adj" fmla="val 14286"/>
            </a:avLst>
          </a:prstGeom>
          <a:solidFill>
            <a:srgbClr val="1F6A4D"/>
          </a:solidFill>
          <a:ln w="12700">
            <a:solidFill>
              <a:srgbClr val="1F6A4D"/>
            </a:solidFill>
            <a:prstDash val="solid"/>
          </a:ln>
        </p:spPr>
      </p:sp>
      <p:sp>
        <p:nvSpPr>
          <p:cNvPr id="93" name="Text 91"/>
          <p:cNvSpPr txBox="1"/>
          <p:nvPr/>
        </p:nvSpPr>
        <p:spPr>
          <a:xfrm>
            <a:off x="9189491" y="3557016"/>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0.80</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94" name="Shape 92"/>
          <p:cNvSpPr/>
          <p:nvPr/>
        </p:nvSpPr>
        <p:spPr>
          <a:xfrm>
            <a:off x="9958578" y="3557016"/>
            <a:ext cx="686791" cy="512064"/>
          </a:xfrm>
          <a:prstGeom prst="roundRect">
            <a:avLst>
              <a:gd name="adj" fmla="val 14286"/>
            </a:avLst>
          </a:prstGeom>
          <a:solidFill>
            <a:srgbClr val="2F9D72"/>
          </a:solidFill>
          <a:ln w="12700">
            <a:solidFill>
              <a:srgbClr val="2F9D72"/>
            </a:solidFill>
            <a:prstDash val="solid"/>
          </a:ln>
        </p:spPr>
      </p:sp>
      <p:sp>
        <p:nvSpPr>
          <p:cNvPr id="95" name="Text 93"/>
          <p:cNvSpPr txBox="1"/>
          <p:nvPr/>
        </p:nvSpPr>
        <p:spPr>
          <a:xfrm>
            <a:off x="9931146" y="3557016"/>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0.82</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OK</a:t>
            </a:r>
            <a:endParaRPr lang="en-US" sz="1100" dirty="0"/>
          </a:p>
        </p:txBody>
      </p:sp>
      <p:sp>
        <p:nvSpPr>
          <p:cNvPr id="96" name="Shape 94"/>
          <p:cNvSpPr/>
          <p:nvPr/>
        </p:nvSpPr>
        <p:spPr>
          <a:xfrm>
            <a:off x="10700233" y="3557016"/>
            <a:ext cx="686791" cy="512064"/>
          </a:xfrm>
          <a:prstGeom prst="roundRect">
            <a:avLst>
              <a:gd name="adj" fmla="val 14286"/>
            </a:avLst>
          </a:prstGeom>
          <a:solidFill>
            <a:srgbClr val="2F9D72"/>
          </a:solidFill>
          <a:ln w="15875">
            <a:solidFill>
              <a:srgbClr val="F2C14E"/>
            </a:solidFill>
            <a:prstDash val="solid"/>
          </a:ln>
        </p:spPr>
      </p:sp>
      <p:sp>
        <p:nvSpPr>
          <p:cNvPr id="97" name="Text 95"/>
          <p:cNvSpPr txBox="1"/>
          <p:nvPr/>
        </p:nvSpPr>
        <p:spPr>
          <a:xfrm>
            <a:off x="10672801" y="3557016"/>
            <a:ext cx="741655" cy="512064"/>
          </a:xfrm>
          <a:prstGeom prst="rect">
            <a:avLst/>
          </a:prstGeom>
          <a:noFill/>
          <a:ln/>
        </p:spPr>
        <p:txBody>
          <a:bodyPr wrap="square" lIns="0" tIns="0" rIns="0" bIns="0" rtlCol="0" anchor="ctr"/>
          <a:lstStyle/>
          <a:p>
            <a:pPr algn="ctr" indent="0" marL="0">
              <a:buNone/>
            </a:pPr>
            <a:r>
              <a:rPr lang="en-US" sz="1100" b="1" dirty="0">
                <a:solidFill>
                  <a:srgbClr val="EEF5F1"/>
                </a:solidFill>
                <a:latin typeface="Calibri" pitchFamily="34" charset="0"/>
                <a:ea typeface="Calibri" pitchFamily="34" charset="-122"/>
                <a:cs typeface="Calibri" pitchFamily="34" charset="-120"/>
              </a:rPr>
              <a:t>0.89</a:t>
            </a:r>
            <a:endParaRPr lang="en-US" sz="1100" dirty="0"/>
          </a:p>
          <a:p>
            <a:pPr algn="ctr" indent="0" marL="0">
              <a:buNone/>
            </a:pPr>
            <a:r>
              <a:rPr lang="en-US" sz="750" dirty="0">
                <a:solidFill>
                  <a:srgbClr val="EEF5F1"/>
                </a:solidFill>
                <a:latin typeface="Calibri" pitchFamily="34" charset="0"/>
                <a:ea typeface="Calibri" pitchFamily="34" charset="-122"/>
                <a:cs typeface="Calibri" pitchFamily="34" charset="-120"/>
              </a:rPr>
              <a:t>TIGHT</a:t>
            </a:r>
            <a:endParaRPr lang="en-US" sz="1100" dirty="0"/>
          </a:p>
        </p:txBody>
      </p:sp>
      <p:sp>
        <p:nvSpPr>
          <p:cNvPr id="98" name="Shape 96"/>
          <p:cNvSpPr/>
          <p:nvPr/>
        </p:nvSpPr>
        <p:spPr>
          <a:xfrm>
            <a:off x="548640" y="4434840"/>
            <a:ext cx="2567864" cy="1691640"/>
          </a:xfrm>
          <a:prstGeom prst="roundRect">
            <a:avLst>
              <a:gd name="adj" fmla="val 8649"/>
            </a:avLst>
          </a:prstGeom>
          <a:solidFill>
            <a:srgbClr val="121A17"/>
          </a:solidFill>
          <a:ln w="9525">
            <a:solidFill>
              <a:srgbClr val="26332E"/>
            </a:solidFill>
            <a:prstDash val="solid"/>
          </a:ln>
        </p:spPr>
      </p:sp>
      <p:sp>
        <p:nvSpPr>
          <p:cNvPr id="99" name="Text 97"/>
          <p:cNvSpPr txBox="1"/>
          <p:nvPr/>
        </p:nvSpPr>
        <p:spPr>
          <a:xfrm>
            <a:off x="777240" y="4617720"/>
            <a:ext cx="2110664" cy="27432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FPGA yield, YTD</a:t>
            </a:r>
            <a:endParaRPr lang="en-US" sz="1200" dirty="0"/>
          </a:p>
        </p:txBody>
      </p:sp>
      <p:sp>
        <p:nvSpPr>
          <p:cNvPr id="100" name="Text 98"/>
          <p:cNvSpPr txBox="1"/>
          <p:nvPr/>
        </p:nvSpPr>
        <p:spPr>
          <a:xfrm>
            <a:off x="777240" y="4892040"/>
            <a:ext cx="2110664" cy="640080"/>
          </a:xfrm>
          <a:prstGeom prst="rect">
            <a:avLst/>
          </a:prstGeom>
          <a:noFill/>
          <a:ln/>
        </p:spPr>
        <p:txBody>
          <a:bodyPr wrap="square" lIns="0" tIns="0" rIns="0" bIns="0" rtlCol="0" anchor="ctr"/>
          <a:lstStyle/>
          <a:p>
            <a:pPr indent="0" marL="0">
              <a:buNone/>
            </a:pPr>
            <a:r>
              <a:rPr lang="en-US" sz="3400" b="1" dirty="0">
                <a:solidFill>
                  <a:srgbClr val="F07B6C"/>
                </a:solidFill>
                <a:latin typeface="Calibri" pitchFamily="34" charset="0"/>
                <a:ea typeface="Calibri" pitchFamily="34" charset="-122"/>
                <a:cs typeface="Calibri" pitchFamily="34" charset="-120"/>
              </a:rPr>
              <a:t>82.0%</a:t>
            </a:r>
            <a:endParaRPr lang="en-US" sz="3400" dirty="0"/>
          </a:p>
        </p:txBody>
      </p:sp>
      <p:sp>
        <p:nvSpPr>
          <p:cNvPr id="101" name="Text 99"/>
          <p:cNvSpPr txBox="1"/>
          <p:nvPr/>
        </p:nvSpPr>
        <p:spPr>
          <a:xfrm>
            <a:off x="777240" y="5532120"/>
            <a:ext cx="2110664" cy="274320"/>
          </a:xfrm>
          <a:prstGeom prst="rect">
            <a:avLst/>
          </a:prstGeom>
          <a:noFill/>
          <a:ln/>
        </p:spPr>
        <p:txBody>
          <a:bodyPr wrap="square" lIns="0" tIns="0" rIns="0" bIns="0" rtlCol="0" anchor="ctr"/>
          <a:lstStyle/>
          <a:p>
            <a:pPr indent="0" marL="0">
              <a:buNone/>
            </a:pPr>
            <a:r>
              <a:rPr lang="en-US" sz="1150" dirty="0">
                <a:solidFill>
                  <a:srgbClr val="7C8F86"/>
                </a:solidFill>
                <a:latin typeface="Calibri" pitchFamily="34" charset="0"/>
                <a:ea typeface="Calibri" pitchFamily="34" charset="-122"/>
                <a:cs typeface="Calibri" pitchFamily="34" charset="-120"/>
              </a:rPr>
              <a:t>plan 85.0% · older test platform</a:t>
            </a:r>
            <a:endParaRPr lang="en-US" sz="1150" dirty="0"/>
          </a:p>
        </p:txBody>
      </p:sp>
      <p:sp>
        <p:nvSpPr>
          <p:cNvPr id="102" name="Shape 100"/>
          <p:cNvSpPr/>
          <p:nvPr/>
        </p:nvSpPr>
        <p:spPr>
          <a:xfrm>
            <a:off x="3390824" y="4434840"/>
            <a:ext cx="2567864" cy="1691640"/>
          </a:xfrm>
          <a:prstGeom prst="roundRect">
            <a:avLst>
              <a:gd name="adj" fmla="val 8649"/>
            </a:avLst>
          </a:prstGeom>
          <a:solidFill>
            <a:srgbClr val="121A17"/>
          </a:solidFill>
          <a:ln w="9525">
            <a:solidFill>
              <a:srgbClr val="26332E"/>
            </a:solidFill>
            <a:prstDash val="solid"/>
          </a:ln>
        </p:spPr>
      </p:sp>
      <p:sp>
        <p:nvSpPr>
          <p:cNvPr id="103" name="Text 101"/>
          <p:cNvSpPr txBox="1"/>
          <p:nvPr/>
        </p:nvSpPr>
        <p:spPr>
          <a:xfrm>
            <a:off x="3619424" y="4617720"/>
            <a:ext cx="2110664" cy="27432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FPGA tester utilization, YTD</a:t>
            </a:r>
            <a:endParaRPr lang="en-US" sz="1200" dirty="0"/>
          </a:p>
        </p:txBody>
      </p:sp>
      <p:sp>
        <p:nvSpPr>
          <p:cNvPr id="104" name="Text 102"/>
          <p:cNvSpPr txBox="1"/>
          <p:nvPr/>
        </p:nvSpPr>
        <p:spPr>
          <a:xfrm>
            <a:off x="3619424" y="4892040"/>
            <a:ext cx="2110664" cy="640080"/>
          </a:xfrm>
          <a:prstGeom prst="rect">
            <a:avLst/>
          </a:prstGeom>
          <a:noFill/>
          <a:ln/>
        </p:spPr>
        <p:txBody>
          <a:bodyPr wrap="square" lIns="0" tIns="0" rIns="0" bIns="0" rtlCol="0" anchor="ctr"/>
          <a:lstStyle/>
          <a:p>
            <a:pPr indent="0" marL="0">
              <a:buNone/>
            </a:pPr>
            <a:r>
              <a:rPr lang="en-US" sz="3400" b="1" dirty="0">
                <a:solidFill>
                  <a:srgbClr val="F2C14E"/>
                </a:solidFill>
                <a:latin typeface="Calibri" pitchFamily="34" charset="0"/>
                <a:ea typeface="Calibri" pitchFamily="34" charset="-122"/>
                <a:cs typeface="Calibri" pitchFamily="34" charset="-120"/>
              </a:rPr>
              <a:t>88%</a:t>
            </a:r>
            <a:endParaRPr lang="en-US" sz="3400" dirty="0"/>
          </a:p>
        </p:txBody>
      </p:sp>
      <p:sp>
        <p:nvSpPr>
          <p:cNvPr id="105" name="Text 103"/>
          <p:cNvSpPr txBox="1"/>
          <p:nvPr/>
        </p:nvSpPr>
        <p:spPr>
          <a:xfrm>
            <a:off x="3619424" y="5532120"/>
            <a:ext cx="2110664" cy="274320"/>
          </a:xfrm>
          <a:prstGeom prst="rect">
            <a:avLst/>
          </a:prstGeom>
          <a:noFill/>
          <a:ln/>
        </p:spPr>
        <p:txBody>
          <a:bodyPr wrap="square" lIns="0" tIns="0" rIns="0" bIns="0" rtlCol="0" anchor="ctr"/>
          <a:lstStyle/>
          <a:p>
            <a:pPr indent="0" marL="0">
              <a:buNone/>
            </a:pPr>
            <a:r>
              <a:rPr lang="en-US" sz="1150" dirty="0">
                <a:solidFill>
                  <a:srgbClr val="7C8F86"/>
                </a:solidFill>
                <a:latin typeface="Calibri" pitchFamily="34" charset="0"/>
                <a:ea typeface="Calibri" pitchFamily="34" charset="-122"/>
                <a:cs typeface="Calibri" pitchFamily="34" charset="-120"/>
              </a:rPr>
              <a:t>plan 80% · limited headroom</a:t>
            </a:r>
            <a:endParaRPr lang="en-US" sz="1150" dirty="0"/>
          </a:p>
        </p:txBody>
      </p:sp>
      <p:sp>
        <p:nvSpPr>
          <p:cNvPr id="106" name="Shape 104"/>
          <p:cNvSpPr/>
          <p:nvPr/>
        </p:nvSpPr>
        <p:spPr>
          <a:xfrm>
            <a:off x="6233008" y="4434840"/>
            <a:ext cx="2567864" cy="1691640"/>
          </a:xfrm>
          <a:prstGeom prst="roundRect">
            <a:avLst>
              <a:gd name="adj" fmla="val 8649"/>
            </a:avLst>
          </a:prstGeom>
          <a:solidFill>
            <a:srgbClr val="121A17"/>
          </a:solidFill>
          <a:ln w="9525">
            <a:solidFill>
              <a:srgbClr val="26332E"/>
            </a:solidFill>
            <a:prstDash val="solid"/>
          </a:ln>
        </p:spPr>
      </p:sp>
      <p:sp>
        <p:nvSpPr>
          <p:cNvPr id="107" name="Text 105"/>
          <p:cNvSpPr txBox="1"/>
          <p:nvPr/>
        </p:nvSpPr>
        <p:spPr>
          <a:xfrm>
            <a:off x="6461608" y="4617720"/>
            <a:ext cx="2110664" cy="27432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FPGA cost per good unit, YTD</a:t>
            </a:r>
            <a:endParaRPr lang="en-US" sz="1200" dirty="0"/>
          </a:p>
        </p:txBody>
      </p:sp>
      <p:sp>
        <p:nvSpPr>
          <p:cNvPr id="108" name="Text 106"/>
          <p:cNvSpPr txBox="1"/>
          <p:nvPr/>
        </p:nvSpPr>
        <p:spPr>
          <a:xfrm>
            <a:off x="6461608" y="4892040"/>
            <a:ext cx="2110664" cy="640080"/>
          </a:xfrm>
          <a:prstGeom prst="rect">
            <a:avLst/>
          </a:prstGeom>
          <a:noFill/>
          <a:ln/>
        </p:spPr>
        <p:txBody>
          <a:bodyPr wrap="square" lIns="0" tIns="0" rIns="0" bIns="0" rtlCol="0" anchor="ctr"/>
          <a:lstStyle/>
          <a:p>
            <a:pPr indent="0" marL="0">
              <a:buNone/>
            </a:pPr>
            <a:r>
              <a:rPr lang="en-US" sz="3400" b="1" dirty="0">
                <a:solidFill>
                  <a:srgbClr val="EEF5F1"/>
                </a:solidFill>
                <a:latin typeface="Calibri" pitchFamily="34" charset="0"/>
                <a:ea typeface="Calibri" pitchFamily="34" charset="-122"/>
                <a:cs typeface="Calibri" pitchFamily="34" charset="-120"/>
              </a:rPr>
              <a:t>$10.98</a:t>
            </a:r>
            <a:endParaRPr lang="en-US" sz="3400" dirty="0"/>
          </a:p>
        </p:txBody>
      </p:sp>
      <p:sp>
        <p:nvSpPr>
          <p:cNvPr id="109" name="Text 107"/>
          <p:cNvSpPr txBox="1"/>
          <p:nvPr/>
        </p:nvSpPr>
        <p:spPr>
          <a:xfrm>
            <a:off x="6461608" y="5532120"/>
            <a:ext cx="2110664" cy="274320"/>
          </a:xfrm>
          <a:prstGeom prst="rect">
            <a:avLst/>
          </a:prstGeom>
          <a:noFill/>
          <a:ln/>
        </p:spPr>
        <p:txBody>
          <a:bodyPr wrap="square" lIns="0" tIns="0" rIns="0" bIns="0" rtlCol="0" anchor="ctr"/>
          <a:lstStyle/>
          <a:p>
            <a:pPr indent="0" marL="0">
              <a:buNone/>
            </a:pPr>
            <a:r>
              <a:rPr lang="en-US" sz="1150" dirty="0">
                <a:solidFill>
                  <a:srgbClr val="7C8F86"/>
                </a:solidFill>
                <a:latin typeface="Calibri" pitchFamily="34" charset="0"/>
                <a:ea typeface="Calibri" pitchFamily="34" charset="-122"/>
                <a:cs typeface="Calibri" pitchFamily="34" charset="-120"/>
              </a:rPr>
              <a:t>plan $10.67 · yield loss adds cost</a:t>
            </a:r>
            <a:endParaRPr lang="en-US" sz="1150" dirty="0"/>
          </a:p>
        </p:txBody>
      </p:sp>
      <p:sp>
        <p:nvSpPr>
          <p:cNvPr id="110" name="Shape 108"/>
          <p:cNvSpPr/>
          <p:nvPr/>
        </p:nvSpPr>
        <p:spPr>
          <a:xfrm>
            <a:off x="9075191" y="4434840"/>
            <a:ext cx="2567864" cy="1691640"/>
          </a:xfrm>
          <a:prstGeom prst="roundRect">
            <a:avLst>
              <a:gd name="adj" fmla="val 8649"/>
            </a:avLst>
          </a:prstGeom>
          <a:solidFill>
            <a:srgbClr val="121A17"/>
          </a:solidFill>
          <a:ln w="9525">
            <a:solidFill>
              <a:srgbClr val="26332E"/>
            </a:solidFill>
            <a:prstDash val="solid"/>
          </a:ln>
        </p:spPr>
      </p:sp>
      <p:sp>
        <p:nvSpPr>
          <p:cNvPr id="111" name="Text 109"/>
          <p:cNvSpPr txBox="1"/>
          <p:nvPr/>
        </p:nvSpPr>
        <p:spPr>
          <a:xfrm>
            <a:off x="9303791" y="4617720"/>
            <a:ext cx="2110664" cy="27432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Analog utilization, YTD</a:t>
            </a:r>
            <a:endParaRPr lang="en-US" sz="1200" dirty="0"/>
          </a:p>
        </p:txBody>
      </p:sp>
      <p:sp>
        <p:nvSpPr>
          <p:cNvPr id="112" name="Text 110"/>
          <p:cNvSpPr txBox="1"/>
          <p:nvPr/>
        </p:nvSpPr>
        <p:spPr>
          <a:xfrm>
            <a:off x="9303791" y="4892040"/>
            <a:ext cx="2110664" cy="640080"/>
          </a:xfrm>
          <a:prstGeom prst="rect">
            <a:avLst/>
          </a:prstGeom>
          <a:noFill/>
          <a:ln/>
        </p:spPr>
        <p:txBody>
          <a:bodyPr wrap="square" lIns="0" tIns="0" rIns="0" bIns="0" rtlCol="0" anchor="ctr"/>
          <a:lstStyle/>
          <a:p>
            <a:pPr indent="0" marL="0">
              <a:buNone/>
            </a:pPr>
            <a:r>
              <a:rPr lang="en-US" sz="3400" b="1" dirty="0">
                <a:solidFill>
                  <a:srgbClr val="EEF5F1"/>
                </a:solidFill>
                <a:latin typeface="Calibri" pitchFamily="34" charset="0"/>
                <a:ea typeface="Calibri" pitchFamily="34" charset="-122"/>
                <a:cs typeface="Calibri" pitchFamily="34" charset="-120"/>
              </a:rPr>
              <a:t>76%</a:t>
            </a:r>
            <a:endParaRPr lang="en-US" sz="3400" dirty="0"/>
          </a:p>
        </p:txBody>
      </p:sp>
      <p:sp>
        <p:nvSpPr>
          <p:cNvPr id="113" name="Text 111"/>
          <p:cNvSpPr txBox="1"/>
          <p:nvPr/>
        </p:nvSpPr>
        <p:spPr>
          <a:xfrm>
            <a:off x="9303791" y="5532120"/>
            <a:ext cx="2110664" cy="274320"/>
          </a:xfrm>
          <a:prstGeom prst="rect">
            <a:avLst/>
          </a:prstGeom>
          <a:noFill/>
          <a:ln/>
        </p:spPr>
        <p:txBody>
          <a:bodyPr wrap="square" lIns="0" tIns="0" rIns="0" bIns="0" rtlCol="0" anchor="ctr"/>
          <a:lstStyle/>
          <a:p>
            <a:pPr indent="0" marL="0">
              <a:buNone/>
            </a:pPr>
            <a:r>
              <a:rPr lang="en-US" sz="1150" dirty="0">
                <a:solidFill>
                  <a:srgbClr val="7C8F86"/>
                </a:solidFill>
                <a:latin typeface="Calibri" pitchFamily="34" charset="0"/>
                <a:ea typeface="Calibri" pitchFamily="34" charset="-122"/>
                <a:cs typeface="Calibri" pitchFamily="34" charset="-120"/>
              </a:rPr>
              <a:t>cut to avoid building inventory</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200" kern="0" dirty="0">
                <a:solidFill>
                  <a:srgbClr val="43C99A"/>
                </a:solidFill>
                <a:latin typeface="Calibri" pitchFamily="34" charset="0"/>
                <a:ea typeface="Calibri" pitchFamily="34" charset="-122"/>
                <a:cs typeface="Calibri" pitchFamily="34" charset="-120"/>
              </a:rPr>
              <a:t>SCENARIO PLANNING · ONE MODEL, THREE CASES</a:t>
            </a:r>
            <a:endParaRPr lang="en-US" sz="1100" dirty="0"/>
          </a:p>
        </p:txBody>
      </p:sp>
      <p:sp>
        <p:nvSpPr>
          <p:cNvPr id="3" name="Text 1"/>
          <p:cNvSpPr txBox="1"/>
          <p:nvPr/>
        </p:nvSpPr>
        <p:spPr>
          <a:xfrm>
            <a:off x="548640" y="621792"/>
            <a:ext cx="11094415" cy="822960"/>
          </a:xfrm>
          <a:prstGeom prst="rect">
            <a:avLst/>
          </a:prstGeom>
          <a:noFill/>
          <a:ln/>
        </p:spPr>
        <p:txBody>
          <a:bodyPr wrap="square" lIns="0" tIns="0" rIns="0" bIns="0" rtlCol="0" anchor="t"/>
          <a:lstStyle/>
          <a:p>
            <a:pPr indent="0" marL="0">
              <a:buNone/>
            </a:pPr>
            <a:r>
              <a:rPr lang="en-US" sz="3000" b="1" dirty="0">
                <a:solidFill>
                  <a:srgbClr val="EEF5F1"/>
                </a:solidFill>
                <a:latin typeface="Calibri" pitchFamily="34" charset="0"/>
                <a:ea typeface="Calibri" pitchFamily="34" charset="-122"/>
                <a:cs typeface="Calibri" pitchFamily="34" charset="-120"/>
              </a:rPr>
              <a:t>Operating profit ranges from $253.5m to $513.3m</a:t>
            </a:r>
            <a:endParaRPr lang="en-US" sz="3000" dirty="0"/>
          </a:p>
        </p:txBody>
      </p:sp>
      <p:sp>
        <p:nvSpPr>
          <p:cNvPr id="4" name="Text 2"/>
          <p:cNvSpPr txBox="1"/>
          <p:nvPr/>
        </p:nvSpPr>
        <p:spPr>
          <a:xfrm>
            <a:off x="548640" y="6446520"/>
            <a:ext cx="9601200" cy="228600"/>
          </a:xfrm>
          <a:prstGeom prst="rect">
            <a:avLst/>
          </a:prstGeom>
          <a:noFill/>
          <a:ln/>
        </p:spPr>
        <p:txBody>
          <a:bodyPr wrap="square" lIns="0" tIns="0" rIns="0" bIns="0" rtlCol="0" anchor="ctr"/>
          <a:lstStyle/>
          <a:p>
            <a:pPr indent="0" marL="0">
              <a:buNone/>
            </a:pPr>
            <a:r>
              <a:rPr lang="en-US" sz="900" dirty="0">
                <a:solidFill>
                  <a:srgbClr val="7C8F86"/>
                </a:solidFill>
                <a:latin typeface="Calibri" pitchFamily="34" charset="0"/>
                <a:ea typeface="Calibri" pitchFamily="34" charset="-122"/>
                <a:cs typeface="Calibri" pitchFamily="34" charset="-120"/>
              </a:rPr>
              <a:t>Simulated data created for portfolio demonstration. It does not represent nonpublic Microchip Technology information.</a:t>
            </a:r>
            <a:endParaRPr lang="en-US" sz="900" dirty="0"/>
          </a:p>
        </p:txBody>
      </p:sp>
      <p:sp>
        <p:nvSpPr>
          <p:cNvPr id="5" name="Text 3"/>
          <p:cNvSpPr txBox="1"/>
          <p:nvPr/>
        </p:nvSpPr>
        <p:spPr>
          <a:xfrm>
            <a:off x="11094415" y="6446520"/>
            <a:ext cx="548640" cy="228600"/>
          </a:xfrm>
          <a:prstGeom prst="rect">
            <a:avLst/>
          </a:prstGeom>
          <a:noFill/>
          <a:ln/>
        </p:spPr>
        <p:txBody>
          <a:bodyPr wrap="square" lIns="0" tIns="0" rIns="0" bIns="0" rtlCol="0" anchor="ctr"/>
          <a:lstStyle/>
          <a:p>
            <a:pPr algn="r" indent="0" marL="0">
              <a:buNone/>
            </a:pPr>
            <a:r>
              <a:rPr lang="en-US" sz="900" dirty="0">
                <a:solidFill>
                  <a:srgbClr val="7C8F86"/>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548640" y="1600200"/>
            <a:ext cx="6949440" cy="4526280"/>
          </a:xfrm>
          <a:prstGeom prst="roundRect">
            <a:avLst>
              <a:gd name="adj" fmla="val 3232"/>
            </a:avLst>
          </a:prstGeom>
          <a:solidFill>
            <a:srgbClr val="121A17"/>
          </a:solidFill>
          <a:ln w="9525">
            <a:solidFill>
              <a:srgbClr val="26332E"/>
            </a:solidFill>
            <a:prstDash val="solid"/>
          </a:ln>
        </p:spPr>
      </p:sp>
      <p:graphicFrame>
        <p:nvGraphicFramePr>
          <p:cNvPr id="7" name="Chart 0" descr=""/>
          <p:cNvGraphicFramePr/>
          <p:nvPr/>
        </p:nvGraphicFramePr>
        <p:xfrm>
          <a:off x="731520" y="1737360"/>
          <a:ext cx="6583680" cy="4251960"/>
        </p:xfrm>
        <a:graphic xmlns:a="http://schemas.openxmlformats.org/drawingml/2006/main">
          <a:graphicData uri="http://schemas.openxmlformats.org/drawingml/2006/chart">
            <c:chart xmlns:c="http://schemas.openxmlformats.org/drawingml/2006/chart" r:id="rId2"/>
          </a:graphicData>
        </a:graphic>
      </p:graphicFrame>
      <p:sp>
        <p:nvSpPr>
          <p:cNvPr id="8" name="Shape 5"/>
          <p:cNvSpPr/>
          <p:nvPr/>
        </p:nvSpPr>
        <p:spPr>
          <a:xfrm>
            <a:off x="7772400" y="1600200"/>
            <a:ext cx="3870655" cy="4526280"/>
          </a:xfrm>
          <a:prstGeom prst="roundRect">
            <a:avLst>
              <a:gd name="adj" fmla="val 3780"/>
            </a:avLst>
          </a:prstGeom>
          <a:solidFill>
            <a:srgbClr val="121A17"/>
          </a:solidFill>
          <a:ln w="9525">
            <a:solidFill>
              <a:srgbClr val="26332E"/>
            </a:solidFill>
            <a:prstDash val="solid"/>
          </a:ln>
        </p:spPr>
      </p:sp>
      <p:sp>
        <p:nvSpPr>
          <p:cNvPr id="9" name="Text 6"/>
          <p:cNvSpPr txBox="1"/>
          <p:nvPr/>
        </p:nvSpPr>
        <p:spPr>
          <a:xfrm>
            <a:off x="8001000" y="1764792"/>
            <a:ext cx="3413455" cy="27432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Key drivers vs FY2026 base year</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955280" y="2103120"/>
          <a:ext cx="3504895" cy="914400"/>
        </p:xfrm>
        <a:graphic>
          <a:graphicData uri="http://schemas.openxmlformats.org/drawingml/2006/table">
            <a:tbl>
              <a:tblPr/>
              <a:tblGrid>
                <a:gridCol w="898855"/>
                <a:gridCol w="868680"/>
                <a:gridCol w="868680"/>
                <a:gridCol w="868680"/>
              </a:tblGrid>
              <a:tr h="365760">
                <a:tc>
                  <a:txBody>
                    <a:bodyPr/>
                    <a:lstStyle/>
                    <a:p>
                      <a:pPr algn="l" indent="0" marL="0">
                        <a:buNone/>
                      </a:pPr>
                      <a:r>
                        <a:rPr lang="en-US" sz="1150" b="1" dirty="0">
                          <a:solidFill>
                            <a:srgbClr val="7C8F86"/>
                          </a:solidFill>
                          <a:latin typeface="Calibri" pitchFamily="34" charset="0"/>
                          <a:ea typeface="Calibri" pitchFamily="34" charset="-122"/>
                          <a:cs typeface="Calibri" pitchFamily="34" charset="-120"/>
                        </a:rPr>
                        <a:t>Driver</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b="1" dirty="0">
                          <a:solidFill>
                            <a:srgbClr val="F07B6C"/>
                          </a:solidFill>
                          <a:latin typeface="Calibri" pitchFamily="34" charset="0"/>
                          <a:ea typeface="Calibri" pitchFamily="34" charset="-122"/>
                          <a:cs typeface="Calibri" pitchFamily="34" charset="-120"/>
                        </a:rPr>
                        <a:t>Downside</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b="1" dirty="0">
                          <a:solidFill>
                            <a:srgbClr val="9FB3AA"/>
                          </a:solidFill>
                          <a:latin typeface="Calibri" pitchFamily="34" charset="0"/>
                          <a:ea typeface="Calibri" pitchFamily="34" charset="-122"/>
                          <a:cs typeface="Calibri" pitchFamily="34" charset="-120"/>
                        </a:rPr>
                        <a:t>Base</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b="1" dirty="0">
                          <a:solidFill>
                            <a:srgbClr val="CDF56E"/>
                          </a:solidFill>
                          <a:latin typeface="Calibri" pitchFamily="34" charset="0"/>
                          <a:ea typeface="Calibri" pitchFamily="34" charset="-122"/>
                          <a:cs typeface="Calibri" pitchFamily="34" charset="-120"/>
                        </a:rPr>
                        <a:t>Upside</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365760">
                <a:tc>
                  <a:txBody>
                    <a:bodyPr/>
                    <a:lstStyle/>
                    <a:p>
                      <a:pPr indent="0" marL="0">
                        <a:buNone/>
                      </a:pPr>
                      <a:r>
                        <a:rPr lang="en-US" sz="1150" dirty="0">
                          <a:solidFill>
                            <a:srgbClr val="EEF5F1"/>
                          </a:solidFill>
                          <a:latin typeface="Calibri" pitchFamily="34" charset="0"/>
                          <a:ea typeface="Calibri" pitchFamily="34" charset="-122"/>
                          <a:cs typeface="Calibri" pitchFamily="34" charset="-120"/>
                        </a:rPr>
                        <a:t>Demand growth</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A9BAB2"/>
                          </a:solidFill>
                          <a:latin typeface="Calibri" pitchFamily="34" charset="0"/>
                          <a:ea typeface="Calibri" pitchFamily="34" charset="-122"/>
                          <a:cs typeface="Calibri" pitchFamily="34" charset="-120"/>
                        </a:rPr>
                        <a:t>+5.0%</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EEF5F1"/>
                          </a:solidFill>
                          <a:latin typeface="Calibri" pitchFamily="34" charset="0"/>
                          <a:ea typeface="Calibri" pitchFamily="34" charset="-122"/>
                          <a:cs typeface="Calibri" pitchFamily="34" charset="-120"/>
                        </a:rPr>
                        <a:t>+20.0%</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A9BAB2"/>
                          </a:solidFill>
                          <a:latin typeface="Calibri" pitchFamily="34" charset="0"/>
                          <a:ea typeface="Calibri" pitchFamily="34" charset="-122"/>
                          <a:cs typeface="Calibri" pitchFamily="34" charset="-120"/>
                        </a:rPr>
                        <a:t>+30.0%</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365760">
                <a:tc>
                  <a:txBody>
                    <a:bodyPr/>
                    <a:lstStyle/>
                    <a:p>
                      <a:pPr indent="0" marL="0">
                        <a:buNone/>
                      </a:pPr>
                      <a:r>
                        <a:rPr lang="en-US" sz="1150" dirty="0">
                          <a:solidFill>
                            <a:srgbClr val="EEF5F1"/>
                          </a:solidFill>
                          <a:latin typeface="Calibri" pitchFamily="34" charset="0"/>
                          <a:ea typeface="Calibri" pitchFamily="34" charset="-122"/>
                          <a:cs typeface="Calibri" pitchFamily="34" charset="-120"/>
                        </a:rPr>
                        <a:t>Selling price</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A9BAB2"/>
                          </a:solidFill>
                          <a:latin typeface="Calibri" pitchFamily="34" charset="0"/>
                          <a:ea typeface="Calibri" pitchFamily="34" charset="-122"/>
                          <a:cs typeface="Calibri" pitchFamily="34" charset="-120"/>
                        </a:rPr>
                        <a:t>−4.0%</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EEF5F1"/>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A9BAB2"/>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365760">
                <a:tc>
                  <a:txBody>
                    <a:bodyPr/>
                    <a:lstStyle/>
                    <a:p>
                      <a:pPr indent="0" marL="0">
                        <a:buNone/>
                      </a:pPr>
                      <a:r>
                        <a:rPr lang="en-US" sz="1150" dirty="0">
                          <a:solidFill>
                            <a:srgbClr val="EEF5F1"/>
                          </a:solidFill>
                          <a:latin typeface="Calibri" pitchFamily="34" charset="0"/>
                          <a:ea typeface="Calibri" pitchFamily="34" charset="-122"/>
                          <a:cs typeface="Calibri" pitchFamily="34" charset="-120"/>
                        </a:rPr>
                        <a:t>Yield change</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A9BAB2"/>
                          </a:solidFill>
                          <a:latin typeface="Calibri" pitchFamily="34" charset="0"/>
                          <a:ea typeface="Calibri" pitchFamily="34" charset="-122"/>
                          <a:cs typeface="Calibri" pitchFamily="34" charset="-120"/>
                        </a:rPr>
                        <a:t>−2.0 pts</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EEF5F1"/>
                          </a:solidFill>
                          <a:latin typeface="Calibri" pitchFamily="34" charset="0"/>
                          <a:ea typeface="Calibri" pitchFamily="34" charset="-122"/>
                          <a:cs typeface="Calibri" pitchFamily="34" charset="-120"/>
                        </a:rPr>
                        <a:t>+0.0 pts</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A9BAB2"/>
                          </a:solidFill>
                          <a:latin typeface="Calibri" pitchFamily="34" charset="0"/>
                          <a:ea typeface="Calibri" pitchFamily="34" charset="-122"/>
                          <a:cs typeface="Calibri" pitchFamily="34" charset="-120"/>
                        </a:rPr>
                        <a:t>+1.0 pts</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365760">
                <a:tc>
                  <a:txBody>
                    <a:bodyPr/>
                    <a:lstStyle/>
                    <a:p>
                      <a:pPr indent="0" marL="0">
                        <a:buNone/>
                      </a:pPr>
                      <a:r>
                        <a:rPr lang="en-US" sz="1150" dirty="0">
                          <a:solidFill>
                            <a:srgbClr val="EEF5F1"/>
                          </a:solidFill>
                          <a:latin typeface="Calibri" pitchFamily="34" charset="0"/>
                          <a:ea typeface="Calibri" pitchFamily="34" charset="-122"/>
                          <a:cs typeface="Calibri" pitchFamily="34" charset="-120"/>
                        </a:rPr>
                        <a:t>Utilization</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A9BAB2"/>
                          </a:solidFill>
                          <a:latin typeface="Calibri" pitchFamily="34" charset="0"/>
                          <a:ea typeface="Calibri" pitchFamily="34" charset="-122"/>
                          <a:cs typeface="Calibri" pitchFamily="34" charset="-120"/>
                        </a:rPr>
                        <a:t>70%</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EEF5F1"/>
                          </a:solidFill>
                          <a:latin typeface="Calibri" pitchFamily="34" charset="0"/>
                          <a:ea typeface="Calibri" pitchFamily="34" charset="-122"/>
                          <a:cs typeface="Calibri" pitchFamily="34" charset="-120"/>
                        </a:rPr>
                        <a:t>80%</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A9BAB2"/>
                          </a:solidFill>
                          <a:latin typeface="Calibri" pitchFamily="34" charset="0"/>
                          <a:ea typeface="Calibri" pitchFamily="34" charset="-122"/>
                          <a:cs typeface="Calibri" pitchFamily="34" charset="-120"/>
                        </a:rPr>
                        <a:t>88%</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365760">
                <a:tc>
                  <a:txBody>
                    <a:bodyPr/>
                    <a:lstStyle/>
                    <a:p>
                      <a:pPr indent="0" marL="0">
                        <a:buNone/>
                      </a:pPr>
                      <a:r>
                        <a:rPr lang="en-US" sz="1150" dirty="0">
                          <a:solidFill>
                            <a:srgbClr val="EEF5F1"/>
                          </a:solidFill>
                          <a:latin typeface="Calibri" pitchFamily="34" charset="0"/>
                          <a:ea typeface="Calibri" pitchFamily="34" charset="-122"/>
                          <a:cs typeface="Calibri" pitchFamily="34" charset="-120"/>
                        </a:rPr>
                        <a:t>Material inflation</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A9BAB2"/>
                          </a:solidFill>
                          <a:latin typeface="Calibri" pitchFamily="34" charset="0"/>
                          <a:ea typeface="Calibri" pitchFamily="34" charset="-122"/>
                          <a:cs typeface="Calibri" pitchFamily="34" charset="-120"/>
                        </a:rPr>
                        <a:t>+6.0%</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EEF5F1"/>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A9BAB2"/>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365760">
                <a:tc>
                  <a:txBody>
                    <a:bodyPr/>
                    <a:lstStyle/>
                    <a:p>
                      <a:pPr indent="0" marL="0">
                        <a:buNone/>
                      </a:pPr>
                      <a:r>
                        <a:rPr lang="en-US" sz="1150" dirty="0">
                          <a:solidFill>
                            <a:srgbClr val="EEF5F1"/>
                          </a:solidFill>
                          <a:latin typeface="Calibri" pitchFamily="34" charset="0"/>
                          <a:ea typeface="Calibri" pitchFamily="34" charset="-122"/>
                          <a:cs typeface="Calibri" pitchFamily="34" charset="-120"/>
                        </a:rPr>
                        <a:t>R&amp;D growth</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A9BAB2"/>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EEF5F1"/>
                          </a:solidFill>
                          <a:latin typeface="Calibri" pitchFamily="34" charset="0"/>
                          <a:ea typeface="Calibri" pitchFamily="34" charset="-122"/>
                          <a:cs typeface="Calibri" pitchFamily="34" charset="-120"/>
                        </a:rPr>
                        <a:t>+5.0%</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A9BAB2"/>
                          </a:solidFill>
                          <a:latin typeface="Calibri" pitchFamily="34" charset="0"/>
                          <a:ea typeface="Calibri" pitchFamily="34" charset="-122"/>
                          <a:cs typeface="Calibri" pitchFamily="34" charset="-120"/>
                        </a:rPr>
                        <a:t>+8.0%</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365760">
                <a:tc>
                  <a:txBody>
                    <a:bodyPr/>
                    <a:lstStyle/>
                    <a:p>
                      <a:pPr indent="0" marL="0">
                        <a:buNone/>
                      </a:pPr>
                      <a:r>
                        <a:rPr lang="en-US" sz="1150" dirty="0">
                          <a:solidFill>
                            <a:srgbClr val="EEF5F1"/>
                          </a:solidFill>
                          <a:latin typeface="Calibri" pitchFamily="34" charset="0"/>
                          <a:ea typeface="Calibri" pitchFamily="34" charset="-122"/>
                          <a:cs typeface="Calibri" pitchFamily="34" charset="-120"/>
                        </a:rPr>
                        <a:t>SG&amp;A growth</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A9BAB2"/>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EEF5F1"/>
                          </a:solidFill>
                          <a:latin typeface="Calibri" pitchFamily="34" charset="0"/>
                          <a:ea typeface="Calibri" pitchFamily="34" charset="-122"/>
                          <a:cs typeface="Calibri" pitchFamily="34" charset="-120"/>
                        </a:rPr>
                        <a:t>+4.0%</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A9BAB2"/>
                          </a:solidFill>
                          <a:latin typeface="Calibri" pitchFamily="34" charset="0"/>
                          <a:ea typeface="Calibri" pitchFamily="34" charset="-122"/>
                          <a:cs typeface="Calibri" pitchFamily="34" charset="-120"/>
                        </a:rPr>
                        <a:t>+6.0%</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365760">
                <a:tc>
                  <a:txBody>
                    <a:bodyPr/>
                    <a:lstStyle/>
                    <a:p>
                      <a:pPr indent="0" marL="0">
                        <a:buNone/>
                      </a:pPr>
                      <a:r>
                        <a:rPr lang="en-US" sz="1150" dirty="0">
                          <a:solidFill>
                            <a:srgbClr val="EEF5F1"/>
                          </a:solidFill>
                          <a:latin typeface="Calibri" pitchFamily="34" charset="0"/>
                          <a:ea typeface="Calibri" pitchFamily="34" charset="-122"/>
                          <a:cs typeface="Calibri" pitchFamily="34" charset="-120"/>
                        </a:rPr>
                        <a:t>Capex % revenue</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A9BAB2"/>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EEF5F1"/>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A9BAB2"/>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365760">
                <a:tc>
                  <a:txBody>
                    <a:bodyPr/>
                    <a:lstStyle/>
                    <a:p>
                      <a:pPr indent="0" marL="0">
                        <a:buNone/>
                      </a:pPr>
                      <a:r>
                        <a:rPr lang="en-US" sz="1150" dirty="0">
                          <a:solidFill>
                            <a:srgbClr val="EEF5F1"/>
                          </a:solidFill>
                          <a:latin typeface="Calibri" pitchFamily="34" charset="0"/>
                          <a:ea typeface="Calibri" pitchFamily="34" charset="-122"/>
                          <a:cs typeface="Calibri" pitchFamily="34" charset="-120"/>
                        </a:rPr>
                        <a:t>Tax rate</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A9BAB2"/>
                          </a:solidFill>
                          <a:latin typeface="Calibri" pitchFamily="34" charset="0"/>
                          <a:ea typeface="Calibri" pitchFamily="34" charset="-122"/>
                          <a:cs typeface="Calibri" pitchFamily="34" charset="-120"/>
                        </a:rPr>
                        <a:t>21%</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EEF5F1"/>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r" indent="0" marL="0">
                        <a:buNone/>
                      </a:pPr>
                      <a:r>
                        <a:rPr lang="en-US" sz="1150" dirty="0">
                          <a:solidFill>
                            <a:srgbClr val="A9BAB2"/>
                          </a:solidFill>
                          <a:latin typeface="Calibri" pitchFamily="34" charset="0"/>
                          <a:ea typeface="Calibri" pitchFamily="34" charset="-122"/>
                          <a:cs typeface="Calibri" pitchFamily="34" charset="-120"/>
                        </a:rPr>
                        <a:t>16%</a:t>
                      </a:r>
                      <a:endParaRPr lang="en-US" sz="115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100" b="1" spc="200" kern="0" dirty="0">
                <a:solidFill>
                  <a:srgbClr val="43C99A"/>
                </a:solidFill>
                <a:latin typeface="Calibri" pitchFamily="34" charset="0"/>
                <a:ea typeface="Calibri" pitchFamily="34" charset="-122"/>
                <a:cs typeface="Calibri" pitchFamily="34" charset="-120"/>
              </a:rPr>
              <a:t>CAPITAL ALLOCATION · HYPOTHETICAL FPGA AUTOMATED FINAL-TEST PLATFORM</a:t>
            </a:r>
            <a:endParaRPr lang="en-US" sz="1100" dirty="0"/>
          </a:p>
        </p:txBody>
      </p:sp>
      <p:sp>
        <p:nvSpPr>
          <p:cNvPr id="3" name="Text 1"/>
          <p:cNvSpPr txBox="1"/>
          <p:nvPr/>
        </p:nvSpPr>
        <p:spPr>
          <a:xfrm>
            <a:off x="548640" y="621792"/>
            <a:ext cx="11094415" cy="822960"/>
          </a:xfrm>
          <a:prstGeom prst="rect">
            <a:avLst/>
          </a:prstGeom>
          <a:noFill/>
          <a:ln/>
        </p:spPr>
        <p:txBody>
          <a:bodyPr wrap="square" lIns="0" tIns="0" rIns="0" bIns="0" rtlCol="0" anchor="t"/>
          <a:lstStyle/>
          <a:p>
            <a:pPr indent="0" marL="0">
              <a:buNone/>
            </a:pPr>
            <a:r>
              <a:rPr lang="en-US" sz="3000" b="1" dirty="0">
                <a:solidFill>
                  <a:srgbClr val="EEF5F1"/>
                </a:solidFill>
                <a:latin typeface="Calibri" pitchFamily="34" charset="0"/>
                <a:ea typeface="Calibri" pitchFamily="34" charset="-122"/>
                <a:cs typeface="Calibri" pitchFamily="34" charset="-120"/>
              </a:rPr>
              <a:t>Test platform passes every hurdle in Base and Upside, not Downside</a:t>
            </a:r>
            <a:endParaRPr lang="en-US" sz="3000" dirty="0"/>
          </a:p>
        </p:txBody>
      </p:sp>
      <p:sp>
        <p:nvSpPr>
          <p:cNvPr id="4" name="Text 2"/>
          <p:cNvSpPr txBox="1"/>
          <p:nvPr/>
        </p:nvSpPr>
        <p:spPr>
          <a:xfrm>
            <a:off x="548640" y="6446520"/>
            <a:ext cx="9601200" cy="228600"/>
          </a:xfrm>
          <a:prstGeom prst="rect">
            <a:avLst/>
          </a:prstGeom>
          <a:noFill/>
          <a:ln/>
        </p:spPr>
        <p:txBody>
          <a:bodyPr wrap="square" lIns="0" tIns="0" rIns="0" bIns="0" rtlCol="0" anchor="ctr"/>
          <a:lstStyle/>
          <a:p>
            <a:pPr indent="0" marL="0">
              <a:buNone/>
            </a:pPr>
            <a:r>
              <a:rPr lang="en-US" sz="900" dirty="0">
                <a:solidFill>
                  <a:srgbClr val="7C8F86"/>
                </a:solidFill>
                <a:latin typeface="Calibri" pitchFamily="34" charset="0"/>
                <a:ea typeface="Calibri" pitchFamily="34" charset="-122"/>
                <a:cs typeface="Calibri" pitchFamily="34" charset="-120"/>
              </a:rPr>
              <a:t>Simulated data created for portfolio demonstration. It does not represent nonpublic Microchip Technology information.</a:t>
            </a:r>
            <a:endParaRPr lang="en-US" sz="900" dirty="0"/>
          </a:p>
        </p:txBody>
      </p:sp>
      <p:sp>
        <p:nvSpPr>
          <p:cNvPr id="5" name="Text 3"/>
          <p:cNvSpPr txBox="1"/>
          <p:nvPr/>
        </p:nvSpPr>
        <p:spPr>
          <a:xfrm>
            <a:off x="11094415" y="6446520"/>
            <a:ext cx="548640" cy="228600"/>
          </a:xfrm>
          <a:prstGeom prst="rect">
            <a:avLst/>
          </a:prstGeom>
          <a:noFill/>
          <a:ln/>
        </p:spPr>
        <p:txBody>
          <a:bodyPr wrap="square" lIns="0" tIns="0" rIns="0" bIns="0" rtlCol="0" anchor="ctr"/>
          <a:lstStyle/>
          <a:p>
            <a:pPr algn="r" indent="0" marL="0">
              <a:buNone/>
            </a:pPr>
            <a:r>
              <a:rPr lang="en-US" sz="900" dirty="0">
                <a:solidFill>
                  <a:srgbClr val="7C8F86"/>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548640" y="1600200"/>
            <a:ext cx="5760720" cy="4526280"/>
          </a:xfrm>
          <a:prstGeom prst="roundRect">
            <a:avLst>
              <a:gd name="adj" fmla="val 3232"/>
            </a:avLst>
          </a:prstGeom>
          <a:solidFill>
            <a:srgbClr val="121A17"/>
          </a:solidFill>
          <a:ln w="9525">
            <a:solidFill>
              <a:srgbClr val="26332E"/>
            </a:solidFill>
            <a:prstDash val="solid"/>
          </a:ln>
        </p:spPr>
      </p:sp>
      <p:sp>
        <p:nvSpPr>
          <p:cNvPr id="7" name="Text 5"/>
          <p:cNvSpPr txBox="1"/>
          <p:nvPr/>
        </p:nvSpPr>
        <p:spPr>
          <a:xfrm>
            <a:off x="777240" y="1764792"/>
            <a:ext cx="5303520" cy="45720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$24.0m equipment + $3.0m install · +0.30m units/month · +3 pts yield · 6-year life</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31520" y="2286000"/>
          <a:ext cx="5394960" cy="914400"/>
        </p:xfrm>
        <a:graphic>
          <a:graphicData uri="http://schemas.openxmlformats.org/drawingml/2006/table">
            <a:tbl>
              <a:tblPr/>
              <a:tblGrid>
                <a:gridCol w="1828800"/>
                <a:gridCol w="1188720"/>
                <a:gridCol w="1188720"/>
                <a:gridCol w="1188720"/>
              </a:tblGrid>
              <a:tr h="429768">
                <a:tc>
                  <a:txBody>
                    <a:bodyPr/>
                    <a:lstStyle/>
                    <a:p>
                      <a:pPr indent="0" marL="0">
                        <a:buNone/>
                      </a:pPr>
                      <a:r>
                        <a:rPr lang="en-US" sz="1200" b="1" dirty="0">
                          <a:solidFill>
                            <a:srgbClr val="7C8F86"/>
                          </a:solidFill>
                          <a:latin typeface="Calibri" pitchFamily="34" charset="0"/>
                          <a:ea typeface="Calibri" pitchFamily="34" charset="-122"/>
                          <a:cs typeface="Calibri" pitchFamily="34" charset="-120"/>
                        </a:rPr>
                        <a:t>Criterion</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ctr" indent="0" marL="0">
                        <a:buNone/>
                      </a:pPr>
                      <a:r>
                        <a:rPr lang="en-US" sz="1200" b="1" dirty="0">
                          <a:solidFill>
                            <a:srgbClr val="F07B6C"/>
                          </a:solidFill>
                          <a:latin typeface="Calibri" pitchFamily="34" charset="0"/>
                          <a:ea typeface="Calibri" pitchFamily="34" charset="-122"/>
                          <a:cs typeface="Calibri" pitchFamily="34" charset="-120"/>
                        </a:rPr>
                        <a:t>Downside</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ctr" indent="0" marL="0">
                        <a:buNone/>
                      </a:pPr>
                      <a:r>
                        <a:rPr lang="en-US" sz="1200" b="1" dirty="0">
                          <a:solidFill>
                            <a:srgbClr val="9FB3AA"/>
                          </a:solidFill>
                          <a:latin typeface="Calibri" pitchFamily="34" charset="0"/>
                          <a:ea typeface="Calibri" pitchFamily="34" charset="-122"/>
                          <a:cs typeface="Calibri" pitchFamily="34" charset="-120"/>
                        </a:rPr>
                        <a:t>Base</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ctr" indent="0" marL="0">
                        <a:buNone/>
                      </a:pPr>
                      <a:r>
                        <a:rPr lang="en-US" sz="1200" b="1" dirty="0">
                          <a:solidFill>
                            <a:srgbClr val="CDF56E"/>
                          </a:solidFill>
                          <a:latin typeface="Calibri" pitchFamily="34" charset="0"/>
                          <a:ea typeface="Calibri" pitchFamily="34" charset="-122"/>
                          <a:cs typeface="Calibri" pitchFamily="34" charset="-120"/>
                        </a:rPr>
                        <a:t>Upside</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429768">
                <a:tc>
                  <a:txBody>
                    <a:bodyPr/>
                    <a:lstStyle/>
                    <a:p>
                      <a:pPr indent="0" marL="0">
                        <a:buNone/>
                      </a:pPr>
                      <a:r>
                        <a:rPr lang="en-US" sz="1200" dirty="0">
                          <a:solidFill>
                            <a:srgbClr val="EEF5F1"/>
                          </a:solidFill>
                          <a:latin typeface="Calibri" pitchFamily="34" charset="0"/>
                          <a:ea typeface="Calibri" pitchFamily="34" charset="-122"/>
                          <a:cs typeface="Calibri" pitchFamily="34" charset="-120"/>
                        </a:rPr>
                        <a:t>NPV at 9%</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ctr" indent="0" marL="0">
                        <a:buNone/>
                      </a:pPr>
                      <a:r>
                        <a:rPr lang="en-US" sz="1200" dirty="0">
                          <a:solidFill>
                            <a:srgbClr val="EEF5F1"/>
                          </a:solidFill>
                          <a:latin typeface="Calibri" pitchFamily="34" charset="0"/>
                          <a:ea typeface="Calibri" pitchFamily="34" charset="-122"/>
                          <a:cs typeface="Calibri" pitchFamily="34" charset="-120"/>
                        </a:rPr>
                        <a:t>−$14.1m</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ctr" indent="0" marL="0">
                        <a:buNone/>
                      </a:pPr>
                      <a:r>
                        <a:rPr lang="en-US" sz="1200" dirty="0">
                          <a:solidFill>
                            <a:srgbClr val="EEF5F1"/>
                          </a:solidFill>
                          <a:latin typeface="Calibri" pitchFamily="34" charset="0"/>
                          <a:ea typeface="Calibri" pitchFamily="34" charset="-122"/>
                          <a:cs typeface="Calibri" pitchFamily="34" charset="-120"/>
                        </a:rPr>
                        <a:t>$69.9m</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ctr" indent="0" marL="0">
                        <a:buNone/>
                      </a:pPr>
                      <a:r>
                        <a:rPr lang="en-US" sz="1200" dirty="0">
                          <a:solidFill>
                            <a:srgbClr val="EEF5F1"/>
                          </a:solidFill>
                          <a:latin typeface="Calibri" pitchFamily="34" charset="0"/>
                          <a:ea typeface="Calibri" pitchFamily="34" charset="-122"/>
                          <a:cs typeface="Calibri" pitchFamily="34" charset="-120"/>
                        </a:rPr>
                        <a:t>$159.9m</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429768">
                <a:tc>
                  <a:txBody>
                    <a:bodyPr/>
                    <a:lstStyle/>
                    <a:p>
                      <a:pPr indent="0" marL="0">
                        <a:buNone/>
                      </a:pPr>
                      <a:r>
                        <a:rPr lang="en-US" sz="1200" dirty="0">
                          <a:solidFill>
                            <a:srgbClr val="A9BAB2"/>
                          </a:solidFill>
                          <a:latin typeface="Calibri" pitchFamily="34" charset="0"/>
                          <a:ea typeface="Calibri" pitchFamily="34" charset="-122"/>
                          <a:cs typeface="Calibri" pitchFamily="34" charset="-120"/>
                        </a:rPr>
                        <a:t>NPV &gt; 0</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FAIL</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EF6B6B"/>
                    </a:solidFill>
                  </a:tcPr>
                </a:tc>
                <a:tc>
                  <a:txBody>
                    <a:bodyPr/>
                    <a:lstStyle/>
                    <a:p>
                      <a:pPr algn="ctr" indent="0" marL="0">
                        <a:buNone/>
                      </a:pPr>
                      <a:r>
                        <a:rPr lang="en-US" sz="1200" b="1" dirty="0">
                          <a:solidFill>
                            <a:srgbClr val="06140E"/>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43C99A"/>
                    </a:solidFill>
                  </a:tcPr>
                </a:tc>
                <a:tc>
                  <a:txBody>
                    <a:bodyPr/>
                    <a:lstStyle/>
                    <a:p>
                      <a:pPr algn="ctr" indent="0" marL="0">
                        <a:buNone/>
                      </a:pPr>
                      <a:r>
                        <a:rPr lang="en-US" sz="1200" b="1" dirty="0">
                          <a:solidFill>
                            <a:srgbClr val="06140E"/>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43C99A"/>
                    </a:solidFill>
                  </a:tcPr>
                </a:tc>
              </a:tr>
              <a:tr h="429768">
                <a:tc>
                  <a:txBody>
                    <a:bodyPr/>
                    <a:lstStyle/>
                    <a:p>
                      <a:pPr indent="0" marL="0">
                        <a:buNone/>
                      </a:pPr>
                      <a:r>
                        <a:rPr lang="en-US" sz="1200" dirty="0">
                          <a:solidFill>
                            <a:srgbClr val="EEF5F1"/>
                          </a:solidFill>
                          <a:latin typeface="Calibri" pitchFamily="34" charset="0"/>
                          <a:ea typeface="Calibri" pitchFamily="34" charset="-122"/>
                          <a:cs typeface="Calibri" pitchFamily="34" charset="-120"/>
                        </a:rPr>
                        <a:t>IRR</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ctr" indent="0" marL="0">
                        <a:buNone/>
                      </a:pPr>
                      <a:r>
                        <a:rPr lang="en-US" sz="1200" dirty="0">
                          <a:solidFill>
                            <a:srgbClr val="EEF5F1"/>
                          </a:solidFill>
                          <a:latin typeface="Calibri" pitchFamily="34" charset="0"/>
                          <a:ea typeface="Calibri" pitchFamily="34" charset="-122"/>
                          <a:cs typeface="Calibri" pitchFamily="34" charset="-120"/>
                        </a:rPr>
                        <a:t>-11.3%</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ctr" indent="0" marL="0">
                        <a:buNone/>
                      </a:pPr>
                      <a:r>
                        <a:rPr lang="en-US" sz="1200" dirty="0">
                          <a:solidFill>
                            <a:srgbClr val="EEF5F1"/>
                          </a:solidFill>
                          <a:latin typeface="Calibri" pitchFamily="34" charset="0"/>
                          <a:ea typeface="Calibri" pitchFamily="34" charset="-122"/>
                          <a:cs typeface="Calibri" pitchFamily="34" charset="-120"/>
                        </a:rPr>
                        <a:t>46.5%</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ctr" indent="0" marL="0">
                        <a:buNone/>
                      </a:pPr>
                      <a:r>
                        <a:rPr lang="en-US" sz="1200" dirty="0">
                          <a:solidFill>
                            <a:srgbClr val="EEF5F1"/>
                          </a:solidFill>
                          <a:latin typeface="Calibri" pitchFamily="34" charset="0"/>
                          <a:ea typeface="Calibri" pitchFamily="34" charset="-122"/>
                          <a:cs typeface="Calibri" pitchFamily="34" charset="-120"/>
                        </a:rPr>
                        <a:t>100.4%</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429768">
                <a:tc>
                  <a:txBody>
                    <a:bodyPr/>
                    <a:lstStyle/>
                    <a:p>
                      <a:pPr indent="0" marL="0">
                        <a:buNone/>
                      </a:pPr>
                      <a:r>
                        <a:rPr lang="en-US" sz="1200" dirty="0">
                          <a:solidFill>
                            <a:srgbClr val="A9BAB2"/>
                          </a:solidFill>
                          <a:latin typeface="Calibri" pitchFamily="34" charset="0"/>
                          <a:ea typeface="Calibri" pitchFamily="34" charset="-122"/>
                          <a:cs typeface="Calibri" pitchFamily="34" charset="-120"/>
                        </a:rPr>
                        <a:t>IRR ≥ 11% hurdle</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FAIL</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EF6B6B"/>
                    </a:solidFill>
                  </a:tcPr>
                </a:tc>
                <a:tc>
                  <a:txBody>
                    <a:bodyPr/>
                    <a:lstStyle/>
                    <a:p>
                      <a:pPr algn="ctr" indent="0" marL="0">
                        <a:buNone/>
                      </a:pPr>
                      <a:r>
                        <a:rPr lang="en-US" sz="1200" b="1" dirty="0">
                          <a:solidFill>
                            <a:srgbClr val="06140E"/>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43C99A"/>
                    </a:solidFill>
                  </a:tcPr>
                </a:tc>
                <a:tc>
                  <a:txBody>
                    <a:bodyPr/>
                    <a:lstStyle/>
                    <a:p>
                      <a:pPr algn="ctr" indent="0" marL="0">
                        <a:buNone/>
                      </a:pPr>
                      <a:r>
                        <a:rPr lang="en-US" sz="1200" b="1" dirty="0">
                          <a:solidFill>
                            <a:srgbClr val="06140E"/>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43C99A"/>
                    </a:solidFill>
                  </a:tcPr>
                </a:tc>
              </a:tr>
              <a:tr h="429768">
                <a:tc>
                  <a:txBody>
                    <a:bodyPr/>
                    <a:lstStyle/>
                    <a:p>
                      <a:pPr indent="0" marL="0">
                        <a:buNone/>
                      </a:pPr>
                      <a:r>
                        <a:rPr lang="en-US" sz="1200" dirty="0">
                          <a:solidFill>
                            <a:srgbClr val="EEF5F1"/>
                          </a:solidFill>
                          <a:latin typeface="Calibri" pitchFamily="34" charset="0"/>
                          <a:ea typeface="Calibri" pitchFamily="34" charset="-122"/>
                          <a:cs typeface="Calibri" pitchFamily="34" charset="-120"/>
                        </a:rPr>
                        <a:t>Payback</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ctr" indent="0" marL="0">
                        <a:buNone/>
                      </a:pPr>
                      <a:r>
                        <a:rPr lang="en-US" sz="1200" dirty="0">
                          <a:solidFill>
                            <a:srgbClr val="EEF5F1"/>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ctr" indent="0" marL="0">
                        <a:buNone/>
                      </a:pPr>
                      <a:r>
                        <a:rPr lang="en-US" sz="1200" dirty="0">
                          <a:solidFill>
                            <a:srgbClr val="EEF5F1"/>
                          </a:solidFill>
                          <a:latin typeface="Calibri" pitchFamily="34" charset="0"/>
                          <a:ea typeface="Calibri" pitchFamily="34" charset="-122"/>
                          <a:cs typeface="Calibri" pitchFamily="34" charset="-120"/>
                        </a:rPr>
                        <a:t>3.07 yrs</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ctr" indent="0" marL="0">
                        <a:buNone/>
                      </a:pPr>
                      <a:r>
                        <a:rPr lang="en-US" sz="1200" dirty="0">
                          <a:solidFill>
                            <a:srgbClr val="EEF5F1"/>
                          </a:solidFill>
                          <a:latin typeface="Calibri" pitchFamily="34" charset="0"/>
                          <a:ea typeface="Calibri" pitchFamily="34" charset="-122"/>
                          <a:cs typeface="Calibri" pitchFamily="34" charset="-120"/>
                        </a:rPr>
                        <a:t>1.41 yrs</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r>
              <a:tr h="429768">
                <a:tc>
                  <a:txBody>
                    <a:bodyPr/>
                    <a:lstStyle/>
                    <a:p>
                      <a:pPr indent="0" marL="0">
                        <a:buNone/>
                      </a:pPr>
                      <a:r>
                        <a:rPr lang="en-US" sz="1200" dirty="0">
                          <a:solidFill>
                            <a:srgbClr val="A9BAB2"/>
                          </a:solidFill>
                          <a:latin typeface="Calibri" pitchFamily="34" charset="0"/>
                          <a:ea typeface="Calibri" pitchFamily="34" charset="-122"/>
                          <a:cs typeface="Calibri" pitchFamily="34" charset="-120"/>
                        </a:rPr>
                        <a:t>Payback ≤ 4 years</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FAIL</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EF6B6B"/>
                    </a:solidFill>
                  </a:tcPr>
                </a:tc>
                <a:tc>
                  <a:txBody>
                    <a:bodyPr/>
                    <a:lstStyle/>
                    <a:p>
                      <a:pPr algn="ctr" indent="0" marL="0">
                        <a:buNone/>
                      </a:pPr>
                      <a:r>
                        <a:rPr lang="en-US" sz="1200" b="1" dirty="0">
                          <a:solidFill>
                            <a:srgbClr val="06140E"/>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43C99A"/>
                    </a:solidFill>
                  </a:tcPr>
                </a:tc>
                <a:tc>
                  <a:txBody>
                    <a:bodyPr/>
                    <a:lstStyle/>
                    <a:p>
                      <a:pPr algn="ctr" indent="0" marL="0">
                        <a:buNone/>
                      </a:pPr>
                      <a:r>
                        <a:rPr lang="en-US" sz="1200" b="1" dirty="0">
                          <a:solidFill>
                            <a:srgbClr val="06140E"/>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43C99A"/>
                    </a:solidFill>
                  </a:tcPr>
                </a:tc>
              </a:tr>
              <a:tr h="429768">
                <a:tc>
                  <a:txBody>
                    <a:bodyPr/>
                    <a:lstStyle/>
                    <a:p>
                      <a:pPr indent="0" marL="0">
                        <a:buNone/>
                      </a:pPr>
                      <a:r>
                        <a:rPr lang="en-US" sz="1200" b="1" dirty="0">
                          <a:solidFill>
                            <a:srgbClr val="EEF5F1"/>
                          </a:solidFill>
                          <a:latin typeface="Calibri" pitchFamily="34" charset="0"/>
                          <a:ea typeface="Calibri" pitchFamily="34" charset="-122"/>
                          <a:cs typeface="Calibri" pitchFamily="34" charset="-120"/>
                        </a:rPr>
                        <a:t>Meets all criteria</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121A17"/>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EF6B6B"/>
                    </a:solidFill>
                  </a:tcPr>
                </a:tc>
                <a:tc>
                  <a:txBody>
                    <a:bodyPr/>
                    <a:lstStyle/>
                    <a:p>
                      <a:pPr algn="ctr" indent="0" marL="0">
                        <a:buNone/>
                      </a:pPr>
                      <a:r>
                        <a:rPr lang="en-US" sz="1200" b="1" dirty="0">
                          <a:solidFill>
                            <a:srgbClr val="06140E"/>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43C99A"/>
                    </a:solidFill>
                  </a:tcPr>
                </a:tc>
                <a:tc>
                  <a:txBody>
                    <a:bodyPr/>
                    <a:lstStyle/>
                    <a:p>
                      <a:pPr algn="ctr" indent="0" marL="0">
                        <a:buNone/>
                      </a:pPr>
                      <a:r>
                        <a:rPr lang="en-US" sz="1200" b="1" dirty="0">
                          <a:solidFill>
                            <a:srgbClr val="06140E"/>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lnL w="6350" cap="flat" cmpd="sng" algn="ctr">
                      <a:solidFill>
                        <a:srgbClr val="26332E"/>
                      </a:solidFill>
                      <a:prstDash val="solid"/>
                      <a:round/>
                      <a:headEnd type="none" w="med" len="med"/>
                      <a:tailEnd type="none" w="med" len="med"/>
                    </a:lnL>
                    <a:lnR w="6350" cap="flat" cmpd="sng" algn="ctr">
                      <a:solidFill>
                        <a:srgbClr val="26332E"/>
                      </a:solidFill>
                      <a:prstDash val="solid"/>
                      <a:round/>
                      <a:headEnd type="none" w="med" len="med"/>
                      <a:tailEnd type="none" w="med" len="med"/>
                    </a:lnR>
                    <a:lnT w="6350" cap="flat" cmpd="sng" algn="ctr">
                      <a:solidFill>
                        <a:srgbClr val="26332E"/>
                      </a:solidFill>
                      <a:prstDash val="solid"/>
                      <a:round/>
                      <a:headEnd type="none" w="med" len="med"/>
                      <a:tailEnd type="none" w="med" len="med"/>
                    </a:lnT>
                    <a:lnB w="6350" cap="flat" cmpd="sng" algn="ctr">
                      <a:solidFill>
                        <a:srgbClr val="26332E"/>
                      </a:solidFill>
                      <a:prstDash val="solid"/>
                      <a:round/>
                      <a:headEnd type="none" w="med" len="med"/>
                      <a:tailEnd type="none" w="med" len="med"/>
                    </a:lnB>
                    <a:solidFill>
                      <a:srgbClr val="43C99A"/>
                    </a:solidFill>
                  </a:tcPr>
                </a:tc>
              </a:tr>
            </a:tbl>
          </a:graphicData>
        </a:graphic>
      </p:graphicFrame>
      <p:sp>
        <p:nvSpPr>
          <p:cNvPr id="9" name="Shape 6"/>
          <p:cNvSpPr/>
          <p:nvPr/>
        </p:nvSpPr>
        <p:spPr>
          <a:xfrm>
            <a:off x="6583680" y="1600200"/>
            <a:ext cx="5059375" cy="4526280"/>
          </a:xfrm>
          <a:prstGeom prst="roundRect">
            <a:avLst>
              <a:gd name="adj" fmla="val 3232"/>
            </a:avLst>
          </a:prstGeom>
          <a:solidFill>
            <a:srgbClr val="121A17"/>
          </a:solidFill>
          <a:ln w="9525">
            <a:solidFill>
              <a:srgbClr val="26332E"/>
            </a:solidFill>
            <a:prstDash val="solid"/>
          </a:ln>
        </p:spPr>
      </p:sp>
      <p:graphicFrame>
        <p:nvGraphicFramePr>
          <p:cNvPr id="10" name="Chart 0" descr=""/>
          <p:cNvGraphicFramePr/>
          <p:nvPr/>
        </p:nvGraphicFramePr>
        <p:xfrm>
          <a:off x="6766560" y="1737360"/>
          <a:ext cx="4693615" cy="425196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502920"/>
            <a:ext cx="7315200" cy="274320"/>
          </a:xfrm>
          <a:prstGeom prst="rect">
            <a:avLst/>
          </a:prstGeom>
          <a:noFill/>
          <a:ln/>
        </p:spPr>
        <p:txBody>
          <a:bodyPr wrap="square" lIns="0" tIns="0" rIns="0" bIns="0" rtlCol="0" anchor="ctr"/>
          <a:lstStyle/>
          <a:p>
            <a:pPr indent="0" marL="0">
              <a:buNone/>
            </a:pPr>
            <a:r>
              <a:rPr lang="en-US" sz="1200" b="1" spc="300" kern="0" dirty="0">
                <a:solidFill>
                  <a:srgbClr val="43C99A"/>
                </a:solidFill>
                <a:latin typeface="Calibri" pitchFamily="34" charset="0"/>
                <a:ea typeface="Calibri" pitchFamily="34" charset="-122"/>
                <a:cs typeface="Calibri" pitchFamily="34" charset="-120"/>
              </a:rPr>
              <a:t>RECOMMENDATION</a:t>
            </a:r>
            <a:endParaRPr lang="en-US" sz="1200" dirty="0"/>
          </a:p>
        </p:txBody>
      </p:sp>
      <p:sp>
        <p:nvSpPr>
          <p:cNvPr id="3" name="Text 1"/>
          <p:cNvSpPr txBox="1"/>
          <p:nvPr/>
        </p:nvSpPr>
        <p:spPr>
          <a:xfrm>
            <a:off x="548640" y="822960"/>
            <a:ext cx="10789920" cy="914400"/>
          </a:xfrm>
          <a:prstGeom prst="rect">
            <a:avLst/>
          </a:prstGeom>
          <a:noFill/>
          <a:ln/>
        </p:spPr>
        <p:txBody>
          <a:bodyPr wrap="square" lIns="0" tIns="0" rIns="0" bIns="0" rtlCol="0" anchor="ctr"/>
          <a:lstStyle/>
          <a:p>
            <a:pPr indent="0" marL="0">
              <a:buNone/>
            </a:pPr>
            <a:r>
              <a:rPr lang="en-US" sz="3400" b="1" dirty="0">
                <a:solidFill>
                  <a:srgbClr val="EEF5F1"/>
                </a:solidFill>
                <a:latin typeface="Calibri" pitchFamily="34" charset="0"/>
                <a:ea typeface="Calibri" pitchFamily="34" charset="-122"/>
                <a:cs typeface="Calibri" pitchFamily="34" charset="-120"/>
              </a:rPr>
              <a:t>Approve the FPGA test platform, released on a demand checkpoint</a:t>
            </a:r>
            <a:endParaRPr lang="en-US" sz="3400" dirty="0"/>
          </a:p>
        </p:txBody>
      </p:sp>
      <p:sp>
        <p:nvSpPr>
          <p:cNvPr id="4" name="Shape 2"/>
          <p:cNvSpPr/>
          <p:nvPr/>
        </p:nvSpPr>
        <p:spPr>
          <a:xfrm>
            <a:off x="548640" y="1965960"/>
            <a:ext cx="11094415" cy="1234440"/>
          </a:xfrm>
          <a:prstGeom prst="roundRect">
            <a:avLst>
              <a:gd name="adj" fmla="val 11852"/>
            </a:avLst>
          </a:prstGeom>
          <a:solidFill>
            <a:srgbClr val="1F7A5A"/>
          </a:solidFill>
          <a:ln w="9525">
            <a:solidFill>
              <a:srgbClr val="26332E"/>
            </a:solidFill>
            <a:prstDash val="solid"/>
          </a:ln>
        </p:spPr>
      </p:sp>
      <p:sp>
        <p:nvSpPr>
          <p:cNvPr id="5" name="Text 3"/>
          <p:cNvSpPr txBox="1"/>
          <p:nvPr/>
        </p:nvSpPr>
        <p:spPr>
          <a:xfrm>
            <a:off x="868680" y="2011680"/>
            <a:ext cx="10454335" cy="11430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Release the purchase order once trailing FPGA demand exceeds 0.94m good units a month (95% of current good-unit capacity at max utilization).</a:t>
            </a:r>
            <a:endParaRPr lang="en-US" sz="1800" dirty="0"/>
          </a:p>
        </p:txBody>
      </p:sp>
      <p:sp>
        <p:nvSpPr>
          <p:cNvPr id="6" name="Shape 4"/>
          <p:cNvSpPr/>
          <p:nvPr/>
        </p:nvSpPr>
        <p:spPr>
          <a:xfrm>
            <a:off x="548640" y="3474720"/>
            <a:ext cx="5410048" cy="1051560"/>
          </a:xfrm>
          <a:prstGeom prst="roundRect">
            <a:avLst>
              <a:gd name="adj" fmla="val 13913"/>
            </a:avLst>
          </a:prstGeom>
          <a:solidFill>
            <a:srgbClr val="121A17"/>
          </a:solidFill>
          <a:ln w="9525">
            <a:solidFill>
              <a:srgbClr val="26332E"/>
            </a:solidFill>
            <a:prstDash val="solid"/>
          </a:ln>
        </p:spPr>
      </p:sp>
      <p:sp>
        <p:nvSpPr>
          <p:cNvPr id="7" name="Shape 5"/>
          <p:cNvSpPr/>
          <p:nvPr/>
        </p:nvSpPr>
        <p:spPr>
          <a:xfrm>
            <a:off x="804672" y="3749040"/>
            <a:ext cx="164592" cy="164592"/>
          </a:xfrm>
          <a:prstGeom prst="ellipse">
            <a:avLst/>
          </a:prstGeom>
          <a:solidFill>
            <a:srgbClr val="CDF56E"/>
          </a:solidFill>
          <a:ln w="12700">
            <a:solidFill>
              <a:srgbClr val="CDF56E"/>
            </a:solidFill>
            <a:prstDash val="solid"/>
          </a:ln>
        </p:spPr>
      </p:sp>
      <p:sp>
        <p:nvSpPr>
          <p:cNvPr id="8" name="Text 6"/>
          <p:cNvSpPr txBox="1"/>
          <p:nvPr/>
        </p:nvSpPr>
        <p:spPr>
          <a:xfrm>
            <a:off x="1143000" y="3621024"/>
            <a:ext cx="4587088" cy="365760"/>
          </a:xfrm>
          <a:prstGeom prst="rect">
            <a:avLst/>
          </a:prstGeom>
          <a:noFill/>
          <a:ln/>
        </p:spPr>
        <p:txBody>
          <a:bodyPr wrap="square" lIns="0" tIns="0" rIns="0" bIns="0" rtlCol="0" anchor="ctr"/>
          <a:lstStyle/>
          <a:p>
            <a:pPr indent="0" marL="0">
              <a:buNone/>
            </a:pPr>
            <a:r>
              <a:rPr lang="en-US" sz="1500" b="1" dirty="0">
                <a:solidFill>
                  <a:srgbClr val="EEF5F1"/>
                </a:solidFill>
                <a:latin typeface="Calibri" pitchFamily="34" charset="0"/>
                <a:ea typeface="Calibri" pitchFamily="34" charset="-122"/>
                <a:cs typeface="Calibri" pitchFamily="34" charset="-120"/>
              </a:rPr>
              <a:t>Track FPGA yield monthly</a:t>
            </a:r>
            <a:endParaRPr lang="en-US" sz="1500" dirty="0"/>
          </a:p>
        </p:txBody>
      </p:sp>
      <p:sp>
        <p:nvSpPr>
          <p:cNvPr id="9" name="Text 7"/>
          <p:cNvSpPr txBox="1"/>
          <p:nvPr/>
        </p:nvSpPr>
        <p:spPr>
          <a:xfrm>
            <a:off x="1143000" y="3977640"/>
            <a:ext cx="4587088" cy="45720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Recover from 82.0% toward the 85.0% plan; every point of yield lowers cost per good unit.</a:t>
            </a:r>
            <a:endParaRPr lang="en-US" sz="1200" dirty="0"/>
          </a:p>
        </p:txBody>
      </p:sp>
      <p:sp>
        <p:nvSpPr>
          <p:cNvPr id="10" name="Shape 8"/>
          <p:cNvSpPr/>
          <p:nvPr/>
        </p:nvSpPr>
        <p:spPr>
          <a:xfrm>
            <a:off x="6233008" y="3474720"/>
            <a:ext cx="5410048" cy="1051560"/>
          </a:xfrm>
          <a:prstGeom prst="roundRect">
            <a:avLst>
              <a:gd name="adj" fmla="val 13913"/>
            </a:avLst>
          </a:prstGeom>
          <a:solidFill>
            <a:srgbClr val="121A17"/>
          </a:solidFill>
          <a:ln w="9525">
            <a:solidFill>
              <a:srgbClr val="26332E"/>
            </a:solidFill>
            <a:prstDash val="solid"/>
          </a:ln>
        </p:spPr>
      </p:sp>
      <p:sp>
        <p:nvSpPr>
          <p:cNvPr id="11" name="Shape 9"/>
          <p:cNvSpPr/>
          <p:nvPr/>
        </p:nvSpPr>
        <p:spPr>
          <a:xfrm>
            <a:off x="6489040" y="3749040"/>
            <a:ext cx="164592" cy="164592"/>
          </a:xfrm>
          <a:prstGeom prst="ellipse">
            <a:avLst/>
          </a:prstGeom>
          <a:solidFill>
            <a:srgbClr val="CDF56E"/>
          </a:solidFill>
          <a:ln w="12700">
            <a:solidFill>
              <a:srgbClr val="CDF56E"/>
            </a:solidFill>
            <a:prstDash val="solid"/>
          </a:ln>
        </p:spPr>
      </p:sp>
      <p:sp>
        <p:nvSpPr>
          <p:cNvPr id="12" name="Text 10"/>
          <p:cNvSpPr txBox="1"/>
          <p:nvPr/>
        </p:nvSpPr>
        <p:spPr>
          <a:xfrm>
            <a:off x="6827368" y="3621024"/>
            <a:ext cx="4587088" cy="365760"/>
          </a:xfrm>
          <a:prstGeom prst="rect">
            <a:avLst/>
          </a:prstGeom>
          <a:noFill/>
          <a:ln/>
        </p:spPr>
        <p:txBody>
          <a:bodyPr wrap="square" lIns="0" tIns="0" rIns="0" bIns="0" rtlCol="0" anchor="ctr"/>
          <a:lstStyle/>
          <a:p>
            <a:pPr indent="0" marL="0">
              <a:buNone/>
            </a:pPr>
            <a:r>
              <a:rPr lang="en-US" sz="1500" b="1" dirty="0">
                <a:solidFill>
                  <a:srgbClr val="EEF5F1"/>
                </a:solidFill>
                <a:latin typeface="Calibri" pitchFamily="34" charset="0"/>
                <a:ea typeface="Calibri" pitchFamily="34" charset="-122"/>
                <a:cs typeface="Calibri" pitchFamily="34" charset="-120"/>
              </a:rPr>
              <a:t>Re-forecast at the Q2 close</a:t>
            </a:r>
            <a:endParaRPr lang="en-US" sz="1500" dirty="0"/>
          </a:p>
        </p:txBody>
      </p:sp>
      <p:sp>
        <p:nvSpPr>
          <p:cNvPr id="13" name="Text 11"/>
          <p:cNvSpPr txBox="1"/>
          <p:nvPr/>
        </p:nvSpPr>
        <p:spPr>
          <a:xfrm>
            <a:off x="6827368" y="3977640"/>
            <a:ext cx="4587088" cy="45720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Load September actuals and re-run all three scenarios before the next capital review.</a:t>
            </a:r>
            <a:endParaRPr lang="en-US" sz="1200" dirty="0"/>
          </a:p>
        </p:txBody>
      </p:sp>
      <p:sp>
        <p:nvSpPr>
          <p:cNvPr id="14" name="Shape 12"/>
          <p:cNvSpPr/>
          <p:nvPr/>
        </p:nvSpPr>
        <p:spPr>
          <a:xfrm>
            <a:off x="548640" y="4709160"/>
            <a:ext cx="5410048" cy="1051560"/>
          </a:xfrm>
          <a:prstGeom prst="roundRect">
            <a:avLst>
              <a:gd name="adj" fmla="val 13913"/>
            </a:avLst>
          </a:prstGeom>
          <a:solidFill>
            <a:srgbClr val="121A17"/>
          </a:solidFill>
          <a:ln w="9525">
            <a:solidFill>
              <a:srgbClr val="26332E"/>
            </a:solidFill>
            <a:prstDash val="solid"/>
          </a:ln>
        </p:spPr>
      </p:sp>
      <p:sp>
        <p:nvSpPr>
          <p:cNvPr id="15" name="Shape 13"/>
          <p:cNvSpPr/>
          <p:nvPr/>
        </p:nvSpPr>
        <p:spPr>
          <a:xfrm>
            <a:off x="804672" y="4983480"/>
            <a:ext cx="164592" cy="164592"/>
          </a:xfrm>
          <a:prstGeom prst="ellipse">
            <a:avLst/>
          </a:prstGeom>
          <a:solidFill>
            <a:srgbClr val="CDF56E"/>
          </a:solidFill>
          <a:ln w="12700">
            <a:solidFill>
              <a:srgbClr val="CDF56E"/>
            </a:solidFill>
            <a:prstDash val="solid"/>
          </a:ln>
        </p:spPr>
      </p:sp>
      <p:sp>
        <p:nvSpPr>
          <p:cNvPr id="16" name="Text 14"/>
          <p:cNvSpPr txBox="1"/>
          <p:nvPr/>
        </p:nvSpPr>
        <p:spPr>
          <a:xfrm>
            <a:off x="1143000" y="4855464"/>
            <a:ext cx="4587088" cy="365760"/>
          </a:xfrm>
          <a:prstGeom prst="rect">
            <a:avLst/>
          </a:prstGeom>
          <a:noFill/>
          <a:ln/>
        </p:spPr>
        <p:txBody>
          <a:bodyPr wrap="square" lIns="0" tIns="0" rIns="0" bIns="0" rtlCol="0" anchor="ctr"/>
          <a:lstStyle/>
          <a:p>
            <a:pPr indent="0" marL="0">
              <a:buNone/>
            </a:pPr>
            <a:r>
              <a:rPr lang="en-US" sz="1500" b="1" dirty="0">
                <a:solidFill>
                  <a:srgbClr val="EEF5F1"/>
                </a:solidFill>
                <a:latin typeface="Calibri" pitchFamily="34" charset="0"/>
                <a:ea typeface="Calibri" pitchFamily="34" charset="-122"/>
                <a:cs typeface="Calibri" pitchFamily="34" charset="-120"/>
              </a:rPr>
              <a:t>Hold analog loading</a:t>
            </a:r>
            <a:endParaRPr lang="en-US" sz="1500" dirty="0"/>
          </a:p>
        </p:txBody>
      </p:sp>
      <p:sp>
        <p:nvSpPr>
          <p:cNvPr id="17" name="Text 15"/>
          <p:cNvSpPr txBox="1"/>
          <p:nvPr/>
        </p:nvSpPr>
        <p:spPr>
          <a:xfrm>
            <a:off x="1143000" y="5212080"/>
            <a:ext cx="4587088" cy="45720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Keep utilization near 76% while analog demand trails plan, to avoid building inventory.</a:t>
            </a:r>
            <a:endParaRPr lang="en-US" sz="1200" dirty="0"/>
          </a:p>
        </p:txBody>
      </p:sp>
      <p:sp>
        <p:nvSpPr>
          <p:cNvPr id="18" name="Shape 16"/>
          <p:cNvSpPr/>
          <p:nvPr/>
        </p:nvSpPr>
        <p:spPr>
          <a:xfrm>
            <a:off x="6233008" y="4709160"/>
            <a:ext cx="5410048" cy="1051560"/>
          </a:xfrm>
          <a:prstGeom prst="roundRect">
            <a:avLst>
              <a:gd name="adj" fmla="val 13913"/>
            </a:avLst>
          </a:prstGeom>
          <a:solidFill>
            <a:srgbClr val="121A17"/>
          </a:solidFill>
          <a:ln w="9525">
            <a:solidFill>
              <a:srgbClr val="26332E"/>
            </a:solidFill>
            <a:prstDash val="solid"/>
          </a:ln>
        </p:spPr>
      </p:sp>
      <p:sp>
        <p:nvSpPr>
          <p:cNvPr id="19" name="Shape 17"/>
          <p:cNvSpPr/>
          <p:nvPr/>
        </p:nvSpPr>
        <p:spPr>
          <a:xfrm>
            <a:off x="6489040" y="4983480"/>
            <a:ext cx="164592" cy="164592"/>
          </a:xfrm>
          <a:prstGeom prst="ellipse">
            <a:avLst/>
          </a:prstGeom>
          <a:solidFill>
            <a:srgbClr val="CDF56E"/>
          </a:solidFill>
          <a:ln w="12700">
            <a:solidFill>
              <a:srgbClr val="CDF56E"/>
            </a:solidFill>
            <a:prstDash val="solid"/>
          </a:ln>
        </p:spPr>
      </p:sp>
      <p:sp>
        <p:nvSpPr>
          <p:cNvPr id="20" name="Text 18"/>
          <p:cNvSpPr txBox="1"/>
          <p:nvPr/>
        </p:nvSpPr>
        <p:spPr>
          <a:xfrm>
            <a:off x="6827368" y="4855464"/>
            <a:ext cx="4587088" cy="365760"/>
          </a:xfrm>
          <a:prstGeom prst="rect">
            <a:avLst/>
          </a:prstGeom>
          <a:noFill/>
          <a:ln/>
        </p:spPr>
        <p:txBody>
          <a:bodyPr wrap="square" lIns="0" tIns="0" rIns="0" bIns="0" rtlCol="0" anchor="ctr"/>
          <a:lstStyle/>
          <a:p>
            <a:pPr indent="0" marL="0">
              <a:buNone/>
            </a:pPr>
            <a:r>
              <a:rPr lang="en-US" sz="1500" b="1" dirty="0">
                <a:solidFill>
                  <a:srgbClr val="EEF5F1"/>
                </a:solidFill>
                <a:latin typeface="Calibri" pitchFamily="34" charset="0"/>
                <a:ea typeface="Calibri" pitchFamily="34" charset="-122"/>
                <a:cs typeface="Calibri" pitchFamily="34" charset="-120"/>
              </a:rPr>
              <a:t>Firm up the proposal</a:t>
            </a:r>
            <a:endParaRPr lang="en-US" sz="1500" dirty="0"/>
          </a:p>
        </p:txBody>
      </p:sp>
      <p:sp>
        <p:nvSpPr>
          <p:cNvPr id="21" name="Text 19"/>
          <p:cNvSpPr txBox="1"/>
          <p:nvPr/>
        </p:nvSpPr>
        <p:spPr>
          <a:xfrm>
            <a:off x="6827368" y="5212080"/>
            <a:ext cx="4587088" cy="457200"/>
          </a:xfrm>
          <a:prstGeom prst="rect">
            <a:avLst/>
          </a:prstGeom>
          <a:noFill/>
          <a:ln/>
        </p:spPr>
        <p:txBody>
          <a:bodyPr wrap="square" lIns="0" tIns="0" rIns="0" bIns="0" rtlCol="0" anchor="ctr"/>
          <a:lstStyle/>
          <a:p>
            <a:pPr indent="0" marL="0">
              <a:buNone/>
            </a:pPr>
            <a:r>
              <a:rPr lang="en-US" sz="1200" dirty="0">
                <a:solidFill>
                  <a:srgbClr val="A9BAB2"/>
                </a:solidFill>
                <a:latin typeface="Calibri" pitchFamily="34" charset="0"/>
                <a:ea typeface="Calibri" pitchFamily="34" charset="-122"/>
                <a:cs typeface="Calibri" pitchFamily="34" charset="-120"/>
              </a:rPr>
              <a:t>Replace the hypothetical price, capacity and yield gain with vendor quotes, then re-test the decision rule.</a:t>
            </a:r>
            <a:endParaRPr lang="en-US" sz="1200" dirty="0"/>
          </a:p>
        </p:txBody>
      </p:sp>
      <p:sp>
        <p:nvSpPr>
          <p:cNvPr id="22" name="Text 20"/>
          <p:cNvSpPr txBox="1"/>
          <p:nvPr/>
        </p:nvSpPr>
        <p:spPr>
          <a:xfrm>
            <a:off x="548640" y="6446520"/>
            <a:ext cx="9601200" cy="228600"/>
          </a:xfrm>
          <a:prstGeom prst="rect">
            <a:avLst/>
          </a:prstGeom>
          <a:noFill/>
          <a:ln/>
        </p:spPr>
        <p:txBody>
          <a:bodyPr wrap="square" lIns="0" tIns="0" rIns="0" bIns="0" rtlCol="0" anchor="ctr"/>
          <a:lstStyle/>
          <a:p>
            <a:pPr indent="0" marL="0">
              <a:buNone/>
            </a:pPr>
            <a:r>
              <a:rPr lang="en-US" sz="900" dirty="0">
                <a:solidFill>
                  <a:srgbClr val="7C8F86"/>
                </a:solidFill>
                <a:latin typeface="Calibri" pitchFamily="34" charset="0"/>
                <a:ea typeface="Calibri" pitchFamily="34" charset="-122"/>
                <a:cs typeface="Calibri" pitchFamily="34" charset="-120"/>
              </a:rPr>
              <a:t>Simulated data created for portfolio demonstration. It does not represent nonpublic Microchip Technology information.</a:t>
            </a:r>
            <a:endParaRPr lang="en-US" sz="900" dirty="0"/>
          </a:p>
        </p:txBody>
      </p:sp>
      <p:sp>
        <p:nvSpPr>
          <p:cNvPr id="23" name="Text 21"/>
          <p:cNvSpPr txBox="1"/>
          <p:nvPr/>
        </p:nvSpPr>
        <p:spPr>
          <a:xfrm>
            <a:off x="11094415" y="6446520"/>
            <a:ext cx="548640" cy="228600"/>
          </a:xfrm>
          <a:prstGeom prst="rect">
            <a:avLst/>
          </a:prstGeom>
          <a:noFill/>
          <a:ln/>
        </p:spPr>
        <p:txBody>
          <a:bodyPr wrap="square" lIns="0" tIns="0" rIns="0" bIns="0" rtlCol="0" anchor="ctr"/>
          <a:lstStyle/>
          <a:p>
            <a:pPr algn="r" indent="0" marL="0">
              <a:buNone/>
            </a:pPr>
            <a:r>
              <a:rPr lang="en-US" sz="900" dirty="0">
                <a:solidFill>
                  <a:srgbClr val="7C8F8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Embedded Control Division - FY2027 Executive Review</dc:title>
  <dc:subject>PptxGenJS Presentation</dc:subject>
  <dc:creator>FP&amp;A portfolio project</dc:creator>
  <cp:lastModifiedBy>FP&amp;A portfolio project</cp:lastModifiedBy>
  <cp:revision>1</cp:revision>
  <dcterms:created xsi:type="dcterms:W3CDTF">2026-09-23T00:59:08Z</dcterms:created>
  <dcterms:modified xsi:type="dcterms:W3CDTF">2026-09-23T00:59:08Z</dcterms:modified>
</cp:coreProperties>
</file>